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000"/>
  </p:normalViewPr>
  <p:slideViewPr>
    <p:cSldViewPr snapToGrid="0" snapToObjects="1">
      <p:cViewPr varScale="1">
        <p:scale>
          <a:sx n="101" d="100"/>
          <a:sy n="101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692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开场用物理学类比抓住注意力。告诉学员：在座各位可能都经历过——你部署了一个 Agent，前几分钟运行得完美，然后突然之间它开始偏离目标、疯狂消耗 token、产生不可预期的行为。这不是 bug，这是热力学。没有外部能量输入（即主动控制），任何复杂系统都会自发走向无序。今天这 80 分钟，我们要系统性地学习如何成为 Agent 系统的“麦克斯韦妖”——选择性地让有序通过，阻止无序蔓延。Part A 聚焦 Agent Loop 本身的控制，Part B 聚焦基础设施层的容错和编排。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这页是整个模块的 anchor — 必须让学员深刻理解 Agent 与传统系统的根本差异。传统 workflow（Airflow、Temporal、cron）是“same input, same execution”的世界 — 你写好 DAG，引擎按图执行。Agent 是“same input, different paths”的世界 — 同一个输入，Agent 这次可能 5 步完成，下次可能 50 步还在循环。这种不确定性就是“熵”的来源。学员必须理解：你不是在构建一个传统软件系统，你是在构建一个需要主动“对抗熵增”的控制系统。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每个场景都停顿让学员消化。这些不是假设——在座的可能就有人经历过。灾难 1 特别常见：很多人第一次用 Agent 写代码时都遇到过无限循环的天价账单。关键是让学员意识到：这些灾难不是 Agent 的 bug，这是 Agent 的本质特性——没有约束的自主性就是灾难。就像核反应堆：有控制棒的链式反应是核能发电，没有控制棒的链式反应是核爆炸。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这是整个模块最基础的概念，确保每个人都理解。Agent 不是 chain — chain 是确定性的，你知道它会执行 3 步然后停止。Loop 是不确定性的——它可能执行 2 步就结束，也可能执行 200 步还在跑。这个不确定性就是熵的来源。Think 是最贵的环节——每次推理都在消耗 token；Act 是最危险的环节——它产生不可逆的 side effect；Observe 是最有价值的环节——它是 Agent 学习的唯一来源。一个没有终止条件的 Agent loop，就像一个正在进行的热力学过程——它只会越来越混乱，直到某种形式的“热寂”。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这不是一个“哪个更好”的问题，这是工程权衡。Claude Code 选择 async generator 因为它面向开发者做实时交互——用户不想盯着空白屏幕等 30 秒，他们想看到 Agent 在干什么。OpenCode 选择 linear pipeline 因为它重视可审计性——每一步都有完整的 checkpoint 可以回溯。但不管你选哪种实现，loop 的本质不变——都是 Think-Act-Observe 的循环。生产系统通常是混合体：用户实时交互用 async，后台批量任务用 linear。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让我强调：你需要全部五个。不是“选其中两三个觉得够用”。我见过最常见的反模式是只依赖条件 1——“Agent 不再调用工具就认为它完成了”。问题是：Agent 有时候会陷入一种状态，它认为自己完成了但实际没有；或者反过来，它永远觉得“让我再试一次”，每一轮都调用工具，永远不停。如果你没有条件 2（max iterations）兜底，它就成了灾难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Anti-pattern 1 是实际中的头号杀手。大多数 Agent 框架的默认行为就是“Agent 不再调用工具就结束”。看起来合理对吧？但 LLM 是概率性的——有些时候它就是不停。我见过 Agent 花 20 轮和自己争论缩进该用 2 空格还是 4 空格。Anti-pattern 3 更隐蔽但同样致命——如果用户无法中断 Agent，那 Agent 就是一个不受控的进程。正确的实现很简单——五道关卡，一个都不能少。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让我用日常比喻帮大家区分这两种漂移。Goal Drift 就像你出门买牛奶，路过书店进去看看，然后在里面坐了一下午——你彻底忘记了你要买牛奶。Scope Creep 就像你出门买牛奶，觉得顺便买点面包，又觉得既然来了不如把一周的菜都买了——你确实买了牛奶，但花了 10 倍的时间和钱。Goal Drift 需要“提醒”；Scope Creep 需要“约束”。LLM 有 recency bias 和 helpfulness bias，组合起来就是灾难性的漂移推力。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三个机制形成递进的防线。Behavior Boundary 是最硬的——Agent 尝试调用不被允许的工具，直接拒绝，没有商量余地。这就像围栏：牛出不了围栏范围。Goal Anchoring 是中等强度的——周期性提醒 Agent 它的本职工作。这就像牧羊人的哨声。Context Similarity 是最软的——被动监控全局趋势。这就像卫星追踪。生产系统中你应该三个都用。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的 70% 成功率是实践经验值。大部分漂移是“无意的”——Agent 只是被最近的工具输出带偏了注意力，一个提醒就能拉回来。但 30% 的情况下提醒无效——特别是当 context 已经被大量无关信息污染时。这时候需要 L2——本质上是“打扫房间”：把不相关的东西全部清理掉。如果打扫了还不行，那就是 L3——承认这个 Agent 已经“不可救药”了，保存现场，交给人类。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为什么三级？因为粒度不同。Per-Day 保护公司钱包；Per-Task 保护单次用户体验；Per-Round 保护单次 LLM 调用。渐进式压力响应是精髓——80% compress 是“软着陆”；90% autoDream 更激进；95% 是最后通牒；99% 是断路器。这就像一艘正在下沉的船：80% 排水，90% 关闭非关键舱室，95% 发 SOS，99% 全员弃船。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这个状态机看起来简单，但它是整个 Control Plane 的骨架。你在前面学到的所有控制机制——drift detection、budget enforcement、termination conditions——都映射到这个状态机的某个转换上。PAUSED 状态特别重要——它让你有机会在 Agent 执行中途介入。没有 PAUSED，你只能 Kill 然后从头重来。有了 PAUSED，你可以暂停 → 注入新指令 → Resume。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这四个操作是用户与正在运行的 Agent 之间的交互接口。Pause 的关键细节是“完成当前 tool call 再暂停”——你不想在文件写到一半时暂停，那会导致文件损坏。Resume 的关键细节是“验证状态有效性”——如果暂停了 5 分钟，在这 5 分钟里其他人可能修改了 Agent 正在操作的文件。Intervene 是最有趣的——它让你像“副驾驶”一样实时指导 Agent。Kill 是最后手段——当你看到 Agent 正在执行 rm -rf 时，必须立即终止。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5 分钟做一个 clean 的 Part A 总结。让学员把前面学到的所有东西用一个框架串起来。然后做一个有力的 transition：到目前为止，我们假设了一个理想世界——LLM Provider 随叫随到、网络永远稳定。但现实是 OpenAI 每个月至少有一次 incident，Anthropic 也不例外。Part B 要教你的是：当地基摇晃时，如何让建筑不倒塌。休息 5 分钟后继续。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Provider Abstraction 是你在设计 Agent 系统时必须做的第一个架构决策。Claude Code 走了深度绑定——它能用 Anthropic 的 cache_control 标记精确控制缓存边界。OpenCode 走了多模型路由——你可以一键切到 GPT-4o 或本地模型。我推荐的混合方案：主路径深绑定（获得 90% 的 cache 折扣），但 fallback 通过抽象层走其他 provider。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决策不是“单绑定好”或“多路由好”——是看你的约束条件。如果你的产品依赖 Claude 的 Artifacts 或 extended thinking，那深绑定是对的。如果你的 SLA 是 99.9% 但 Anthropic 每月有 1-2 次 incident，那你必须有 fallback。现实中大多数生产系统是混合模式：90% 流量走主路径，10% 是 fallback。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 Breaker 防止了一个经典的级联故障模式。想象 Anthropic API 宕了，你的 Agent 每次请求都要等 60 秒超时才知道失败。10 个并发请求 × 60 秒 = 你的线程池被占满，其他健康的 provider 也无法被调用。Circuit Breaker 在检测到故障模式后立即“断开”——所有后续请求直接 fast-fail（毫秒级）。等故障恢复后，通过 HALF-OPEN 的探测机制逐步恢复流量。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 Chain 是 Circuit Breaker 的下游——主路径熔断后流量去哪。设计 fallback 时要权衡：同 provider 的 fallback（Sonnet → Haiku）保留 cache，但如果是 Anthropic 全站宕机就不顶用。跨 provider 失去 cache + 需要格式转换，但能扛住单 provider 故障。生产推荐：3 级 fallback，Hard Fail 排队等恢复（不要让最后一级也失败导致请求丢失）。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错误分类是 circuit breaker 实现中最容易犯的错。如果你把 400 Bad Request 也算作 provider 失败，那你的代码 bug 会触发熔断——明明 provider 是健康的。如果你把 429 也算进去，那正常的限流会导致熔断——接下来所有请求都 fast-fail，反而加剧了问题。只有真正的系统性故障（500/502/503/timeout/连接拒绝）才应该触发熔断。429 用 backoff 处理就好。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Bulkhead 的名字来自船舶的水密舱壁——一个舱进水了，关上隔离门，其他舱不受影响。在 Agent 系统中，如果你有后台任务（autoDream 在做记忆整合、sub-agent 在并行处理子任务），它们不应该影响到用户正在交互的主 Agent 的响应速度。即使 Low 优先级的队列排了 100 个任务，Critical 的 60% 配额保证用户请求秒级响应。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Retry 和 timeout 看似是“基础设施 101”，但在 Agent 系统中它们与 errors-as-observations 模式交织，变得有趣。当 tool 超时了——30 秒内没返回——这是一个 error 还是需要 retry？答案是：先作为 observation 告诉 Agent（“tool timed out”），让 Agent 决定。只有 LLM provider 级别的超时才由 S5 自动 retry with fallback。另一个常见错误：对 400 错误做重试。你的请求格式错了，重试 100 次结果也一样。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这可能是 Agent 系统中最优雅的设计模式之一。传统系统中，工具调用失败了你要么重试要么报错。但 Agent 有推理能力——你把错误信息作为一个 observation 喂给它，它能理解“哦，这个文件不存在，让我检查一下路径对不对”或者“权限不够，我去问用户要权限”。这就是 Agent 相比传统自动化的核心优势：它不需要你预先为每种错误编写处理逻辑——它自己推理出应对方案。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自愈模式很强大但必须有边界。最危险的情况是：Agent 遇到安全违规后“自愈”——比如路径穿越被拦截后，它“学会”了用 symbolic link 绕过。这不是自愈，是 attack escalation。所以安全相关的错误绝不能进入 error-as-observation 循环——必须由 S3 硬终止。另一个常见问题：Agent 连续 5 次尝试同一个操作都失败——这时候问题是系统性的，“try harder” 没有意义。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复杂任务不是“一步一步做完”就行的——如果两个步骤之间没有依赖关系，它们应该并行执行以节省 wall-clock time。DAG 模型让你显式声明依赖关系，然后拓扑排序自动发现可并行的机会。关于“谁来做分解”——让 LLM 自己分解很灵活但不可靠，用固定模板可靠但不灵活。成熟的系统用混合方法：常见任务类型有预定义 DAG 模板，LLM 只需要在模板基础上微调。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选择哪种模式取决于任务结构。可并行分解 → Coordinator。线性流程 → Pipeline。需要质量保证的关键决策 → Debate。探索性搜索 → Swarm。实践中 Coordinator 是 80% 场景的选择——它简单、可控、好调试。Debate 模式虽然贵但在关键节点值得——比如架构设计、安全审计。一个有趣的实践：Claude Code 的 Agent tool 本质上就是 Coordinator 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这是多 Agent 系统中最常犯的错误：把父 Agent 的整个对话历史 copy 给子 Agent。我见过一个系统，主 Agent 有 80K 的 context，它 spawn 了 5 个子 Agent，每个都接收了 80K 的历史。结果：5 × 80K = 400K tokens 的额外消耗，每个子任务多花 $2，大部分信息对子 Agent 完全无用。正确做法：只传任务描述（几百 tokens）+ 必要数据。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通信模式的选择看起来是技术细节，但它决定了系统的可扩展性。Message Passing 最灵活——你可以把 worker 部署在不同机器上。Shared State 最高效但最脆弱——两个 Agent 同时写同一个 key 会产生竞态。在生产中，大多数多 Agent 系统用 Message Passing——因为它天然支持重试、可观测、容错。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 Agent 系统最容易被忽视的问题是“结果合成”。你让 3 个 Agent 独立写代码，拼在一起发现类型不匹配、import 冲突、命名风格不一致。好的 coordinator 在分配任务时就应该给出统一的约束。另一个关键点：递归深度限制。我见过没有深度限制的系统——主 Agent spawn 子 Agent，子 Agent 又 spawn 子子 Agent，最终 5 层深度、32 个 Agent 并发运行、内存耗尽。设 max_depth=3 是经验值。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的子 Agent 设计是 Coordinator 模式的优秀实现。几个值得注意的设计决策：第一，子 Agent 的 context 完全独立——不是“继承”父 Agent 的 context，而是全新开始。这保证了隔离性。第二，返回值是 text summary 而非结构化数据——这给了子 Agent 灵活性。第三，worktree 隔离解决了多 Agent 并行修改文件的冲突问题。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这个讨论 5 分钟。场景 B 最有讨论价值——“5 个独立模块”听起来应该用 Coordinator，但“确保 API 兼容性”引入了耦合。如果不提前给约束，5 个 worker 可能各自定义不兼容的接口。这引出多 Agent 设计的核心挑战：你需要在隔离和协作之间找到平衡。太隔离 = 结果不一致；太耦合 = 失去并行的好处。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模型路由是第二高 ROI 的成本优化（第一是 prompt caching）。逻辑很简单：你不会用 Opus 来做“把这段文字翻译成 JSON” 这种简单任务——Haiku 做得一样好，但便宜 60 倍。关键挑战是准确分类任务复杂度。先用启发式跑起来，收集数据后再训练分类器。注意 Pareto 的关键词是“阈值”——不是追求最高质量，而是满足质量下限后追求最低成本。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 10 项是 S5 的 production readiness minimum。上线之前逐项核对。最常缺失的是 #6（circuit breaker 的错误分类——很多人把 429 也算进去了）和 #9（error-as-observation 没有 max consecutive guard——Agent 对同一个错误反复重试 20 次才被 max_iterations 终止，白白烧了 $5 token）。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 S5 的全景。上半部分管 Agent 自身的行为（别漂移、别超预算、别停不下来），下半部分管 Agent 依赖的基础设施（provider 宕了怎么办、网络断了怎么办、错误怎么自愈）。两者合在一起就是 Agent 的“控制面”——就像 Kubernetes 的 control plane 管理容器的生命周期一样，S5 管理 Agent loop 的生命周期。接下来的 Mini-Lab 让你亲手设置这些参数，观察 Agent 在不同约束下的行为变化。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· ENTROPY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熵管理系统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对抗 Agent 的热力学第二定律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9A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“Entropy is the default. Order requires energy.”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5669280" cy="0"/>
          </a:xfrm>
          <a:prstGeom prst="line">
            <a:avLst/>
          </a:prstGeom>
          <a:noFill/>
          <a:ln w="12700">
            <a:solidFill>
              <a:srgbClr val="47525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编排 · 容错 · 成本 — 三位一体的控制面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无主动管理的 Agent 必然走向漂移、耗尽、级联崩溃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A: Loop &amp; Control (slides 1-14)  ·  Part B: Fault Tolerance (15-23)  ·  Part C: Multi-Agent &amp; Cost (24-33)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0" y="6126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 min  ·  33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ANCHOR · TRADITIONAL VS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确定性执行 vs 概率性执行：两种截然不同的世界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33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传统 Workflow Engine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Execution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路径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确定性 · DAG 部署时已知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概率性 · 运行时由 LLM 决定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可预测 · 每节点有上界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不确定 · 取决于 loop 迭代次数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可重现性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Same input = Same execution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Same input → Different paths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故障域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节点级 · 隔离明确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Loop 级 · 漂移会污染整个执行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熵特性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 entropy · 受控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 entropy · 自发增长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846320"/>
            <a:ext cx="10515600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841248" y="4983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传统系统：你设计 path，引擎执行你的设计</a:t>
            </a:r>
            <a:endParaRPr lang="en-US" sz="13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系统：你设计 boundary，Agent 在边界内自己探索 path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ANCHOR · DISASTER SCENARIOS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失控 Agent 的四大灾难场景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7492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78408" y="1600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1 · Infinite Loop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074920" cy="14173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反复尝试相同方案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小时烧 $200 没完成</a:t>
            </a:r>
            <a:endParaRPr lang="en-US" sz="11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无终止条件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1928" y="1600200"/>
            <a:ext cx="507492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19088" y="1600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2 · Goal Drift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2103120"/>
            <a:ext cx="5074920" cy="14173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46520" y="21945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“fix login bug” → 重构整个 auth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文件改动 vs 1 个原 bug</a:t>
            </a:r>
            <a:endParaRPr lang="en-US" sz="11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无方向锚定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3611880"/>
            <a:ext cx="5074920" cy="502920"/>
          </a:xfrm>
          <a:prstGeom prst="rect">
            <a:avLst/>
          </a:prstGeom>
          <a:solidFill>
            <a:srgbClr val="C063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978408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3 · Cascade Failure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4114800"/>
            <a:ext cx="5074920" cy="14173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API 短暂抖动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重试爆炸 → 整服务挂</a:t>
            </a:r>
            <a:endParaRPr lang="en-US" sz="11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C063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无熔断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1928" y="3611880"/>
            <a:ext cx="5074920" cy="50292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419088" y="3611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4 · Recursive Sub-Agents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81928" y="4114800"/>
            <a:ext cx="5074920" cy="14173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6446520" y="420624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 Agent spawn 子 Agent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 spawn 子子 → 递归爆炸</a:t>
            </a:r>
            <a:endParaRPr lang="en-US" sz="11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8B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无层级 budget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没有约束的自主性 = 灾难 · 接下来 70 分钟逐个安装“控制棒”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AGENT HEARTBEAT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Think-Act-Observe：Agent 不是链，是循环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1280160"/>
          </a:xfrm>
          <a:prstGeom prst="ellipse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78408" y="1691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Think</a:t>
            </a:r>
            <a:endParaRPr lang="en-US" sz="18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推理 · 决定下一步或宣布完成</a:t>
            </a:r>
            <a:endParaRPr lang="en-US" sz="18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i="1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 cost · 不可逆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33088" y="2240280"/>
            <a:ext cx="2286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379976" y="1600200"/>
            <a:ext cx="3291840" cy="12801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517136" y="1691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</a:t>
            </a:r>
            <a:endParaRPr lang="en-US" sz="18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 S2 工具 · 执行具体操作</a:t>
            </a:r>
            <a:endParaRPr lang="en-US" sz="18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i="1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side effect · 可能不可逆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71816" y="2240280"/>
            <a:ext cx="22860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7918704" y="1600200"/>
            <a:ext cx="3291840" cy="1280160"/>
          </a:xfrm>
          <a:prstGeom prst="ellipse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055864" y="1691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Observe</a:t>
            </a:r>
            <a:endParaRPr lang="en-US" sz="18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结果注入回 context · 为下次 Think 提供信息</a:t>
            </a:r>
            <a:endParaRPr lang="en-US" sz="1800" dirty="0"/>
          </a:p>
          <a:p>
            <a:pPr marL="0" indent="0" algn="ctr">
              <a:spcBef>
                <a:spcPts val="300"/>
              </a:spcBef>
              <a:buNone/>
            </a:pPr>
            <a:r>
              <a:rPr lang="en-US" sz="1000" i="1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info gain · 学习唯一来源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356848" y="224028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11814048" y="2240280"/>
            <a:ext cx="0" cy="137160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384048" y="3611880"/>
            <a:ext cx="114300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384048" y="2240280"/>
            <a:ext cx="0" cy="137160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384048" y="224028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3749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State: Context Window (growing with each iteration)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" y="4206240"/>
            <a:ext cx="10515600" cy="15544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1024128" y="43434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LOOP, NOT CHAIN</a:t>
            </a:r>
            <a:endParaRPr lang="en-US" sz="1600" dirty="0"/>
          </a:p>
          <a:p>
            <a:pPr marL="0" indent="0" algn="ctr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 chain：A → B → C → Done（步数确定）</a:t>
            </a:r>
            <a:endParaRPr lang="en-US" sz="16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loop：Think → Act → Observe → ?（步数不确定）</a:t>
            </a:r>
            <a:endParaRPr lang="en-US" sz="1600" dirty="0"/>
          </a:p>
          <a:p>
            <a:pPr marL="0" indent="0" algn="ctr">
              <a:spcBef>
                <a:spcPts val="800"/>
              </a:spcBef>
              <a:buNone/>
            </a:pPr>
            <a:r>
              <a:rPr lang="en-US" sz="12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不确定性的根源：每次 Think 都是概率性的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TWO LOOP PHILOSOPHIES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实现哲学之争：Async Generator vs Linear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Async Generator（Claude Code）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120640" cy="2606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submitMessage() yields events as async iterator</a:t>
            </a:r>
            <a:endParaRPr lang="en-US" sz="105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Streaming：用户实时看到 Agent 的思考</a:t>
            </a:r>
            <a:endParaRPr lang="en-US" sz="105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Concurrent tool execution（并行工具调用）</a:t>
            </a:r>
            <a:endParaRPr lang="en-US" sz="105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优化：interactive use, low perceived latency</a:t>
            </a:r>
            <a:endParaRPr lang="en-US" sz="10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代价：状态管理复杂 / race condition / partial failure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Linear Pipeline（OpenCode）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5120640" cy="2606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00800" y="2212848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intake → assembly → inference → execution → persist</a:t>
            </a:r>
            <a:endParaRPr lang="en-US" sz="105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Sequential：一次一个 tool，确定性顺序</a:t>
            </a:r>
            <a:endParaRPr lang="en-US" sz="105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优化：auditability, reproducibility</a:t>
            </a:r>
            <a:endParaRPr lang="en-US" sz="105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checkpoint at each phase → debugging</a:t>
            </a:r>
            <a:endParaRPr lang="en-US" sz="10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代价：无法流式 / 无并发 / 长任务用户体验差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4892040"/>
            <a:ext cx="10515600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50292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Same loop semantics, different execution strategies</a:t>
            </a:r>
            <a:endParaRPr lang="en-US" sz="13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实时反馈+并发 → Async  ·  审计+确定性 → Linear  ·  生产常用混合：async 前台 + linear 后台批量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TERMINATION CONDITIONS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五大终止条件：Agent Loop 的刹车系统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657600" cy="5029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Tool Calls Exhausted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4114800" cy="5029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70916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决定 end_turn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78240" y="1600200"/>
            <a:ext cx="2560320" cy="5029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915400" y="1600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最自然，最不可靠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" y="2194560"/>
            <a:ext cx="3657600" cy="5029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41248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Max Iterations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2194560"/>
            <a:ext cx="4114800" cy="5029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70916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硬性迭代上限（典型 25）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2194560"/>
            <a:ext cx="2560320" cy="5029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9154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防灾难 1 安全网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" y="2788920"/>
            <a:ext cx="365760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2788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Token Budget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4114800" cy="5029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累计 token 上限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78240" y="2788920"/>
            <a:ext cx="2560320" cy="5029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8915400" y="2788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防经济损失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" y="3383280"/>
            <a:ext cx="3657600" cy="502920"/>
          </a:xfrm>
          <a:prstGeom prst="rect">
            <a:avLst/>
          </a:prstGeom>
          <a:solidFill>
            <a:srgbClr val="C063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841248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· Explicit Stop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0" y="3383280"/>
            <a:ext cx="4114800" cy="5029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4709160" y="3383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用户取消 / kill / timeout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778240" y="3383280"/>
            <a:ext cx="2560320" cy="5029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8915400" y="3383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63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尊重外部中断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248" y="3977640"/>
            <a:ext cx="365760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841248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· Goal Achieved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0" y="3977640"/>
            <a:ext cx="4114800" cy="5029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4709160" y="3977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外部验证通过（test pass）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78240" y="3977640"/>
            <a:ext cx="2560320" cy="5029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8915400" y="3977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最可靠正面终止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" y="4709160"/>
            <a:ext cx="10515600" cy="1097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1024128" y="48463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你需要全部五个 — Defense in Depth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First triggered wins  ·  任何单一条件都有 edge cases</a:t>
            </a:r>
            <a:endParaRPr lang="en-US" sz="14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类比：飞机安全系统 — 主控失效有备控，备控失效有手动，手动失效有物理断路器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TERMINATION ANTI-PATTERNS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终止条件反模式：怎样做是错的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6858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 1 · Only “Agent says done”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4846320" cy="6858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343400" y="16002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陷入循环每轮都说“let me try one more” · 或第 2 轮就放弃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98280" y="1600200"/>
            <a:ext cx="2240280" cy="6858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189720" y="1600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max_iterations + budget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" y="2377440"/>
            <a:ext cx="3291840" cy="6858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 2 · Only max_iterations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06240" y="2377440"/>
            <a:ext cx="4846320" cy="6858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343400" y="2377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设太低（5）→ 复杂任务被打断 · 设太高（1000）→ 等于没限制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2377440"/>
            <a:ext cx="2240280" cy="6858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9189720" y="2377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token budget + dynamic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" y="3154680"/>
            <a:ext cx="3291840" cy="6858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960120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 3 · No explicit stop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06240" y="3154680"/>
            <a:ext cx="4846320" cy="6858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343400" y="31546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用户发现 Agent 做错事但无 cancel · 只能关浏览器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280" y="3154680"/>
            <a:ext cx="2240280" cy="6858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9189720" y="3154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kill signal + Agent 每 Act 前 check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" y="4069080"/>
            <a:ext cx="10515600" cy="169164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24128" y="4178808"/>
            <a:ext cx="1014984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Correct: multi-condition termination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i in range(MAX_ITERATIONS):           # 2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budget.exhausted(): break          # 3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stop_signal.is_set(): break        # 4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response = await llm.generate(ctx)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not response.has_tool_calls(): break  # 1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goal_verifier.achieved(response): break  # 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· 两种类型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Detection：Agent 正在偏离目标吗？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Goal Drift · 方向错了（向量偏离）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48840"/>
            <a:ext cx="5120640" cy="24688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定义：逐渐遗忘原始目标，转而追逐无关目标</a:t>
            </a:r>
            <a:endParaRPr lang="en-US" sz="11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根因：原始 goal 在 context 中被“稀释” + recency bias</a:t>
            </a:r>
            <a:endParaRPr lang="en-US" sz="115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1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</a:t>
            </a:r>
            <a:endParaRPr lang="en-US" sz="11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“Fix login bug” → turn 15 时 login 已 10 轮没出现 → Agent 在做无关 refactoring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1600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Scope Creep · 走太远了（标量过大）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48840"/>
            <a:ext cx="5120640" cy="24688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定义：记得目标，但自行扩大执行范围</a:t>
            </a:r>
            <a:endParaRPr lang="en-US" sz="11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根因：LLM 的 helpfulness bias — 总想“多做一点”</a:t>
            </a:r>
            <a:endParaRPr lang="en-US" sz="115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</a:t>
            </a:r>
            <a:endParaRPr lang="en-US" sz="11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“Add a logout button” → 顺便重构 CSS、更新测试、改 build config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4846320"/>
            <a:ext cx="10515600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4983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共同本质：熵增 — 从有序（goal-aligned）向无序（goal-divergent）的自发漂移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Goal Drift = 出门买牛奶进了书店  ·  Scope Creep = 出门买牛奶把一周菜都买了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· 3 MECHANISMS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三大漂移检测机制：被动监控 + 主动预防 + 硬性约束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7772400" cy="7772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841248" y="1600200"/>
            <a:ext cx="128016" cy="7772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Context Similarity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task vs recent actions 的 cosine similarity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&lt;0.7 黄  ·  &lt;0.5 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0" y="1600200"/>
            <a:ext cx="2560320" cy="7772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Passive Monitor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" y="2514600"/>
            <a:ext cx="7772400" cy="7772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841248" y="2514600"/>
            <a:ext cx="128016" cy="777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078992" y="25603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Goal Anchoring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 5 轮重新注入 original task description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200-500 tokens / inject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0" y="2514600"/>
            <a:ext cx="2560320" cy="777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778240" y="25146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Preventive Reminder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3429000"/>
            <a:ext cx="7772400" cy="7772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841248" y="3429000"/>
            <a:ext cx="128016" cy="7772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1078992" y="34747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Behavior Boundary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开始定义 allowed tools + paths</a:t>
            </a:r>
            <a:endParaRPr lang="en-US" sz="13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 阻断率（硬围栏）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78240" y="3429000"/>
            <a:ext cx="2560320" cy="7772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8778240" y="3429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Hard Constraint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" y="4434840"/>
            <a:ext cx="10515600" cy="13716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1024128" y="45720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Defense in Depth — 三者组合使用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Boundary 阻断严重越界（硬围栏） · Anchoring 预防渐进漂移（哨声） · Similarity 监控全局趋势（卫星）</a:t>
            </a:r>
            <a:endParaRPr lang="en-US" sz="14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单独用任何一个都有盲点：Boundary 太严 / Anchoring 被忽略 / Similarity 反应慢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· GRADUATED RECOVERY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漂移恢复：渐进式响应 — 从轻推到强停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743200" cy="914400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· Inject Reminder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similarity &lt; 0.7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1600200"/>
            <a:ext cx="594360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794760" y="1600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下一轮注入高优先级提醒，Agent 自我修正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1600200"/>
            <a:ext cx="1645920" cy="9144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784080" y="1600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0A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70% 修正率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" y="2606040"/>
            <a:ext cx="2743200" cy="9144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· Context Reset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后 3 轮未回归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2606040"/>
            <a:ext cx="594360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794760" y="26060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Summarize progress + 移除噪音 + 重新注入 goal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2606040"/>
            <a:ext cx="1645920" cy="9144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9784080" y="2606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丢失中间推理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" y="3611880"/>
            <a:ext cx="2743200" cy="9144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960120" y="36850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Force Terminate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similarity &lt; 0.4 / budget 80% 无进展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3611880"/>
            <a:ext cx="5943600" cy="9144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3794760" y="36118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立即停止 + checkpoint + 漂移报告 → 人类决策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3611880"/>
            <a:ext cx="1645920" cy="9144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9784080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failure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" y="4709160"/>
            <a:ext cx="10515600" cy="1097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24128" y="48463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原则：渐进响应，不直接跳到 L3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像“会议中走神被叫名字拉回” · L2 像“清理乱房间” · L3 像“承认无法救药交给人类”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记住：L3 不是失败 — 不终止导致的 $200 账单才是失败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 · 3 LEVELS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Budget：三级预算 + 渐进式压力响应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108960" cy="5486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· Per-Day Global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600200"/>
            <a:ext cx="274320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10M tokens/day ≈ $30/day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1600200"/>
            <a:ext cx="448056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995160" y="1600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保护组织预算 · 触发 → 全停 + alert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2240280"/>
            <a:ext cx="310896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41248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· Per-Task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240280"/>
            <a:ext cx="274320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11480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500K tokens ≈ $1.50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0" y="2240280"/>
            <a:ext cx="448056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995160" y="2240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 runaway · 触发 → graceful + partial result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" y="2880360"/>
            <a:ext cx="310896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41248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· Per-Round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2880360"/>
            <a:ext cx="274320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11480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继承自 S1 Context Budget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2880360"/>
            <a:ext cx="448056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6995160" y="2880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防超长 output · 由 S1 管理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" y="3657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Progressive Pressure Response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1248" y="4069080"/>
            <a:ext cx="2468880" cy="13716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950976" y="416052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80%</a:t>
            </a:r>
            <a:endParaRPr lang="en-US" sz="22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Compress</a:t>
            </a:r>
            <a:endParaRPr lang="en-US" sz="2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summarize 历史，释放空间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538728" y="4069080"/>
            <a:ext cx="2468880" cy="1371600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3648456" y="416052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</a:t>
            </a:r>
            <a:endParaRPr lang="en-US" sz="22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autoDream</a:t>
            </a:r>
            <a:endParaRPr lang="en-US" sz="2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关键信息写入外部记忆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6208" y="4069080"/>
            <a:ext cx="2468880" cy="13716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6345936" y="416052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95%</a:t>
            </a:r>
            <a:endParaRPr lang="en-US" sz="22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Reject New Tools</a:t>
            </a:r>
            <a:endParaRPr lang="en-US" sz="2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只允许 finish/summary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933688" y="4069080"/>
            <a:ext cx="2468880" cy="13716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9043416" y="416052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99%</a:t>
            </a:r>
            <a:endParaRPr lang="en-US" sz="22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Hard Stop</a:t>
            </a:r>
            <a:endParaRPr lang="en-US" sz="2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无条件终止 + 状态总结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41248" y="5532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软着陆 → 激进压缩 → 最后通牒 → 断路器 · 类比：船舶进水的 4 级响应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CONTROL PLANE STATE MACHINE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状态机：Control Plane 的骨架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5F6B7A"/>
          </a:solidFill>
          <a:ln w="381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INITIALIZING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594360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0" y="169164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D8102"/>
          </a:solidFill>
          <a:ln w="381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68680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0" y="3657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D13212"/>
          </a:solidFill>
          <a:ln w="381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68680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3657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0A000"/>
          </a:solidFill>
          <a:ln w="19050">
            <a:solidFill>
              <a:srgbClr val="5F6B7A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943600" y="36576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PAUSED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68880" y="2011680"/>
            <a:ext cx="73152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394960" y="2011680"/>
            <a:ext cx="54864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8138160" y="2011680"/>
            <a:ext cx="54864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6766560" y="2331720"/>
            <a:ext cx="0" cy="132588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7498080" y="3977640"/>
            <a:ext cx="1188720" cy="0"/>
          </a:xfrm>
          <a:prstGeom prst="line">
            <a:avLst/>
          </a:prstGeom>
          <a:noFill/>
          <a:ln w="19050">
            <a:solidFill>
              <a:srgbClr val="D13212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59436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kill_signal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1248" y="4617720"/>
            <a:ext cx="10515600" cy="118872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24128" y="4727448"/>
            <a:ext cx="1014984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State Transitions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IDLE + user_message → INITIALIZING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INIT + ready → EXECUTING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 + termination_met → COMPLETED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 + unrecoverable → FAILED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 ↔ PAUSED (HITL injection point)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ANY + kill_signal → FAILED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PAUSE/RESUME/INTERVENTION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实时控制操作：Pause / Resume / Intervene / Kill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468880" cy="777240"/>
          </a:xfrm>
          <a:prstGeom prst="rect">
            <a:avLst/>
          </a:prstGeom>
          <a:solidFill>
            <a:srgbClr val="E0A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‖  </a:t>
            </a: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Pause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41248" y="2377440"/>
            <a:ext cx="246888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50976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完成当前 tool call → 进入 PAUSED · 保存完整 checkpoint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8728" y="1600200"/>
            <a:ext cx="2468880" cy="7772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538728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  </a:t>
            </a: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Resume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38728" y="2377440"/>
            <a:ext cx="246888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648456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verify state → re-inject goal reminder → 从 checkpoint 继续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6208" y="1600200"/>
            <a:ext cx="2468880" cy="7772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6236208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  </a:t>
            </a: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Intervene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36208" y="2377440"/>
            <a:ext cx="246888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345936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运行中注入新指令（不暂停）· high-priority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3688" y="1600200"/>
            <a:ext cx="2468880" cy="7772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933688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</a:t>
            </a: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Kill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33688" y="2377440"/>
            <a:ext cx="246888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9043416" y="24688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立即终止（不等当前 tool）· state snapshot for post-mortem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" y="4297680"/>
            <a:ext cx="10515600" cy="14630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1024128" y="44348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不是“启动后就不管了”的 batch job — 它是 live process</a:t>
            </a:r>
            <a:endParaRPr lang="en-US" sz="13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Pause 关键：完成当前 tool 再暂停（避免文件写一半）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Resume 关键：验证状态有效（暂停期间外部环境可能变化）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Intervene 关键：副驾驶式实时指导  ·  Kill 关键：紧急情况立即截停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A · SUMMARY + TRANSITION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A 总结：Agent Loop 控制的四大支柱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468880" cy="128016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50976" y="16916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Termination</a:t>
            </a:r>
            <a:endParaRPr lang="en-US" sz="13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3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刹车系统</a:t>
            </a:r>
            <a:endParaRPr lang="en-US" sz="13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保证 loop 一定停下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38728" y="1600200"/>
            <a:ext cx="2468880" cy="12801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648456" y="16916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Detection</a:t>
            </a:r>
            <a:endParaRPr lang="en-US" sz="13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3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方向盘</a:t>
            </a:r>
            <a:endParaRPr lang="en-US" sz="13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保证朝正确目标前进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2468880" cy="128016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345936" y="16916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</a:t>
            </a:r>
            <a:endParaRPr lang="en-US" sz="13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3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油量表</a:t>
            </a:r>
            <a:endParaRPr lang="en-US" sz="13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保证资源消耗可控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3688" y="1600200"/>
            <a:ext cx="2468880" cy="128016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043416" y="1691640"/>
            <a:ext cx="2286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State Machine</a:t>
            </a:r>
            <a:endParaRPr lang="en-US" sz="13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US" sz="13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仪表盘</a:t>
            </a:r>
            <a:endParaRPr lang="en-US" sz="13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完整状态可见 + 实时操控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3108960"/>
            <a:ext cx="5120640" cy="137160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3246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Part A 解决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1（Infinite Loop）→ Termination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2（Goal Drift）→ Drift Detection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4（Recursion）→ Budget per level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6208" y="3108960"/>
            <a:ext cx="5120640" cy="137160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419088" y="3246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Part A 假设了完美基础设施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现实：Provider 宕机 / 网络超时 / API 限流 / 错误级联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3（Cascade Failure）还没解决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663440"/>
            <a:ext cx="10515600" cy="1143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024128" y="48006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Part B: Fault Tolerance &amp; Infrastructure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Abstraction · Circuit Breaker · Fallback · Bulkhead · Retry · Timeout · Errors-as-Observations</a:t>
            </a:r>
            <a:endParaRPr lang="en-US" sz="14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2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当地基摇晃时，如何让建筑不倒塌？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ABSTRACTION · 两条路径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Abstraction — 深度绑定 vs 多模型路由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Single-Model Binding（Claude Code）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120640" cy="19202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深度集成 Anthropic API</a:t>
            </a:r>
            <a:endParaRPr lang="en-US" sz="115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cache_control 标记 (90% 折扣)</a:t>
            </a:r>
            <a:endParaRPr lang="en-US" sz="115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extended thinking</a:t>
            </a:r>
            <a:endParaRPr lang="en-US" sz="115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native tool_use 格式</a:t>
            </a:r>
            <a:endParaRPr lang="en-US" sz="11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代价：vendor lock-in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Multi-Model Routing（OpenCode）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5120640" cy="19202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00800" y="2212848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统一抽象层 · 75+ providers</a:t>
            </a:r>
            <a:endParaRPr lang="en-US" sz="115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/ Anthropic / Google / Ollama</a:t>
            </a:r>
            <a:endParaRPr lang="en-US" sz="115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灵活切换 + 价格竞争</a:t>
            </a:r>
            <a:endParaRPr lang="en-US" sz="115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故障时 cross-provider failover</a:t>
            </a:r>
            <a:endParaRPr lang="en-US" sz="115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05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代价：只能用最大公约数功能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4206240"/>
            <a:ext cx="10515600" cy="155448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4315968"/>
            <a:ext cx="101498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推荐：混合方案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Primary:    Claude Sonnet  (深绑定 + cache + thinking)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Fallback-1: Claude Haiku   (同 provider，保留 cache)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Fallback-2: GPT-4o-mini    (跨 provider via 抽象层)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ABSTRACTION · 决策框架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何时深绑定、何时多路由？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74920" cy="7772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78408" y="167335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稳定性需求高 + 成本敏感低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Multi-Route + 多 fallback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81928" y="1600200"/>
            <a:ext cx="5074920" cy="777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419088" y="167335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稳定性需求低 + 成本敏感低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Single-Bind（深度优化）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2514600"/>
            <a:ext cx="5074920" cy="7772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78408" y="258775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稳定性需求高 + 成本敏感高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Hybrid（主深绑 + 抽象层 fallback）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81928" y="2514600"/>
            <a:ext cx="5074920" cy="77724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19088" y="258775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稳定性需求低 + 成本敏感高</a:t>
            </a:r>
            <a:endParaRPr lang="en-US" sz="11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Multi-Route（按价格路由）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3520440"/>
            <a:ext cx="10515600" cy="178308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3630168"/>
            <a:ext cx="1014984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interface LLMProvider 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complete(messages, tools, config): Promise&lt;Response&gt;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stream(messages, tools, config): AsyncIterator&lt;StreamEvent&gt;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estimateTokens(messages): number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validateConfig(config): boolean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注意：切换 provider 不免费 — tool_use 格式不同 / token 计算不同 / 缓存不共享 / 重写适配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RESILIENCE · 三状态熔断器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Breaker — 防止 Provider 故障雪崩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051560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问题：Provider 宕机 → Agent 不断重试 → 延迟堆积 → 线程耗尽 → 服务崩溃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42316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1D8102"/>
          </a:solidFill>
          <a:ln w="12700">
            <a:solidFill>
              <a:srgbClr val="1D810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371600" y="24963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CLOSED</a:t>
            </a:r>
            <a:endParaRPr lang="en-US" sz="14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正常通行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242316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D13212"/>
          </a:solidFill>
          <a:ln w="12700">
            <a:solidFill>
              <a:srgbClr val="D1321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412480" y="24963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</a:t>
            </a:r>
            <a:endParaRPr lang="en-US" sz="14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快速拒绝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411480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E0A000"/>
          </a:solidFill>
          <a:ln w="12700">
            <a:solidFill>
              <a:srgbClr val="E0A0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892040" y="418795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HALF-OPEN</a:t>
            </a:r>
            <a:endParaRPr lang="en-US" sz="14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试探放行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743200"/>
            <a:ext cx="4663440" cy="0"/>
          </a:xfrm>
          <a:prstGeom prst="line">
            <a:avLst/>
          </a:prstGeom>
          <a:noFill/>
          <a:ln w="25400">
            <a:solidFill>
              <a:srgbClr val="D13212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11480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失败 / 50% 错误率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12480" y="3291840"/>
            <a:ext cx="0" cy="91440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704088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 cooldown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4434840"/>
            <a:ext cx="0" cy="0"/>
          </a:xfrm>
          <a:prstGeom prst="line">
            <a:avLst/>
          </a:prstGeom>
          <a:noFill/>
          <a:ln w="25400">
            <a:solidFill>
              <a:srgbClr val="1D8102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329184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探测成功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4434840"/>
            <a:ext cx="1554480" cy="0"/>
          </a:xfrm>
          <a:prstGeom prst="line">
            <a:avLst/>
          </a:prstGeom>
          <a:noFill/>
          <a:ln w="25400">
            <a:solidFill>
              <a:srgbClr val="D13212"/>
            </a:solidFill>
            <a:prstDash val="dash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74980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探测失败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Provider 独立维护熔断状态  ·  Sonnet OPEN 不影响 Haiku CLOSED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5532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 30s → HALF-OPEN（一个探测请求）· 来自微服务的 Netflix Hystrix / Resilience4j 模式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RESILIENCE · FALLBACK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Fallback Chain — Provider 故障时的降级路径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2194560" cy="5486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Primary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600200"/>
            <a:ext cx="310896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324612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Sonnet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07492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 features + prompt caching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38528" y="2148840"/>
            <a:ext cx="0" cy="914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841248" y="2240280"/>
            <a:ext cx="219456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841248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Fallback-1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2240280"/>
            <a:ext cx="310896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324612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Haiku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240280"/>
            <a:ext cx="507492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same provider, 同 cache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38528" y="2788920"/>
            <a:ext cx="0" cy="914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841248" y="2880360"/>
            <a:ext cx="2194560" cy="5486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41248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Fallback-2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2880360"/>
            <a:ext cx="310896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246120" y="2880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880360"/>
            <a:ext cx="507492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640080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cross-provider, 新 cache, 格式转换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38528" y="3429000"/>
            <a:ext cx="0" cy="914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841248" y="3520440"/>
            <a:ext cx="2194560" cy="5486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841248" y="3520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Hard Fail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3520440"/>
            <a:ext cx="3108960" cy="548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3246120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拒绝请求 + 告警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520440"/>
            <a:ext cx="5074920" cy="548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640080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排队等恢复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41248" y="4251960"/>
            <a:ext cx="10515600" cy="15544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1024128" y="438912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Fallback 的代价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 provider = 丧失 prompt cache（cache 是 per-provider 的）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 provider 的 tool_use 格式不同 → 需格式转换层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弱模型 fallback：复杂任务可能失败（可接受的降级）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BREAKER · 实现细节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Breaker 配置与错误分类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943600" cy="27432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557784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providers: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claude-sonnet: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failure_threshold: 5         # 连续失败次数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error_rate_threshold: 0.5    # 30s 内错误率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error_rate_window: 30s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cooldown_initial: 30s        # 首次 OPEN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cooldown_multiplier: 2       # 每次恢复失败翻倍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cooldown_max: 300s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claude-haiku: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failure_threshold: 3         # Fallback 更敏感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600200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✓ 计入失败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✗ 不计入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timeout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400 (our bad request)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500/502/503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401 (our auth)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529 (overloaded)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422 (our validation)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connection refused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429 (rate limit)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41248" y="4526280"/>
            <a:ext cx="10515600" cy="128016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1024128" y="46634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429 Rate Limiting 单独处理（不触发熔断）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原因：429 是临时的、可预期的、自恢复的 — 用 exponential backoff + jitter</a:t>
            </a:r>
            <a:endParaRPr lang="en-US" sz="13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breaker 针对系统性故障，不是临时限流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RESILIENCE · BULKHEAD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Bulkhead — 优先级资源隔离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问题：批量后台任务可能耗尽并发配额，让用户交互请求排队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240280"/>
            <a:ext cx="2194560" cy="64008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2240280"/>
            <a:ext cx="1645920" cy="64008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108960" y="2240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2240280"/>
            <a:ext cx="6492240" cy="6400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983480" y="2240280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用户实时交互、紧急任务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3017520"/>
            <a:ext cx="2194560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41248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Normal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3017520"/>
            <a:ext cx="1645920" cy="64008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10896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6492240" cy="6400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983480" y="3017520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后台任务、sub-agent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" y="3794760"/>
            <a:ext cx="2194560" cy="64008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41248" y="3794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08960" y="3794760"/>
            <a:ext cx="1645920" cy="64008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108960" y="3794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846320" y="3794760"/>
            <a:ext cx="6492240" cy="6400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983480" y="3794760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批处理、分析、autoDream 预热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4709160"/>
            <a:ext cx="10515600" cy="109728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024128" y="48463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即使 Low 队列堆满 100 个任务，Critical 始终有 60% 容量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类比：船舶水密舱壁 — 一个舱进水关门，其他舱不受影响</a:t>
            </a: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实现：独立请求队列 + per-queue 并发限制 + priority-based scheduling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RESILIENCE · RETRY + TIMEOUT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重试与超时 — 看似简单但最常做错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943600" cy="269748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5577840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指数退避 + 抖动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delay = min(base × 2^attempt × (1 ± 0.3 random),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max_delay)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例：1s → 2s → 4s → 8s ±30% 随机偏移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防 thundering herd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MAX_RETRIES = 3   # 再多就是 circuit breaker 的事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RETRY_ON  = [timeout, 429, 503]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NEVER_RETRY = [400, 401, 422]   # 我们的错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600200"/>
          <a:ext cx="42976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级别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默认值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超时后果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call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Error-as-observation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 inference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Retry with fallback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Task overall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600s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强制终止 + partial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Session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3600s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绝对上限 + 清理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41248" y="4526280"/>
            <a:ext cx="10515600" cy="128016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1024128" y="4645152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超时不是“出错了”，而是“超过了我们愿意等的时间”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超时 → 先作为 observation 告诉 Agent（让它决定重试还是换方案）</a:t>
            </a:r>
            <a:endParaRPr lang="en-US" sz="14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超时 → S5 自动 retry with fallback model（不打扰 Agent loop）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自愈模式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Errors-as-Observations — 让 Agent 从失败中学习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传统模式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120640" cy="18288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24128" y="2212848"/>
            <a:ext cx="47548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error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exception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handler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retry or crash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模式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5120640" cy="18288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19088" y="2212848"/>
            <a:ext cx="47548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error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ToolResult(is_error=true,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content="file not found")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next Think → Agent 推理替代方案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tries different path → success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步自愈示例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4480560"/>
            <a:ext cx="3291840" cy="109728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978408" y="4572000"/>
            <a:ext cx="457200" cy="457200"/>
          </a:xfrm>
          <a:prstGeom prst="ellipse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978408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27048" y="4526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尝试方案 A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95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失败：file not found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9976" y="4480560"/>
            <a:ext cx="3291840" cy="109728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4517136" y="457200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517136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65776" y="4526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理解原因 → 尝试方案 B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95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不同路径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18704" y="4480560"/>
            <a:ext cx="3291840" cy="109728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8055864" y="4572000"/>
            <a:ext cx="457200" cy="457200"/>
          </a:xfrm>
          <a:prstGeom prst="ellipse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8055864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04504" y="45262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 B 成功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950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任务完成（无人工干预）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可以理解错误上下文并选择替代策略 — 这是 Agent 相比传统自动化的核心优势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自愈 · BOUNDARIES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何时不让 Agent“自己处理” — 自愈红线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可自愈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120640" cy="224028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可恢复错误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File not found / wrong path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denied (可重试)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Rate limited (等待)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result format error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Network transient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必须硬停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5120640" cy="22402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00800" y="2212848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不允许自愈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安全违规 → S3 立即终止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预算耗尽 → 无法生成下一轮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系统级故障 (OOM, 磁盘满)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级联失败 (同类 ≥5 次)</a:t>
            </a:r>
            <a:endParaRPr lang="en-US" sz="12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Sandbox escape 尝试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4480560"/>
            <a:ext cx="10515600" cy="13258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4617720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自愈 Guardrails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max_consecutive_same_error: 3 → 升级（不让 Agent 反复撞墙）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错误分类：feed 给 LLM 之前先分类 recoverable / non-recoverable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成本感知：每次 error-retry 消耗 tokens，要计入 budget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ORCHESTRATION · DAG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复杂任务分解 — 从目标到依赖图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10515600" cy="182880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1014984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"Build a REST API" →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[定义 Schema] → [生成 Models] → [写 Handlers] ─┐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                       ├→ [写 Tests]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[初始化项目] → [安装依赖] ──────────────────────┘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                            ↓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                        [跑 Tests]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3611880"/>
            <a:ext cx="5120640" cy="9144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41248" y="3703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顺序执行</a:t>
            </a:r>
            <a:endParaRPr lang="en-US" sz="13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步 × 2min = 10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3611880"/>
            <a:ext cx="5120640" cy="91440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3703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并行执行（critical path）</a:t>
            </a:r>
            <a:endParaRPr lang="en-US" sz="1300" dirty="0"/>
          </a:p>
          <a:p>
            <a:pPr marL="0" indent="0" algn="ctr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步 × 2min = 6 min（节省 40%）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谁来做分解？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5029200"/>
            <a:ext cx="3291840" cy="77724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978408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LLM 自动</a:t>
            </a:r>
            <a:endParaRPr lang="en-US" sz="1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灵活但不可靠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9976" y="5029200"/>
            <a:ext cx="3291840" cy="7772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517136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预定义模板</a:t>
            </a:r>
            <a:endParaRPr lang="en-US" sz="1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可靠但不灵活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18704" y="5029200"/>
            <a:ext cx="3291840" cy="77724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8055864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· 混合（推荐）</a:t>
            </a:r>
            <a:endParaRPr lang="en-US" sz="1200" dirty="0"/>
          </a:p>
          <a:p>
            <a:pPr marL="0" indent="0" algn="ctr">
              <a:spcBef>
                <a:spcPts val="4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 + LLM 调整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 · 四种架构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 Patterns — 什么时候一个 Agent 不够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33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模式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数据流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Coordinator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指挥 + N worker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星形（中心↔边缘）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可并行分解的大任务（80% 场景）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顺序流转 A→B→C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线性工作流（研究→草稿→审查）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Debate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间提议/反驳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全连接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设计决策、code review（高质量）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Swarm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无中心，自组织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广播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探索性任务、大规模搜索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069080"/>
            <a:ext cx="10515600" cy="173736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1024128" y="4178808"/>
            <a:ext cx="1014984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Coordinator 模式（最常用）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 → Coordinator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├─→ Worker A (研究) ─→ result_A ─┐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├─→ Worker B (编码) ─→ result_B ─┼─→ Synthesis → Response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└─→ Worker C (测试) ─→ result_C ─┘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风险：Coordinator 是 SPOF + 瓶颈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 · CONTEXT 隔离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Sub-Agent 不是“迷你版的父 Agent”— 必须隔离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Sub-agent 接收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120640" cy="1691640"/>
          </a:xfrm>
          <a:prstGeom prst="rect">
            <a:avLst/>
          </a:prstGeom>
          <a:solidFill>
            <a:srgbClr val="E6F4E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任务目标（你要做什么）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必要输入数据（你需要什么）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全局约束（你不能做什么）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输出格式要求（返回什么格式）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236208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Sub-agent 不接收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2103120"/>
            <a:ext cx="5120640" cy="16916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400800" y="2212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父 Agent 的完整对话历史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其他 sub-agent 的中间状态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系统级 secret（最小权限）</a:t>
            </a:r>
            <a:endParaRPr lang="en-US" sz="11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无关的工具 schema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3931920"/>
            <a:ext cx="10515600" cy="187452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024128" y="4041648"/>
            <a:ext cx="10149840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Budget 继承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Parent Budget: 100K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├─ Reserved for parent: 30K (coordination)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├─ Worker A: 25K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├─ Worker B: 25K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└─ Worker C: 20K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子预算之和 ≤ 父预算 - 父保留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权限继承：只能向下收窄，不能扩展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 · 通信模式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之间怎么“说话” — 三种通信架构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108960" cy="96012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Message Passing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Actor / Queue / Event bus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600200"/>
            <a:ext cx="4114800" cy="9601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160520" y="1600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异步、解耦、可跨进程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10896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8366760" y="160020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Coordinator /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2697480"/>
            <a:ext cx="3108960" cy="9601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60120" y="27706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Shared State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共享内存 / DB / Redis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697480"/>
            <a:ext cx="4114800" cy="9601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160520" y="269748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同步、耦合、同进程高效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697480"/>
            <a:ext cx="310896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8366760" y="269748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Blackboard / 紧密协作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3794760"/>
            <a:ext cx="3108960" cy="9601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960120" y="3867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Structured Output Protocol</a:t>
            </a:r>
            <a:endParaRPr lang="en-US" sz="12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JSON-RPC / ACP / schema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3794760"/>
            <a:ext cx="4114800" cy="96012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160520" y="379476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类型安全、可验证、协议层规范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794760"/>
            <a:ext cx="3108960" cy="96012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8366760" y="379476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跨服务 / 跨团队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" y="4937760"/>
            <a:ext cx="10515600" cy="8686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24128" y="507492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选择指南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同进程 + 松耦合 → Message Passing  ·  同进程 + 紧耦合 → Shared State  ·  跨进程 → SOP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 · 失败处理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当子 Agent 失败时 — Partial Results + 优雅降级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65760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841248" y="1600200"/>
            <a:ext cx="91440" cy="384048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005840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Timeout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超时未返回 → 视为失败 / 默认值 / 跳过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1248" y="2057400"/>
            <a:ext cx="365760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841248" y="2057400"/>
            <a:ext cx="91440" cy="384048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005840" y="2057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Budget Exhausted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用完 token → 返回部分结果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2514600"/>
            <a:ext cx="365760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841248" y="2514600"/>
            <a:ext cx="91440" cy="384048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内部错误 → 错误信息供 coordinator 决策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41248" y="2971800"/>
            <a:ext cx="365760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841248" y="2971800"/>
            <a:ext cx="91440" cy="384048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005840" y="2971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Quality Below Threshold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完成但质量低 → 重试或换模型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Partial Results 策略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965960"/>
            <a:ext cx="6583680" cy="41148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4892040" y="196596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Fail Fast   </a:t>
            </a: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任一失败 → 整体失败（强依赖链）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6583680" cy="41148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4892040" y="246888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Best Effort   </a:t>
            </a: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收集所有成功，忽略失败（独立并行）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6583680" cy="4114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4892040" y="2971800"/>
            <a:ext cx="635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· Retry + Fallback   </a:t>
            </a: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重试一次，仍失败则降级方案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1248" y="397764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841248" y="3977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结果合成不是简单拼接：解决冲突、去重、确保一致性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" y="4572000"/>
            <a:ext cx="10515600" cy="123444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1024128" y="470916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防止递归爆炸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 depth = 3（主 → sub → sub-sub）  ·  每层 budget = parent / (depth+1)（自然递减）</a:t>
            </a:r>
            <a:endParaRPr lang="en-US" sz="13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超深度 → 强制在当前层完成，不再 spawn  ·  极少有任务真需要 &gt; 3 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MULTI-AGENT · 真实案例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Case Study — Claude Code 的子 Agent 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943600" cy="292608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24128" y="1709928"/>
            <a:ext cx="557784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主 Agent Context (200K window)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System prompt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Full conversation history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All tool schemas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子 Agent Context (独立的 200K window)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精简 system prompt (相关部分)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只有任务描述 (来自主 Agent prompt)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只有需要的 tool schemas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 完全独立的 conversation history (从 0 开始)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60020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关键设计决策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 Agent context 完全独立（不“继承”）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 text summary（非结构化数据）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权限继承可收窄（如 Explore agent 只 read）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敏感操作仍需用户确认（不自动 approve）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Worktree 隔离防文件冲突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4663440"/>
            <a:ext cx="10515600" cy="11430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024128" y="48006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Worktree 隔离 — 多 Agent 并行修改文件的解决方案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每个子 Agent 在独立 git worktree 工作 → 完成后 merge 回主分支</a:t>
            </a:r>
            <a:endParaRPr lang="en-US" sz="1300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代价：+200-500ms 设置 + 磁盘空间  ·  收益：完美的并行隔离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讨论环节 · 多 AGENT 决策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Discussion — 你的场景适合什么模式？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32688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 A · 文档生成系统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329184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78408" y="2212848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数据收集 → 初稿 → 事实核查 → 润色，严格先后依赖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794760"/>
            <a:ext cx="3291840" cy="91440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78408" y="3794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9976" y="1600200"/>
            <a:ext cx="329184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471416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 B · 代码重构系统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9976" y="2103120"/>
            <a:ext cx="329184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4517136" y="2212848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个独立微服务并行重构，最终需 API 兼容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9976" y="3794760"/>
            <a:ext cx="3291840" cy="9144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4517136" y="3794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Coordinator + 统一约束 + 合成检查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18704" y="1600200"/>
            <a:ext cx="3291840" cy="50292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010144" y="1600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 C · 架构设计助手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18704" y="2103120"/>
            <a:ext cx="3291840" cy="16916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055864" y="2212848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微服务 vs monolith / SQL vs NoSQL 多维 trade-off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18704" y="3794760"/>
            <a:ext cx="3291840" cy="91440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8055864" y="3794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Debate（Judge 综合）或单 Agent + CoT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" y="4937760"/>
            <a:ext cx="10515600" cy="8686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24128" y="507492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讨论引导（5 分钟）</a:t>
            </a:r>
            <a:endParaRPr lang="en-US" sz="13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你们系统中可用多 Agent 优化的场景？  ② 多 Agent 主要代价？（成本+复杂度+调试）  ③ 什么时候不该用？（单 Agent 够时）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 · 模型路由与 PARETO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Smart Model Routing — 用对的模型做对的事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 / 33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复杂度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价格 (in/out per MTok)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适用任务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Simple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Haiku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$0.25 / $1.25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格式化、分类、简单问答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Medium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Sonnet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$3 / $15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代码生成、调试、分析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Complex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Opus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$15 / $75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架构设计、多步推理、创意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3337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路由决策方法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703320"/>
            <a:ext cx="1051560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Shape 8"/>
          <p:cNvSpPr/>
          <p:nvPr/>
        </p:nvSpPr>
        <p:spPr>
          <a:xfrm>
            <a:off x="841248" y="3703320"/>
            <a:ext cx="91440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1005840" y="37033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关键词启发式  </a:t>
            </a: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format → Haiku / debug → Sonnet / design → Opus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248" y="4087368"/>
            <a:ext cx="1051560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1"/>
          <p:cNvSpPr/>
          <p:nvPr/>
        </p:nvSpPr>
        <p:spPr>
          <a:xfrm>
            <a:off x="841248" y="4087368"/>
            <a:ext cx="91440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2"/>
          <p:cNvSpPr/>
          <p:nvPr/>
        </p:nvSpPr>
        <p:spPr>
          <a:xfrm>
            <a:off x="1005840" y="408736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消息长度  </a:t>
            </a: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&lt;100 tokens → 简单 / &gt;1000 tokens → 复杂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" y="4471416"/>
            <a:ext cx="10515600" cy="320040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Shape 14"/>
          <p:cNvSpPr/>
          <p:nvPr/>
        </p:nvSpPr>
        <p:spPr>
          <a:xfrm>
            <a:off x="841248" y="4471416"/>
            <a:ext cx="91440" cy="320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5"/>
          <p:cNvSpPr/>
          <p:nvPr/>
        </p:nvSpPr>
        <p:spPr>
          <a:xfrm>
            <a:off x="1005840" y="44714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训练分类器  </a:t>
            </a: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小模型对任务分类 → 路由到合适 tier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41248" y="5029200"/>
            <a:ext cx="10515600" cy="7772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7"/>
          <p:cNvSpPr/>
          <p:nvPr/>
        </p:nvSpPr>
        <p:spPr>
          <a:xfrm>
            <a:off x="1024128" y="516636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Cost-Quality Pareto</a:t>
            </a:r>
            <a:endParaRPr lang="en-US" sz="14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定义最低质量阈值（90% success）→ 找满足阈值的最便宜模型  ·  Caching (50-90%) × Routing (40-60%) = 80%+ 总降本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设计检查清单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Production Readiness — 10 项必检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932688" y="16459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932688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600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终止条件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种全部激活，任一触发即停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81928" y="16002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373368" y="16459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373368" y="1645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39128" y="1600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漂移检测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至少实现 Goal Anchoring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20574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932688" y="21031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932688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98448" y="2057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 + 80/90/95/99 阈值动作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81928" y="20574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6373368" y="21031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373368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39128" y="2057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Control Plane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Pause/Resume/Intervene/Kill 全部可用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" y="25146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932688" y="25603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932688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98448" y="25146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Abstraction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 1 级 fallback 配置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81928" y="25146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Shape 27"/>
          <p:cNvSpPr/>
          <p:nvPr/>
        </p:nvSpPr>
        <p:spPr>
          <a:xfrm>
            <a:off x="6373368" y="25603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6373368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39128" y="25146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Breaker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per-provider 独立 + 错误分类正确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1248" y="29718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Shape 31"/>
          <p:cNvSpPr/>
          <p:nvPr/>
        </p:nvSpPr>
        <p:spPr>
          <a:xfrm>
            <a:off x="932688" y="30175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932688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98448" y="29718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Retry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指数退避+抖动 + 只 retry 可恢复 + max 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81928" y="29718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6373368" y="30175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6373368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39128" y="29718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Timeout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四级配置（tool/LLM/task/session）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1248" y="34290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932688" y="34747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932688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298448" y="3429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Error-as-Observation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max_consecutive guard ≤ 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1928" y="3429000"/>
            <a:ext cx="5074920" cy="384048"/>
          </a:xfrm>
          <a:prstGeom prst="rect">
            <a:avLst/>
          </a:prstGeom>
          <a:solidFill>
            <a:srgbClr val="F2F3F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6373368" y="3474720"/>
            <a:ext cx="292608" cy="29260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6373368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39128" y="3429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Cost 监控  </a:t>
            </a:r>
            <a:r>
              <a:rPr lang="en-US" sz="9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per-task / per-model 追踪 + 异常告警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41248" y="4023360"/>
            <a:ext cx="10515600" cy="1783080"/>
          </a:xfrm>
          <a:prstGeom prst="rect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Text 47"/>
          <p:cNvSpPr/>
          <p:nvPr/>
        </p:nvSpPr>
        <p:spPr>
          <a:xfrm>
            <a:off x="1024128" y="4160520"/>
            <a:ext cx="10149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最常缺失的两项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#6 Circuit breaker 错误分类（很多人把 429 也算进去）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#9 Error-as-observation 没有 max consecutive guard（同错重试 20 次烧 $5 token）</a:t>
            </a:r>
            <a:endParaRPr lang="en-US" sz="13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200" b="1" i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上线前逐项核对 — 这 10 项是 production minimum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 · S5 全景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一图总结 — Agent Control Plane 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06 S5 · Entropy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 / 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10515600" cy="4572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S5: AGENT CONTROL PLANE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329184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32688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Loop Control  </a:t>
            </a: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终止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9976" y="2103120"/>
            <a:ext cx="329184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4471416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Drift Detect  </a:t>
            </a: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18704" y="2103120"/>
            <a:ext cx="3291840" cy="548640"/>
          </a:xfrm>
          <a:prstGeom prst="rect">
            <a:avLst/>
          </a:prstGeom>
          <a:solidFill>
            <a:srgbClr val="146EB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8010144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Budget  </a:t>
            </a: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级 / 4 阈值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2743200"/>
            <a:ext cx="10515600" cy="50292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41248" y="2743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STATE MACHINE + CONTROL PLANE  ·  IDLE → INIT → EXEC → DONE/FAIL  +  Pause/Resume/Intervene/Kill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3337560"/>
            <a:ext cx="3291840" cy="14173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950976" y="3456432"/>
            <a:ext cx="30723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</a:t>
            </a:r>
            <a:endParaRPr lang="en-US" sz="1300" dirty="0"/>
          </a:p>
          <a:p>
            <a:pPr marL="0" indent="0" algn="ctr">
              <a:spcBef>
                <a:spcPts val="8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Single + Multi + CB + Fallback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79976" y="3337560"/>
            <a:ext cx="3291840" cy="14173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489704" y="3456432"/>
            <a:ext cx="30723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Resilience</a:t>
            </a:r>
            <a:endParaRPr lang="en-US" sz="1300" dirty="0"/>
          </a:p>
          <a:p>
            <a:pPr marL="0" indent="0" algn="ctr">
              <a:spcBef>
                <a:spcPts val="8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Bulkhead + Retry + Timeout + EaO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18704" y="3337560"/>
            <a:ext cx="3291840" cy="1417320"/>
          </a:xfrm>
          <a:prstGeom prst="rect">
            <a:avLst/>
          </a:prstGeom>
          <a:solidFill>
            <a:srgbClr val="1D810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8028432" y="3456432"/>
            <a:ext cx="30723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Orchestration</a:t>
            </a:r>
            <a:endParaRPr lang="en-US" sz="1300" dirty="0"/>
          </a:p>
          <a:p>
            <a:pPr marL="0" indent="0" algn="ctr">
              <a:spcBef>
                <a:spcPts val="8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DAG + 4 Multi-Agent + Routing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1248" y="4846320"/>
            <a:ext cx="10515600" cy="502920"/>
          </a:xfrm>
          <a:prstGeom prst="rect">
            <a:avLst/>
          </a:prstGeom>
          <a:solidFill>
            <a:srgbClr val="D1321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841248" y="4846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核心指标：task completion &gt;90% · avg loop &lt;15 · drift &lt;2% · fallback &lt;5% · cost within budget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Mini-Lab 预告：max_iterations=3 观察终止 · 注入 drift 测检测 · 模拟 provider 故障看熔断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5224</Words>
  <Application>Microsoft Macintosh PowerPoint</Application>
  <PresentationFormat>Custom</PresentationFormat>
  <Paragraphs>758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PingFang SC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06 S5 Entropy Management</dc:title>
  <dc:subject>PptxGenJS Presentation</dc:subject>
  <dc:creator>Harness Engineering</dc:creator>
  <cp:lastModifiedBy>Qin, Chenguang</cp:lastModifiedBy>
  <cp:revision>2</cp:revision>
  <dcterms:created xsi:type="dcterms:W3CDTF">2026-06-03T12:26:05Z</dcterms:created>
  <dcterms:modified xsi:type="dcterms:W3CDTF">2026-06-05T16:36:13Z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2026-06-05T16:36:13Z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c5f349f9-30d3-4a0e-8dea-aaf51f0c4d80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