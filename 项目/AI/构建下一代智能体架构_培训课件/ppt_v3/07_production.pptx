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问一个问题：“你们做过的 Agent demo，有多少最终上了生产？” 停顿 3 秒。业界数据是不到 20%。80% 的 Agent 项目死在了“最后一公里”——不是模型不够好，不是 prompt 写得差，而是缺少生产级的工程保障。接下来 40 分钟，我们讲五个关键维度：配置管理、金丝雀发布、成本优化、性能工程、部署拓扑。这些是让 Agent 系统从“能用”到“可运营”的必修课。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第一个维度：配置管理。很多团队的配置散落在代码各处——这里一个常量，那里一个环境变量，还有些硬编码在 prompt 里。问学员：“你能在不改代码、不重新部署的情况下，把模型从 Sonnet 切到 Haiku 吗？” 如果答案是“不能”，说明配置管理有问题。三层架构的价值：开发时有安全默认值（L0），标准部署用 YAML（L1），不同环境用 env（L2），紧急时运行时热切（L3）。If it's not in Git, it doesn't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一个常见 anti-pattern：把所有东西都做成可配置的。这会导致 configuration hell——排列组合爆炸，测试覆盖不了。Safety constraints 尤其不能配置化——你不会让运维人员通过改一个 YAML 就关掉安全限制。Prompt versioning 是经常被忽视的点：很多团队的 prompt 就是代码里一个字符串，改了都不知道谁改的。把它当代码管理，PR review，版本号，changelog，全套。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 startup 觉得“我们用户少，不需要灰度发布”。但 Agent 系统不一样。传统软件的 bug 是“按钮颜色错了”，Agent 系统的 bug 是“删了用户的代码仓库”。内部 dogfood 3 天这个要求是硬性的。为什么从 1% 开始而不是 5%？因为如果出问题，1% 的爆炸半径是可控的。每个阶段都必须有明确的“通过条件”——不是“感觉可以了就推进”，而是指标说了算。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自动回滚是整个 canary 策略的安全网。这些阈值必须在上线前就定义好，写入代码而不是靠人记住。问学员：“如果你的 Agent 系统突然成本翻倍了，你能在多少时间内发现并回滚？” 如果答案是“等到月底看账单”——那就太晚了。Feature flag 的三种类型各有场景：Boolean 适合紧急下线，Percentage 适合新功能灰度，Dimension 适合给特定客户群优先体验。初期不需要 LaunchDarkly——一个 JSON 文件 + API endpoint 就够了。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这是最让工程经理兴奋的一页。先问学员：“你们现在每月的 LLM API 费用是多少？” 然后告诉他们可能砍掉 60-80%——不是换便宜模型，而是纯工程优化。Prompt Caching 是最容易实现的，Anthropic 原生支持，只要你保证 system prompt 的 prefix 一致就能命中缓存。Smart Model Routing 是收益最大的——95% 的任务 Haiku 就能搞定。Result Truncation 最容易被忽视——git log 输出 10000 行塞进 context，既贵又没用。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很多团队上线后才发现“某个用户一天花了 $500” 或者“某个功能的成本是预期的 10 倍”。成本监控不是上线后才加的——Day 1 就应该有。成本归因特别重要：如果你不知道钱花在哪里，就无法做定向优化。Hard stop 机制是最后的安全网——宁可暂时拒绝服务，也不要让成本无限膨胀。我见过一个真实案例：Agent 陷入死循环，一个晚上烧了 $3000，第二天早上才发现。有 hard stop 就不会发生。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TTFT &lt; 1s 是生死线。超过 1 秒，用户会点取消或重试——然后你花了双倍 token。Streaming 不是“nice to have”——在 Agent 场景下是强制要求。可以做个简单演示：在终端里，一个命令等 5 秒后输出全部，另一个立即开始逐字输出。让学员体感差异——总时间可能一样，但体验天壤之别。Tool concurrency 很多框架没利用好：Agent 要读 5 个文件，没有依赖关系，为什么要等上一个读完才开始下一个？并发一下，5 秒变 1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按优先级排序很重要——很多团队一上来就搞复杂的 cache warmup，streaming 都没做好。建议学员按 P0→P4 顺序逐步实施。P0 几乎零成本：API 加个 stream:true，前端改成渐进渲染。P1 需要注意一个陷阱：如果两个工具操作同一个文件，并发会导致竞争条件，所以需要依赖分析——读读可以并发，读写不行，写写更不行。P2 的 prompt caching 有个前提：你的 system prompt 前缀必须稳定一致。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不要过早优化！问学员预期用户量——90% 的团队 Tier 1 就够了。最常见的错误是“我们将来可能有百万用户”然后一开始就搞多区域部署，结果两年了还是 50 个内部用户。从 Tier 1 开始有个巨大好处：简单、快速迭代、状态全在一个地方好调试。当你真的需要 Tier 2 时再升级——前提是做好状态外部化。关键是这个升级路径要在设计时就想好：不要把状态耦合在进程内存里，那样升级时就是重写。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这是本模块的收束，也是整个课程“工程化”理念的集中体现。把这个 checklist 做成团队可以直接使用的模板——学员回去后可以立即对着表格审视自己的系统。强调 7/7 是理想状态，现实中很多团队是 3/7 就上了线，然后在生产中补课——代价是事故、是用户流失、是凌晨 3 点的告警电话。最后一句话总结整个模块：Production engineering 不是上线后才做的事，而是设计时就应该内建的能力。就像飞机的安全检查清单——不是飞机起飞后才看的，是起飞前必须过的。接下来进入 Capstone Lab。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02920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PRODUCTION ENGINEERING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生产工程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Demo 到 Production 的最后一公里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9A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“80% 的 Agent 项目死在了‘最后一公里’ — 不是模型不好，是缺生产工程。”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3794760"/>
            <a:ext cx="5669280" cy="0"/>
          </a:xfrm>
          <a:prstGeom prst="line">
            <a:avLst/>
          </a:prstGeom>
          <a:noFill/>
          <a:ln w="12700">
            <a:solidFill>
              <a:srgbClr val="4752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97764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Configuration · Canary · Cost · Performance · Topology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S1-S5 已构建完成 — 现在让它们“上路”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横切工程层：让 Agent 系统从“能用”到“可运营”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0" y="6126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 min  ·  11 slides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CONFIGURATION · THREE-LAYER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三层配置架构 — Defaults → YAML → Env → Runtime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07 · Production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11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91840"/>
                <a:gridCol w="256032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层级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来源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变更方式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生效速度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F6B7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L0 · Hardcoded Defaults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代码中的安全兜底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改代码 + 部署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分钟级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6EB4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L1 · Global YAML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config/agent.yaml in Git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 + merge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分钟级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L2 · Environment Variables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.env / K8s ConfigMap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重启 / 滚动更新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秒级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L3 · Runtime Parameters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API / Feature Flag / CLI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即时生效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毫秒级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3840480"/>
            <a:ext cx="5120640" cy="5029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38404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合并规则：L3 &gt; L2 &gt; L1 &gt; L0（CSS specificity）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6208" y="3840480"/>
            <a:ext cx="5120640" cy="50292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2" name="Text 9"/>
          <p:cNvSpPr/>
          <p:nvPr/>
        </p:nvSpPr>
        <p:spPr>
          <a:xfrm>
            <a:off x="6236208" y="38404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黄金法则：All config in Git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" y="4526280"/>
            <a:ext cx="10515600" cy="1325880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14" name="Text 11"/>
          <p:cNvSpPr/>
          <p:nvPr/>
        </p:nvSpPr>
        <p:spPr>
          <a:xfrm>
            <a:off x="1024128" y="4636008"/>
            <a:ext cx="1014984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config/agent.yaml (L1)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model: claude-sonnet-4-20250514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timeout_seconds: 30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max_tokens: 4096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tool_concurrency: 5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budget: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per_task_usd: 0.50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daily_cap_usd: 100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CONFIGURATION · 边界划分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可配置 vs. 不可配置 — 划清边界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07 · Production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120640" cy="50292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应该可配置（运维需要灵活性）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5120640" cy="219456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12848"/>
            <a:ext cx="48463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Provider / Model selection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Timeout 阈值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Token budgets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Tool policies (allow/deny/ask)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Logging level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Retry 策略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Feature flags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6208" y="1600200"/>
            <a:ext cx="5120640" cy="5029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不应该可配置（稳定性 &amp; 安全）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2103120"/>
            <a:ext cx="5120640" cy="219456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212848"/>
            <a:ext cx="48463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Safety constraints（安全约束）</a:t>
            </a:r>
            <a:endParaRPr lang="en-US" sz="1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Audit logging（合规要求）</a:t>
            </a:r>
            <a:endParaRPr lang="en-US" sz="1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Core permission model</a:t>
            </a:r>
            <a:endParaRPr lang="en-US" sz="1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Encryption settings</a:t>
            </a:r>
            <a:endParaRPr lang="en-US" sz="1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Business logic branching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" y="4434840"/>
            <a:ext cx="10515600" cy="1371600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" y="4544568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---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id: system-prompt-coding-agent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version: 2.3.1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author: engineering-team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updated: 2026-05-20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changelog: "添加 safety: 禁止修改 /etc 目录"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---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You are a coding assistant...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CANARY ROLLOUT · FIVE STAGES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金丝雀发布 — 五阶段渐进式上线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07 · Production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1188720" cy="411480"/>
          </a:xfrm>
          <a:prstGeom prst="rect">
            <a:avLst/>
          </a:prstGeom>
          <a:solidFill>
            <a:srgbClr val="5F6B7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600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Stage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1600200"/>
            <a:ext cx="2377440" cy="4114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Internal Dogfood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1600200"/>
            <a:ext cx="1828800" cy="4114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6002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团队内部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1554480" cy="41148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600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≥ 3 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01000" y="1600200"/>
            <a:ext cx="3337560" cy="41148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 P0/P1 bug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2103120"/>
            <a:ext cx="1188720" cy="41148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21031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Stage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03120" y="2103120"/>
            <a:ext cx="2377440" cy="4114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21" name="Text 19"/>
          <p:cNvSpPr/>
          <p:nvPr/>
        </p:nvSpPr>
        <p:spPr>
          <a:xfrm>
            <a:off x="2194560" y="2103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1% Users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2103120"/>
            <a:ext cx="1828800" cy="4114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21031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极小流量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2103120"/>
            <a:ext cx="1554480" cy="41148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≥ 4 天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01000" y="2103120"/>
            <a:ext cx="3337560" cy="41148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2103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错误率无显著上升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1248" y="2606040"/>
            <a:ext cx="1188720" cy="4114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26060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Stage 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03120" y="2606040"/>
            <a:ext cx="2377440" cy="4114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31" name="Text 29"/>
          <p:cNvSpPr/>
          <p:nvPr/>
        </p:nvSpPr>
        <p:spPr>
          <a:xfrm>
            <a:off x="2194560" y="2606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10% Users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26280" y="2606040"/>
            <a:ext cx="1828800" cy="4114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2606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A/B 对比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0" y="2606040"/>
            <a:ext cx="1554480" cy="41148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2606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3-5 天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01000" y="2606040"/>
            <a:ext cx="3337560" cy="41148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37" name="Text 35"/>
          <p:cNvSpPr/>
          <p:nvPr/>
        </p:nvSpPr>
        <p:spPr>
          <a:xfrm>
            <a:off x="8092440" y="2606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统计显著性 &gt; 95%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41248" y="3108960"/>
            <a:ext cx="1188720" cy="411480"/>
          </a:xfrm>
          <a:prstGeom prst="rect">
            <a:avLst/>
          </a:prstGeom>
          <a:solidFill>
            <a:srgbClr val="C0631A"/>
          </a:solidFill>
          <a:ln/>
        </p:spPr>
      </p:sp>
      <p:sp>
        <p:nvSpPr>
          <p:cNvPr id="39" name="Text 37"/>
          <p:cNvSpPr/>
          <p:nvPr/>
        </p:nvSpPr>
        <p:spPr>
          <a:xfrm>
            <a:off x="841248" y="31089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Stage 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03120" y="3108960"/>
            <a:ext cx="2377440" cy="4114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41" name="Text 39"/>
          <p:cNvSpPr/>
          <p:nvPr/>
        </p:nvSpPr>
        <p:spPr>
          <a:xfrm>
            <a:off x="219456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50% Users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26280" y="3108960"/>
            <a:ext cx="1828800" cy="4114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43" name="Text 41"/>
          <p:cNvSpPr/>
          <p:nvPr/>
        </p:nvSpPr>
        <p:spPr>
          <a:xfrm>
            <a:off x="4617720" y="31089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 Eval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0" y="3108960"/>
            <a:ext cx="1554480" cy="41148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3108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3-5 天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001000" y="3108960"/>
            <a:ext cx="3337560" cy="41148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47" name="Text 45"/>
          <p:cNvSpPr/>
          <p:nvPr/>
        </p:nvSpPr>
        <p:spPr>
          <a:xfrm>
            <a:off x="8092440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全量级评估通过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41248" y="3611880"/>
            <a:ext cx="1188720" cy="41148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" y="36118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Stage 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103120" y="3611880"/>
            <a:ext cx="2377440" cy="4114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51" name="Text 49"/>
          <p:cNvSpPr/>
          <p:nvPr/>
        </p:nvSpPr>
        <p:spPr>
          <a:xfrm>
            <a:off x="2194560" y="3611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100% Users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26280" y="3611880"/>
            <a:ext cx="1828800" cy="4114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53" name="Text 51"/>
          <p:cNvSpPr/>
          <p:nvPr/>
        </p:nvSpPr>
        <p:spPr>
          <a:xfrm>
            <a:off x="4617720" y="36118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全量发布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400800" y="3611880"/>
            <a:ext cx="1554480" cy="41148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55" name="Text 53"/>
          <p:cNvSpPr/>
          <p:nvPr/>
        </p:nvSpPr>
        <p:spPr>
          <a:xfrm>
            <a:off x="6446520" y="3611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 7 天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001000" y="3611880"/>
            <a:ext cx="3337560" cy="41148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57" name="Text 55"/>
          <p:cNvSpPr/>
          <p:nvPr/>
        </p:nvSpPr>
        <p:spPr>
          <a:xfrm>
            <a:off x="809244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持续监控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41248" y="4297680"/>
            <a:ext cx="10515600" cy="7772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59" name="Text 57"/>
          <p:cNvSpPr/>
          <p:nvPr/>
        </p:nvSpPr>
        <p:spPr>
          <a:xfrm>
            <a:off x="1024128" y="44348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核心洞察：Deployment ≠ Release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Deploy daily（代码每天部署）  ·  Release when metrics are green（feature flag 控制曝光）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841248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系统的 bug 是“删了用户代码”，不是“按钮颜色错了” — 渐进发布尤其重要。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CANARY · AUTO-ROLLBACK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自动回滚阈值 + Feature Flag 三种类型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07 · Production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11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5852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2860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指标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阈值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检测窗口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Success Rate 下降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&gt; 5 percentage points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 min sliding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P99 Latency 增加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&gt; 30%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 min sliding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Cost per Task 增加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&gt; 20%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 hour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新增 CRITICAL 错误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≥ 1 occurrence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即时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04088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Feature Flag 三种类型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040880" y="1965960"/>
            <a:ext cx="4297680" cy="5029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1" name="Text 8"/>
          <p:cNvSpPr/>
          <p:nvPr/>
        </p:nvSpPr>
        <p:spPr>
          <a:xfrm>
            <a:off x="7178040" y="19659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Boolean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开/关二元 · Kill switch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040880" y="2532888"/>
            <a:ext cx="4297680" cy="5029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0"/>
          <p:cNvSpPr/>
          <p:nvPr/>
        </p:nvSpPr>
        <p:spPr>
          <a:xfrm>
            <a:off x="7178040" y="253288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Percentage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渐进放量 · 灰度发布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040880" y="3099816"/>
            <a:ext cx="4297680" cy="50292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5" name="Text 12"/>
          <p:cNvSpPr/>
          <p:nvPr/>
        </p:nvSpPr>
        <p:spPr>
          <a:xfrm>
            <a:off x="7178040" y="309981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Dimension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按维度 · 用户/地域/Plan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41248" y="4023360"/>
            <a:ext cx="10515600" cy="1371600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17" name="Text 14"/>
          <p:cNvSpPr/>
          <p:nvPr/>
        </p:nvSpPr>
        <p:spPr>
          <a:xfrm>
            <a:off x="1024128" y="4133088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Feature Flag 示例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new_prompt_v3: false                  # Boolean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smart_routing: 10%                    # Percentage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multi_tool: plan=enterprise AND       # Dimension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region=us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41248" y="5532120"/>
            <a:ext cx="10515600" cy="36576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48" y="5532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回滚不是失败，是系统在正常工作的证明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COST · SIX HIGH-ROI LEVERS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成本优化 — 六把高 ROI 扳手 → 60-80% 成本降幅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07 · Production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11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4754880"/>
                <a:gridCol w="128016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#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杠杆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机制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节省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难度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Prompt Caching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system prompt + prefix 命中缓存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50-90%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★☆☆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Schema Caching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tool definition 序列化一次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10-20%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★☆☆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6EB4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Smart Model Routing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简单→Haiku, 复杂→Sonnet, 极难→Opus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40-60%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★★☆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63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Result Truncation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工具输出截断到关键信息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20-40%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★☆☆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Token Hard Limits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per-task / per-session 上限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防溢出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★☆☆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4A6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History Compression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旧轮次压缩为摘要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30-50%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★★☆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572000"/>
            <a:ext cx="5120640" cy="123444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46634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综合效果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60-80%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总成本降幅 · 不需换模型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36208" y="4572000"/>
            <a:ext cx="5120640" cy="12344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47091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核心理念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花钱花在刀刃上 — 让每个 token 都承载高价值信息</a:t>
            </a:r>
            <a:pPr indent="0" marL="0">
              <a:spcBef>
                <a:spcPts val="800"/>
              </a:spcBef>
              <a:buNone/>
            </a:pPr>
            <a:r>
              <a:rPr lang="en-US" sz="1100" i="1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起步顺序：1 → 4 → 5 → 2 → 3 → 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COST · MONITORING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成本监控 — 你不能优化你看不见的东西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07 · Production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074920" cy="114300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1600200"/>
            <a:ext cx="128016" cy="114300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1709928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📈 Daily Cost Trend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折线图 + 预算线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81928" y="1600200"/>
            <a:ext cx="5074920" cy="114300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2" name="Shape 10"/>
          <p:cNvSpPr/>
          <p:nvPr/>
        </p:nvSpPr>
        <p:spPr>
          <a:xfrm>
            <a:off x="6281928" y="1600200"/>
            <a:ext cx="128016" cy="1143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1709928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🥧 Cost by Task Type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饼图：code/search/debug/other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" y="2880360"/>
            <a:ext cx="5074920" cy="114300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2880360"/>
            <a:ext cx="128016" cy="114300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6" name="Text 14"/>
          <p:cNvSpPr/>
          <p:nvPr/>
        </p:nvSpPr>
        <p:spPr>
          <a:xfrm>
            <a:off x="1069848" y="2990088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📊 Cost by Model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柱状图：Haiku/Sonnet/Opus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81928" y="2880360"/>
            <a:ext cx="5074920" cy="114300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8" name="Shape 16"/>
          <p:cNvSpPr/>
          <p:nvPr/>
        </p:nvSpPr>
        <p:spPr>
          <a:xfrm>
            <a:off x="6281928" y="2880360"/>
            <a:ext cx="128016" cy="114300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2990088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🚨 Anomaly Alerts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异常任务 / 异常用户列表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1248" y="4251960"/>
            <a:ext cx="10515600" cy="15544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" y="438912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告警规则（逐级升级）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单任务 &gt; P95 历史值 → INFO（记录，不打扰）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日成本达预算 80% → WARNING（通知负责人）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日成本达预算 100% → CRITICAL + Hard Stop（暂停服务 + 告警）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单用户日消耗 &gt; 阈值 → Throttle（限流该用户）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PERFORMANCE · CORE TARGETS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性能指标 — 用户能感知的才是真指标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07 · Production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074920" cy="114300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TTFT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1s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超过 1s 用户感到“卡”，触发重试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81928" y="1600200"/>
            <a:ext cx="5074920" cy="1143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916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P99 Task Completion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30s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交互式任务的耐心极限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" y="2880360"/>
            <a:ext cx="5074920" cy="114300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718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Concurrency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并发执行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3-5x speedup vs. 串行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81928" y="2880360"/>
            <a:ext cx="5074920" cy="114300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9718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Streaming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响应 &gt; 2s 必启用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感知延迟降低 50%+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" y="4251960"/>
            <a:ext cx="10515600" cy="7315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" y="4370832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Perceived latency &gt; Actual latency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Streaming 让用户“看到进度” → 心理等待时间缩短一半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1248" y="5120640"/>
            <a:ext cx="10515600" cy="73152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5239512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Streaming 是强制要求，不是可选优化</a:t>
            </a:r>
            <a:endParaRPr lang="en-US" sz="13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任何响应可能 &gt; 2s 必须 streaming · SSE / WebSocket · 用户需看到 Agent“在思考”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PERFORMANCE · OPTIMIZATION LEVERS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性能优化五板斧（按优先级排序）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07 · Production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11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329184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优先级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手段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效果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实施成本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P0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Streaming Response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感知延迟 -50%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极低（API 原生）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6EB4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P1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Tool Concurrency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多工具延迟 3-5x ↓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低（依赖分析）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Prompt Caching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TTFT -40%, cost -90%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低（prefix 一致）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63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P3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Smart Model Routing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简单任务延迟 -60%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中（需 classifier）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P4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Async Cache Warmup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下一步 TTFT → 0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高（需预测）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160520"/>
            <a:ext cx="10515600" cy="16459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0" name="Text 7"/>
          <p:cNvSpPr/>
          <p:nvPr/>
        </p:nvSpPr>
        <p:spPr>
          <a:xfrm>
            <a:off x="1024128" y="4297680"/>
            <a:ext cx="10149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实施建议：先 P0 → P4 顺序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 几乎零成本：API 加 stream:true，前端改渐进渲染</a:t>
            </a:r>
            <a:endParaRPr lang="en-US" sz="14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 注意陷阱：操作同一资源的工具不能并发（竞争条件）→ 需依赖分析</a:t>
            </a:r>
            <a:endParaRPr lang="en-US" sz="14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 前提：system prompt prefix 必须稳定一致，动态内容放后面</a:t>
            </a:r>
            <a:endParaRPr lang="en-US" sz="14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P3 收益最大：Haiku ~200ms vs Opus ~2s · 95% 任务不需要最强模型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DEPLOYMENT TOPOLOGY · THREE TIERS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部署拓扑 — 从单机到多区域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07 · Production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11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3017520"/>
                <a:gridCol w="1645920"/>
                <a:gridCol w="33832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Tier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用户规模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状态存储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扩展方式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适用场景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Tier 1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&lt; 100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SQLite + 文件系统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垂直扩展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内部工具 / MVP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Tier 2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100-10K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Redis + PostgreSQL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水平扩展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B2B SaaS / 中型产品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Tier 3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10K+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多区域独立集群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区域扩展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全球化产品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3520440"/>
            <a:ext cx="5120640" cy="137160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6576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必须外部化（Tier 2+）</a:t>
            </a:r>
            <a:endParaRPr lang="en-US" sz="125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Session state · Memory</a:t>
            </a:r>
            <a:endParaRPr lang="en-US" sz="125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Task state · Audit logs</a:t>
            </a:r>
            <a:endParaRPr lang="en-US" sz="125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Configuration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36208" y="3520440"/>
            <a:ext cx="5120640" cy="137160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36576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可保持本地</a:t>
            </a:r>
            <a:endParaRPr lang="en-US" sz="125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Schema cache</a:t>
            </a:r>
            <a:endParaRPr lang="en-US" sz="125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Working memory</a:t>
            </a:r>
            <a:endParaRPr lang="en-US" sz="125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Temp files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41248" y="5074920"/>
            <a:ext cx="10515600" cy="7315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4" name="Text 11"/>
          <p:cNvSpPr/>
          <p:nvPr/>
        </p:nvSpPr>
        <p:spPr>
          <a:xfrm>
            <a:off x="1024128" y="51663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黄金测试：“如果这个实例突然崩溃，用户会丢失什么？” → 那些需要外部化</a:t>
            </a:r>
            <a:endParaRPr lang="en-US" sz="12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i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升级信号：1→2 单实例 &gt; 70% 或需高可用 · 2→3 跨地域延迟或合规要求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PRODUCTION READINESS CHECKLIST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生产就绪清单 — 7 大类 · 上线前最后检查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07 · Production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25880" y="1600200"/>
            <a:ext cx="1463040" cy="3657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Config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80360" y="1600200"/>
            <a:ext cx="4114800" cy="3657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配置版本化？能否不改代码切模型？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86600" y="1600200"/>
            <a:ext cx="4251960" cy="36576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 + PR 审核 + 热切换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1248" y="2011680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5880" y="2011680"/>
            <a:ext cx="1463040" cy="3657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Canary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80360" y="2011680"/>
            <a:ext cx="4114800" cy="3657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21" name="Text 19"/>
          <p:cNvSpPr/>
          <p:nvPr/>
        </p:nvSpPr>
        <p:spPr>
          <a:xfrm>
            <a:off x="2971800" y="20116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回滚条件预定义？自动还是手动？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86600" y="2011680"/>
            <a:ext cx="4251960" cy="36576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自动回滚阈值已配置并测试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41248" y="2423160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325880" y="2423160"/>
            <a:ext cx="1463040" cy="3657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7" name="Text 25"/>
          <p:cNvSpPr/>
          <p:nvPr/>
        </p:nvSpPr>
        <p:spPr>
          <a:xfrm>
            <a:off x="1417320" y="2423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80360" y="2423160"/>
            <a:ext cx="4114800" cy="3657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29" name="Text 27"/>
          <p:cNvSpPr/>
          <p:nvPr/>
        </p:nvSpPr>
        <p:spPr>
          <a:xfrm>
            <a:off x="2971800" y="24231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预算上限？异常可检测？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86600" y="2423160"/>
            <a:ext cx="4251960" cy="36576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31" name="Text 29"/>
          <p:cNvSpPr/>
          <p:nvPr/>
        </p:nvSpPr>
        <p:spPr>
          <a:xfrm>
            <a:off x="717804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Per-task cap + daily cap + 告警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41248" y="2834640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325880" y="2834640"/>
            <a:ext cx="1463040" cy="3657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5" name="Text 33"/>
          <p:cNvSpPr/>
          <p:nvPr/>
        </p:nvSpPr>
        <p:spPr>
          <a:xfrm>
            <a:off x="141732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80360" y="2834640"/>
            <a:ext cx="4114800" cy="3657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37" name="Text 35"/>
          <p:cNvSpPr/>
          <p:nvPr/>
        </p:nvSpPr>
        <p:spPr>
          <a:xfrm>
            <a:off x="2971800" y="2834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TTFT &lt; 1s？Streaming 已实现？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086600" y="2834640"/>
            <a:ext cx="4251960" cy="36576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39" name="Text 37"/>
          <p:cNvSpPr/>
          <p:nvPr/>
        </p:nvSpPr>
        <p:spPr>
          <a:xfrm>
            <a:off x="717804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P95 TTFT &lt; 1s + 全链路 streaming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41248" y="3246120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325880" y="3246120"/>
            <a:ext cx="1463040" cy="3657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43" name="Text 41"/>
          <p:cNvSpPr/>
          <p:nvPr/>
        </p:nvSpPr>
        <p:spPr>
          <a:xfrm>
            <a:off x="1417320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880360" y="3246120"/>
            <a:ext cx="4114800" cy="3657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45" name="Text 43"/>
          <p:cNvSpPr/>
          <p:nvPr/>
        </p:nvSpPr>
        <p:spPr>
          <a:xfrm>
            <a:off x="2971800" y="32461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核心指标可见？告警配置？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086600" y="3246120"/>
            <a:ext cx="4251960" cy="36576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47" name="Text 45"/>
          <p:cNvSpPr/>
          <p:nvPr/>
        </p:nvSpPr>
        <p:spPr>
          <a:xfrm>
            <a:off x="717804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Dashboard + 4 级告警规则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1248" y="3657600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325880" y="3657600"/>
            <a:ext cx="1463040" cy="3657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51" name="Text 49"/>
          <p:cNvSpPr/>
          <p:nvPr/>
        </p:nvSpPr>
        <p:spPr>
          <a:xfrm>
            <a:off x="141732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Security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880360" y="3657600"/>
            <a:ext cx="4114800" cy="3657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53" name="Text 51"/>
          <p:cNvSpPr/>
          <p:nvPr/>
        </p:nvSpPr>
        <p:spPr>
          <a:xfrm>
            <a:off x="2971800" y="36576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Sandbox 配置？权限最小化？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086600" y="3657600"/>
            <a:ext cx="4251960" cy="36576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55" name="Text 53"/>
          <p:cNvSpPr/>
          <p:nvPr/>
        </p:nvSpPr>
        <p:spPr>
          <a:xfrm>
            <a:off x="7178040" y="3657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policy + audit log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41248" y="4069080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7" name="Text 55"/>
          <p:cNvSpPr/>
          <p:nvPr/>
        </p:nvSpPr>
        <p:spPr>
          <a:xfrm>
            <a:off x="841248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325880" y="4069080"/>
            <a:ext cx="1463040" cy="3657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59" name="Text 57"/>
          <p:cNvSpPr/>
          <p:nvPr/>
        </p:nvSpPr>
        <p:spPr>
          <a:xfrm>
            <a:off x="1417320" y="4069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880360" y="4069080"/>
            <a:ext cx="4114800" cy="3657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61" name="Text 59"/>
          <p:cNvSpPr/>
          <p:nvPr/>
        </p:nvSpPr>
        <p:spPr>
          <a:xfrm>
            <a:off x="2971800" y="40690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Baseline 建立？回归检测？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086600" y="4069080"/>
            <a:ext cx="4251960" cy="36576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63" name="Text 61"/>
          <p:cNvSpPr/>
          <p:nvPr/>
        </p:nvSpPr>
        <p:spPr>
          <a:xfrm>
            <a:off x="717804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评估集 + 基线分数 + CI 集成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41248" y="4572000"/>
            <a:ext cx="3291840" cy="54864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65" name="Text 63"/>
          <p:cNvSpPr/>
          <p:nvPr/>
        </p:nvSpPr>
        <p:spPr>
          <a:xfrm>
            <a:off x="978408" y="4572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🟢 7/7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 — 全量上线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4379976" y="4572000"/>
            <a:ext cx="3291840" cy="548640"/>
          </a:xfrm>
          <a:prstGeom prst="rect">
            <a:avLst/>
          </a:prstGeom>
          <a:solidFill>
            <a:srgbClr val="E0A000"/>
          </a:solidFill>
          <a:ln/>
        </p:spPr>
      </p:sp>
      <p:sp>
        <p:nvSpPr>
          <p:cNvPr id="67" name="Text 65"/>
          <p:cNvSpPr/>
          <p:nvPr/>
        </p:nvSpPr>
        <p:spPr>
          <a:xfrm>
            <a:off x="4517136" y="4572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🟡 5-6/7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Conditional Go — 限流 + 限期修复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7918704" y="4572000"/>
            <a:ext cx="3291840" cy="54864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69" name="Text 67"/>
          <p:cNvSpPr/>
          <p:nvPr/>
        </p:nvSpPr>
        <p:spPr>
          <a:xfrm>
            <a:off x="8055864" y="4572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🔴 &lt; 5/7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 Go — 回去补课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841248" y="5257800"/>
            <a:ext cx="10515600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1" name="Text 69"/>
          <p:cNvSpPr/>
          <p:nvPr/>
        </p:nvSpPr>
        <p:spPr>
          <a:xfrm>
            <a:off x="841248" y="5257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“Production readiness is not a milestone — it's a muscle.”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— 07 Production Engineering</dc:title>
  <dc:subject>PptxGenJS Presentation</dc:subject>
  <dc:creator>Harness Engineering</dc:creator>
  <cp:lastModifiedBy>Harness Engineering</cp:lastModifiedBy>
  <cp:revision>1</cp:revision>
  <dcterms:created xsi:type="dcterms:W3CDTF">2026-06-03T12:31:29Z</dcterms:created>
  <dcterms:modified xsi:type="dcterms:W3CDTF">2026-06-03T12:31:29Z</dcterms:modified>
</cp:coreProperties>
</file>