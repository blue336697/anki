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开场直接点题：上一个模块我们解决了“Agent 看到什么”的问题，这个模块我们解决“Agent 能做什么”的问题。LLM 再聪明，如果没有工具，它只能输出文字。工具系统赋予 Agent 改变世界的能力 — 但能力越大，治理需求越大。接下来 80 分钟，我们完整拆解一个生产级工具治理系统的设计。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先建立认知冲突。问在座各位：你们写过多少年的 API 调用代码？那些调用在编译时就确定了目标、参数、顺序。现在想象一下，调用什么工具、传什么参数、以什么顺序执行，全部由一个概率模型在运行时决定。这不是小变化 — 这是软件工程基础假设的颠覆。传统软件工程花了 50 年建立确定性（类型系统、静态分析、形式化验证），Agent 在一夜之间把不确定性重新注入了系统核心。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每个场景停顿 10 秒让大家消化。这些听起来极端吗？实际上在早期 Agent 部署中，类似事故每周都在发生。场景 1 导致了 Claude Code 的 permission system；场景 2 推动了 timeout 机制成为标配；场景 3 让 strict validation 成为默认；场景 4 催生了 tool hallucination detection。工程系统的每一道防线，背后都是真实的事故教训。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 POSIX 对操作系统做的事情 — “everything is a file descriptor”。不管是磁盘文件、网络 socket、还是管道，对进程来说都是 fd。我们需要同样的抽象：“everything is a Tool”。不管底层是 bash 命令、远程 API、还是另一个 Agent，对 LLM 来说都是同一个接口：给 name + input，得到 ToolResult。这个抽象是整个工具治理系统的地基。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 description。我展示一个真实数据：在某个 harness 的 A/B 测试中，把 file_read 工具的 description 从 “Read a file” 改成 “Read the contents of a file at the given path. Use this instead of bash cat for reading files — it's faster and handles encoding correctly.” 之后，LLM 正确选择 file_read 而非 bash cat 的比例从 65% 提升到 92%。这不是文档，这是控制 LLM 行为的杠杆。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类工具是最强大也最危险的。Claude Code 允许 bash 是一个大胆的设计决策 — 因为禁用 bash 意味着 Agent 连 git status 都做不了。但代价是什么？每次 bash 调用都需要用户按一下 “Allow”（除非用户配置了 allowlist）。这是 security vs usability 的典型张力。后续 S3 会详细讨论如何通过 policy 配置来平衡这个 trade-off。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这是本模块的核心骨架。接下来几张 slides 我们逐步拆解每一步的细节。先记住整体结构：6 步串行，任何一步失败都走 error path，绝不 crash 整个 Agent。这个设计保证了 resilience — 工具系统可以出错，但 Agent 会话永远不会因为一次工具调用失败而终止。每一步的存在都有明确的理由：防止一种具体的灾难场景。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实现简单但至关重要 — 严格的 name match 是第一道防线。如果 LLM hallucinate 了一个不存在的工具名，这里就直接拦住了，而不是让它滑到后续步骤。Step 2 是用户体验的关键触点 — Claude Code 用户最常见的交互就是权限弹窗 “Allow Bash: git commit -m ...”。如何在安全和流畅之间取得平衡，是 harness 设计者最重要的判断。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回到开场的灾难场景 3：幻觉参数 “upsert” 导致数据损坏。如果有严格的 input validation + strict mode，那个不存在的参数值会被立即拦截，LLM 会收到明确的错误信息并在下一个 turn 自动修正。这一步的 ROI 极高 — 实现成本低（JSON Schema 验证库现成），效果显著（拦截 90%+ 的参数幻觉）。记住：validate BEFORE execute — 这是工具系统设计的黄金法则。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超时是最容易被忽视也最容易出事的机制。回想灾难场景 2：MCP server 变慢导致级联 hang。如果有 30s timeout，最坏情况就是一次工具调用失败返回 timeout error，Agent 可以选择重试或换一个方案。没有 timeout，整个 session 可能永远挂住，用户只能强制终止。并发执行是性能利器 — 当 LLM 同时请求读取 5 个文件时，串行需要 5 秒，并行只需 1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truncation 看起来简单，但设计时要考虑几个细节：截断点是否在有效 JSON 中间？截断后 LLM 能否理解结果？最佳实践是在语义边界截断（行尾、JSON 对象边界），而不是粗暴按字节切断一个 JSON array 导致 parse error。另外，cache 机制要注意失效策略 — file_read 的缓存在文件被修改后必须失效。这些“小细节”在生产环境中决定了用户体验的好坏。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记住三个数字：30s、1MB、is_error=true。这是工具治理的 safety net。在你自己设计 harness 时，这三个是第一天就必须实现的 — 不是 v2、不是 nice-to-have、不是 tech debt。没有这三个机制就上线，等同于开着没有刹车的车上高速。即使你的 permission system 还没做好、schema validation 还不完善，只要这三道防线在，Agent 至少不会把整个系统搞崩。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这个讨论环节有两个目的：一是检验学员是否真正理解了六步管线（不只是记住名字，而是能诊断缺失）；二是引出真实经验分享。给每个场景 1 分钟思考，然后邀请 2-3 人分享判断。场景 A 最有讨论价值——很多团队为了“先跑通”把危险工具设成 Free，上线后忘记收紧。场景 B 让大家意识到防线需要纵深——单一 step 失效时其他 step 能兜底。场景 C 引出后面幻觉检测的内容。整个讨论控制在 5 分钟以内。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这是教科书级别的工具治理设计。注意几个精妙之处：第一，description 中“When NOT to use”比“When to use”更重要——因为 LLM 的默认倾向是“如果能用就用 bash”（训练数据中 bash 出现频率极高），你需要明确告诉它“有更好的工具时不要用我”。第二，Deny 硬编码是最后一道防线——即使用户的 allowlist 配了 Bash(*)（allow all bash），fork bomb 和 rm -rf / 仍然被拦截。用户可以放松安全，但不能关闭安全。第三，truncation 保留 tail 而不只是 head——这个设计决策来自真实痛点：早期版本只保留 head，用户 run test 后看不到失败原因（在输出末尾）。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 Bash 和 Edit 的对比，我想传达一个设计原则：治理强度应该与工具能力成正比。Bash 能做任何事——所以它的治理是最重的：每次审批 + 硬编码 deny + 最长超时。Edit 只能改文件内容——所以它的治理是适度的：Free 但有前置条件（必须先读过、修改位置必须唯一、路径必须在项目内）。Read 几乎无副作用——所以治理最轻：Free + 极短超时。这不是“越安全越好”的设计——过度安全会杀死可用性。是“风险匹配”的设计。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这个话题在大多数 Agent 框架的文档中一笔带过，但在生产环境中它是 bug 的重灾区。你可能想：“不是有 native tool_use 格式吗？provider 已经帮我解析好了。”对，在理想路径上是的。但生产系统必须处理非理想路径：streaming 中途断开、provider 降级到 text-only 模式、或者你需要支持多家 LLM provider。Structured output parsing 是你的 harness 必须自己掌控的能力，不能完全外包给 provider。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四步看似简单，但每一步都是从大量生产 bug 中提炼出来的。Step 1 解决“JSON 藏在文本里”的问题 — LLM 喜欢用 markdown 包裹 JSON，或在 JSON 前加一段解释性文字。Step 2 解决“几乎是合法 JSON 但不完全是”的问题 — trailing comma 是最常见的，因为很多编程语言允许它但 JSON 标准不允许。Step 3 用标准库做 parse，不要自己写 JSON parser。Step 4 确保不仅格式合法，语义也合法。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parsing 是性能优化的关键。想想用户体验：如果你等 LLM 输出完整的 tool_use JSON 才开始处理，用户要多等 1-2 秒。但如果你在看到 tool name 的瞬间就开始准备执行环境（比如预先 spawn bash subprocess），等 params 完整后立即执行，用户感知到的延迟就少了几百毫秒。Error recovery 的 85% 首次修复率说明：LLM 看到明确的格式错误反馈后，绝大多数情况下能自我修正。但要设置 retry 上限 — 无限重试是反模式。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幻觉不是模型在“撒谎”——它是在做概率推测。当你的系统里有一个 run_query 工具，模型可能基于训练数据中见过的类似系统，推测出一个 execute_sql。这不是恶意的，但结果同样致命——如果我们不拦截，就会走到 pipeline 的 discovery 阶段报 “tool not found”，浪费一轮。更危险的是参数幻觉：模型可能传了一个 schema 里不存在的参数，但 JSON 格式是合法的——如果你只做 JSON parse 不做 schema validation，这个错误会悄悄传递下去。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这个防线实现成本极低——纯确定性的字符串比较和 schema 校验，没有任何 AI 参与。但 ROI 极高：60% 的幻觉工具调用在这里就被终结。关键工程决策是“纠正还是拒绝”。如果只是 typo（edit distance 1-2），自动纠正更好——省了一次完整的 LLM 重试循环。但如果 distance 很大，说明模型可能完全走错了方向，这时候应该拒绝并给出可用列表，让它重新思考。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幻觉防御是跨系统协作的典型案例。S1 保证格式（“这是合法的 JSON”），S2 保证结构语义（“这个 JSON 对 read_file 工具有意义”），S3 保证安全策略（“允许读这个路径吗？”），S4 在运行时做事实验证（“这个文件真的存在吗？”）。每一层捕获不同类型的错误。S2 的 L1 是成本最低、速度最快的一道——纯确定性计算，毫秒级完成。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四级模型的精髓在于“不是所有操作都同等危险”。读一个项目内的文件——几乎零风险，设成 Free 减少用户打扰。写文件——有风险但可控，Ask-first 让用户确认。npm install——第一次确认后 session 内无需重复，Approve-once。rm -rf——永远不应该自动执行，Deny。注意 Deny 不是“很难获批”，是“不可能获批”——即使用户说“我知道我在干什么”也不行。这是防止 social engineering 攻击的关键。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 和 S3 的关系类似于 Kubernetes 中 API Server 和 RBAC Policy 的关系。S2 是 enforcement point——它在 pipeline 中执行检查。但检查的规则从哪来？从 S3。为什么分开？因为策略和执行需要独立演进。你可以在不改 S2 代码的情况下通过配置文件调整策略（S3 的职责）。这种 separation of concerns 让系统更容易维护和审计。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权限系统不是技术问题——它是用户体验和安全性的 trade-off 决策。Claude Code 选择了“显式审批”，牺牲了一些流畅度换来了最高的可审计性——每个操作都有用户确认记录。Cursor 选择了“结果可视化”——你不需要理解命令是什么，只需要看 diff 合不合理。Windsurf 最激进——让你选全自动模式，但代价是你必须信任 sandbox 的隔离性。没有“最好”的设计，只有“最适合你场景”的设计。如果你在做一个面向金融行业的 Agent——显式审批+审计日志是监管要求。如果你在做开发者个人工具——YOLO 模式可能 perfectly fine。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这是学员回去之后立即能用的知识。如果你在用 Claude Code——打开你的 .claude/settings.json，把常用的安全命令加到 allow list 里，你的开发效率会立刻提升。但更重要的是如果你在设计自己的 harness，这个配置系统的设计决策：deny 优先于 allow——这是安全系统的基本原则。如果同一个命令同时匹配 allow 和 deny，deny 赢。因为误放行一个危险操作比误拦截一个安全操作严重得多。三级覆盖的设计让团队可以统一管理安全基线（项目级），同时允许个人定制（用户级），但个人永远不能绕过团队的 deny list。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是 2024 年 Agent 工具生态最重要的标准化事件。在它出现之前，如果你想让 Agent 连 Slack + GitHub + 数据库，你要为每个都写定制代码。现在你实现一个 MCP Client，就能接入 200+ 个现成的 Server。反过来，如果你是工具提供方，实现一个 MCP Server 就能被所有 Agent 框架使用。USB 的类比非常贴切：曾经每个外设一种接口（打印机口、PS/2、串口），USB 统一了一切。MCP 在做同样的事情。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 transport 的选择很简单。本地工具用 stdio——Agent 把 MCP server 作为子进程启动，通过 stdin/stdout 通信。零网络开销、延迟极低。远程工具用 HTTP——MCP server 作为独立服务运行，可以被多个 agent 共享。Capability negotiation 是个好设计——你不需要假设对方支持所有功能。如果 server 只提供 tools 不提供 resources，client 就不会尝试调 resources/list。避免了 runtime error。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我故意展示完整报文，因为很多人对 MCP 的理解停留在概念层。看到实际报文你会发现——它真的很简单。每条消息就是一个 JSON 对象，有 method、params、result。和你写过的 REST API 比，MCP 反而更简洁——没有 HTTP header、没有 status code、没有 content negotiation。JSON-RPC 的美在于极简。注意 Step 4 返回的 inputSchema——这就是你的 harness 拿去做 input validation 的依据。schema 从 server 来，validation 在 client 做。这种“schema 声明与校验分离”的设计让工具提供方和消费方可以独立演进。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缓存是一个经常被忽视的优化。每次 Agent loop 开始时如果都 tools/list，加上 tool schemas 可能有几十个工具、每个几百 token 的 description——光这个 RPC 就可能耗时几百毫秒。L1 内存缓存让 session 内的 schema 查询是 O(1)。L2 磁盘缓存让 session 间复用。L3 在多实例部署时避免每个实例冷启动。故障处理方面，注意每个 MCP server 有自己独立的 circuit breaker——一个 GitHub MCP 挂了不影响 Slack MCP 的使用。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条是最常被违反的。很多团队接入 MCP server 后给了默认 Free 权限——“先跑通再说安全”。但一个 GitHub MCP server 可以 push force、delete branch、merge without review。如果它的权限是 Free，任何一次模型幻觉都可能导致不可逆操作。正确做法是：MCP 工具接入时默认 Ask-first，逐个评估后降级到 Free 或升级到 Deny。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ACP 解决的问题和 MCP 互补。MCP 让 Agent 能调用工具，ACP 让编辑器能使用 Agent。类比：MCP 是 Agent 的“手”（操作外部世界），ACP 是 Agent 的“身体接口”（被宿主环境操控）。为什么这对我们重要？因为 Capstone Lab 中，你的 Gateway 就是一个 ACP Client——它通过 ACP 协议与 OpenCode Agent 通信，管理会话、接收流式更新、处理权限请求。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ACP 在 2025-2026 年的采用速度非常快——主要 IDE 和 主要 Agent 都已支持。对你的实际工作来说，如果你在做 Agent 产品，ACP 让你的 Agent 可以“即插即用”到任何支持 ACP 的编辑器中。在 Capstone Lab 中我们会直接用 ACP 协议把 Gateway 连到 OpenCode——你会亲手体验 permission request 如何从 Agent 发出、经过你的 Gateway 策略层、到达前端 UI。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工具选择智能容易被过度工程化。如果你只有 10 个工具——不需要 RAG、不需要分类器、不需要 embedding。简单的字符串匹配足够了。但如果你接入了 20 个 MCP server 总共 100+ 工具——这时候你需要要么分层加载（只给模型看相关子集），要么训练一个轻量分类器。最关键的一点：不管用什么选择策略，tool description 的质量是上限。description 写烂了，再好的算法也选不对。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S1 Context Budget 原则在 S2 的具体体现。工具 schema 是 context 的第二大消费者（仅次于 system prompt）。如果你有 100 个工具全量加载，光 schema 就占了 50K tokens——在 200K 的窗口里四分之一就没了。而大多数时候，一个任务只需要 5-10 个工具。所以要按需加载。Claude Code 的 shouldDefer 很优雅——工具自己决定“当前场景是否需要我”。不在 git repo 里？Git 工具自动隐藏。不在 Node 项目里？npm 工具自动隐藏。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 处在一个承上启下的核心位置。上游从 S1 接收经过结构化解析的 tool call；下游执行结果反馈给 S4 做监控和 S1 做下一轮 context。横向和 S3 配合做权限，和 S5 配合做预算控制。理解这些接口关系，你在设计系统时就知道模块间的 API 契约该怎么定义。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 S2 的全景。从 LLM 吐出一个 tool call 开始——先经过结构化解析确保格式正确，再经过幻觉检测确保内容有意义，最后进入六步执行管线完成实际操作。整个链路中每一环都有明确的拦截机制：格式错？解析修复。名字错？编辑距离纠正。参数错？Schema 拒绝。权限不够？Ask-first。执行超时？30s 保护。结果太大？1MB 截断。层层设防，确保只有合法、安全、有意义的操作才能真正执行。下一个 Mini-Lab 让你亲手体验这些机制。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· TOOL GOVERNANCE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工具治理系统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的手与脚 — 与物理世界交互的唯一通道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370332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931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 LLM 是大脑，Tool System 就是手脚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覆盖：工具抽象 · 执行流水线 · 权限模型 · 结构化输出解析 · MCP/ACP 协议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承接：S1 组装 context → LLM 产出 tool_use → S2 接管全部执行生命周期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 min  ·  36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传统调用 VS AGENT 调用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范式转变 — 从确定性到非确定性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36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26280"/>
                <a:gridCol w="4526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传统 API 调用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 工具调用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调用目标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编译时确定 (http.get("/api/users"))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运行时由 LLM 选择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开发者硬编码或用户输入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从自然语言推理生成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调用顺序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代码逻辑决定，可静态分析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基于中间结果的动态规划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可预测性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确定性 — 同输入同输出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非确定性 — 同 prompt 可能选不同工具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错误来源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bug（可复现）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幻觉（概率性、难复现）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治理方式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代码审查 + 单元测试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运行时拦截 + 权限系统 + schema 校验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关键洞察：传统软件的复杂度在编译时可控；Agent 的复杂度在运行时爆发。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灾难场景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没有治理时会发生什么 — 四大灾难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91640"/>
            <a:ext cx="507492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1 · 错误工具选择 → 删生产库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194560"/>
            <a:ext cx="507492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13432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用户意图：“清理测试数据”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选 bash_exec → rm -rf /data/production/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根因：tool description 不精确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1928" y="1691640"/>
            <a:ext cx="507492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691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2 · MCP 超时 → 级联阻塞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81928" y="2194560"/>
            <a:ext cx="507492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313432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server 响应 30s → 5min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无限等待 → context 持续消耗 → 全挂起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根因：无超时 / circuit breaker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3703320"/>
            <a:ext cx="507492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3703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3 · 幻觉参数 → 静默写错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4206240"/>
            <a:ext cx="507492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25112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传入 {mode:"upsert"}，schema 仅 insert/update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未校验 → fallback update → 覆盖已有数据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根因：缺 input validation（strict）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1928" y="3703320"/>
            <a:ext cx="5074920" cy="5029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703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灾难 4 · 虚构工具 → 浪费 turn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81928" y="4206240"/>
            <a:ext cx="507492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325112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 deploy_to_production（不存在）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not found → 再试一个不存在的 → 循环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根因：工具列表未严格约束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这四个灾难分别对应流水线 Step 1 / 4 / 3 / 1 的缺失。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抽象的核心问题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异构能力源的统一接口问题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Bash 执行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64208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15184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12" name="Text 10"/>
          <p:cNvSpPr/>
          <p:nvPr/>
        </p:nvSpPr>
        <p:spPr>
          <a:xfrm>
            <a:off x="2615184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文件系统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38144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 请求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63056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36992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21" name="Text 19"/>
          <p:cNvSpPr/>
          <p:nvPr/>
        </p:nvSpPr>
        <p:spPr>
          <a:xfrm>
            <a:off x="7936992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59952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10928" y="1554480"/>
            <a:ext cx="1645920" cy="502920"/>
          </a:xfrm>
          <a:prstGeom prst="rect">
            <a:avLst/>
          </a:prstGeom>
          <a:solidFill>
            <a:srgbClr val="6E8BA3"/>
          </a:solidFill>
          <a:ln/>
        </p:spPr>
      </p:sp>
      <p:sp>
        <p:nvSpPr>
          <p:cNvPr id="24" name="Text 22"/>
          <p:cNvSpPr/>
          <p:nvPr/>
        </p:nvSpPr>
        <p:spPr>
          <a:xfrm>
            <a:off x="9710928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33888" y="2057400"/>
            <a:ext cx="0" cy="320040"/>
          </a:xfrm>
          <a:prstGeom prst="line">
            <a:avLst/>
          </a:prstGeom>
          <a:noFill/>
          <a:ln w="1524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41248" y="2423160"/>
            <a:ext cx="10515600" cy="685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24231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统一接口层 — Everything is a Tool   ·   tool.call(input) → ToolResult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80760" y="3108960"/>
            <a:ext cx="0" cy="3200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23360" y="3474720"/>
            <a:ext cx="4114800" cy="5029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1248" y="4251960"/>
            <a:ext cx="5120640" cy="169164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没有统一接口的后果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核心代码充斥 if(type==='bash')…else if…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新增工具类型 = 改核心调度 = 高风险变更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无法复用 timeout/truncation/permission 横切关注点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6208" y="4251960"/>
            <a:ext cx="5120640" cy="1691640"/>
          </a:xfrm>
          <a:prstGeom prst="rect">
            <a:avLst/>
          </a:prstGeom>
          <a:solidFill>
            <a:srgbClr val="EEF1F3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4389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设计目标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 POSIX：everything is a file descriptor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只需知道 tool.call(input) → ToolResult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不关心底层是 bash / 远程 API / 子 Agent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接口设计 — 5 个必备方法 + 2 个可选方法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6400800" cy="274320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603504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interface Tool&lt;I, O, P&gt;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name: string;              // 唯一标识，LLM 选择依据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description: string;       // 这就是 prompt engineering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inputSchema: JSONSchema;   // Pydantic / Zod 生成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call(input, ctx): Promise&lt;ToolResult&lt;O&gt;&gt;;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checkPermissions(input, ctx): PermissionResult;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progress?(cb): void;       // 可选：进度报告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stream?(input): AsyncGenerator&lt;ToolResult&lt;O&gt;&gt;;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必备（绿）</a:t>
            </a:r>
            <a:endParaRPr lang="en-US" sz="1300" dirty="0"/>
          </a:p>
          <a:p>
            <a:pPr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 · description · inputSchema · call · checkPermissions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可选（蓝）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progress · stream（大输出工具）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4663440"/>
            <a:ext cx="10515600" cy="1143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48006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description IS prompt engineering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改一个词，tool 被选中概率可变化 20%（file_read 改写后 65% → 92%）。Claude Code 的 Bash description 有 200+ 字，详述 when to use / when NOT to use。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分类与风险等级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四类工具，四种治理策略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36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1371600"/>
                <a:gridCol w="265176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典型示例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核心威胁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治理重点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Execution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bash, code_exec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Critical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可以做任何事（God tools）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沙箱、白名单、每次审批、审计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065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Network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http_fetch, webhook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065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High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数据外泄、SSRF、rate limit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域名白名单、限流、超时、auth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spawn_agent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Med-High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递归失控、token 爆炸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深度限制、budget 继承、权限收窄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Domain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db_query, file_write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Medium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复杂依赖、不可逆副作用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强校验、事务回滚、路径限制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26280"/>
            <a:ext cx="10515600" cy="13258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46634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风险不是工具固有属性，而是 (工具 + 输入 + 上下文) 的函数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 bash：ls = 低风险；rm -rf / = 极高风险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的选择：允许 bash，但每次调用都需权限检查（除非在 allowlist 中）—— power vs safety 的经典 trade-off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六步执行流水线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Execution Pipeline — 从 LLM 输出到结果持久化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7315200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627632" y="15544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 · Discovery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toolRegistry.get(name) · O(1) lookup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1540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防工具幻觉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0" cy="10972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63040" y="2212848"/>
            <a:ext cx="7315200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1627632" y="221284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 · Permission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checkPermissions() · Free/Ask/Approve/Deny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15400" y="2212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防越权操作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761488"/>
            <a:ext cx="0" cy="10972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63040" y="2871216"/>
            <a:ext cx="7315200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627632" y="287121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 · Validation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validate(input, schema) · JSON Schema/Zod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15400" y="28712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防幻觉参数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3419856"/>
            <a:ext cx="0" cy="10972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63040" y="3529584"/>
            <a:ext cx="731520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1627632" y="352958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 · Execution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tool.call() · timeout 30s · 异常隔离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15400" y="35295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 hang / crash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4078224"/>
            <a:ext cx="0" cy="10972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3040" y="4187952"/>
            <a:ext cx="7315200" cy="5486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5" name="Text 23"/>
          <p:cNvSpPr/>
          <p:nvPr/>
        </p:nvSpPr>
        <p:spPr>
          <a:xfrm>
            <a:off x="1627632" y="418795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 · Result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truncate + serialize · max 1MB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1540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 context 溢出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4736592"/>
            <a:ext cx="0" cy="10972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63040" y="4846320"/>
            <a:ext cx="7315200" cy="5486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9" name="Text 27"/>
          <p:cNvSpPr/>
          <p:nvPr/>
        </p:nvSpPr>
        <p:spPr>
          <a:xfrm>
            <a:off x="1627632" y="4846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6 · Persistence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+ history + trace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15400" y="4846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可观测 + 可复用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" y="5623560"/>
            <a:ext cx="10515600" cy="5029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5623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任何一步失败 → 立即返回 ToolResult { is_error: true }。不 crash，不 hang，不静默失败。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1-2 · DISCOVERY + PERMISSION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找到工具 → 检查权限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08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 · Tool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8745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Map&lt;string, Tool&gt; — O(1) lookup by name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启动时静态注册 + 运行时动态注册（MCP tools/list）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 不存在 → "Tool not found. Available: [...]"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不用 fuzzy match：防 typo 意外调用相似工具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429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 · Permission Check — 四级权限模型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3840480"/>
            <a:ext cx="2468880" cy="11887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069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Free</a:t>
            </a:r>
            <a:endParaRPr lang="en-US" sz="15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直接通过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38728" y="3840480"/>
            <a:ext cx="2468880" cy="1188720"/>
          </a:xfrm>
          <a:prstGeom prst="rect">
            <a:avLst/>
          </a:prstGeom>
          <a:solidFill>
            <a:srgbClr val="E0A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4069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Ask-first</a:t>
            </a:r>
            <a:endParaRPr lang="en-US" sz="15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每次弹窗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6208" y="3840480"/>
            <a:ext cx="2468880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4069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Approve-once</a:t>
            </a:r>
            <a:endParaRPr lang="en-US" sz="15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记住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33688" y="3840480"/>
            <a:ext cx="2468880" cy="11887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8" name="Text 16"/>
          <p:cNvSpPr/>
          <p:nvPr/>
        </p:nvSpPr>
        <p:spPr>
          <a:xfrm>
            <a:off x="8933688" y="4069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Deny</a:t>
            </a:r>
            <a:endParaRPr lang="en-US" sz="1500" dirty="0"/>
          </a:p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硬性拒绝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检查依据三要素：tool metadata + input content + runtime context  ·  permission check 本身 &lt; 1ms  ·  S2 执行 check（mechanism），S3 定义 policy（规则）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 · INPUT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参数校验 — 在执行前拦截一切非法输入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760720" cy="292608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539496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LLM 输出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2A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"mode": "upsert" }   // ✗ 不在 schema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schema 约束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enum: ["insert", "update"]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校验结果（self-correction）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is_error: true, content: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"'mode' must be one of [insert,update]"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为何在 execution 之前？副作用不可逆，validation 是零成本软拦截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校验：required / 类型 / enum / 数值范围 / 格式 / strict（多余字段报错）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技术栈：JSON Schema · Zod · Pydantic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首次失败后 LLM 自我修正成功率 ~90%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黄金法则：validate BEFORE execute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4 ·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 — 超时保护、异常隔离、并发控制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3657600" cy="17373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645920"/>
            <a:ext cx="109728" cy="173736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75564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Timeout 超时保护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30s（按工具配置）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Promise.race([call, timeout])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cancel → wait 5s → abort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73168" y="1645920"/>
            <a:ext cx="3657600" cy="17373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3168" y="1645920"/>
            <a:ext cx="109728" cy="173736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5001768" y="175564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Exception 异常隔离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try/catch 包裹一切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 → ToolResult{is_error}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stack trace 入日志，不给 LLM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3566160"/>
            <a:ext cx="3657600" cy="17373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566160"/>
            <a:ext cx="109728" cy="173736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367588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Concurrency 并发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 call 并行执行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同工具 max 5 / 全局 max 10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串行 N×t → max(t)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73168" y="3566160"/>
            <a:ext cx="3657600" cy="17373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73168" y="3566160"/>
            <a:ext cx="109728" cy="17373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01768" y="367588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 资源限制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子进程 / 独立 context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 output size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chroot / 路径白名单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164592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超时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file_read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http_fetch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bash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120s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agent_spawn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300s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5-6 · RESULT + PERSISTENCE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结果截断、序列化、持久化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120640" cy="18288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83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 · Result Processing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默认上限 1MB → 超过则截断 + “[truncated, …]”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在语义边界截断（行尾 / JSON 边界），非按字节切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统一格式 ToolResultBlock { content, is_error 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3657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6 · Persistence — 三个存储目标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4069080"/>
            <a:ext cx="3291840" cy="1188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4206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History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写入对话历史 → 下轮 context（最重要）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79976" y="4069080"/>
            <a:ext cx="3291840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4206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幂等工具结果缓存，避免重复 I/O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4069080"/>
            <a:ext cx="3291840" cy="11887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6" name="Text 14"/>
          <p:cNvSpPr/>
          <p:nvPr/>
        </p:nvSpPr>
        <p:spPr>
          <a:xfrm>
            <a:off x="8055864" y="4206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Trace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结构化日志 → 调试/审计（S4 数据源）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Metrics：tool_call_duration_ms (P50/P95/P99) · tool_success_rate · result_size_bytes（监控截断频率）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5</a:t>
            </a:r>
            <a:endParaRPr lang="en-US" sz="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三大保护机制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Timeout + Truncation + Exception Isolation — 不可协商的底线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36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1097280"/>
                <a:gridCol w="3383280"/>
                <a:gridCol w="13716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保护机制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防范问题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默认值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触发后行为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可配置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Timeout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执行无限挂起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cancel → abort → timeout error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Truncation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结果撑爆 context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1MB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截断 + “[truncated]” 标注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Exception Isolation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 crash 杀死 Agent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N/A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try/catch → is_error=true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始终开启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103120" y="4251960"/>
            <a:ext cx="2377440" cy="9601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0" name="Text 7"/>
          <p:cNvSpPr/>
          <p:nvPr/>
        </p:nvSpPr>
        <p:spPr>
          <a:xfrm>
            <a:off x="2103120" y="4370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🛡 Timeout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0" y="4251960"/>
            <a:ext cx="2377440" cy="9601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4370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🛡 Truncation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1MB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55280" y="4251960"/>
            <a:ext cx="2377440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43708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🛡 Exception</a:t>
            </a:r>
            <a:endParaRPr lang="en-US" sz="14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is_error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设计哲学：Fail gracefully, never fail silently  ·  这三个是 Day 1 必须实现的 non-negotiable minimums。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讨论环节 · 灾难诊断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Discussion — 哪一步缺失导致了事故？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057400"/>
            <a:ext cx="3291840" cy="18288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219456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被要求“重构 auth”，却调用 deploy_service 把未完成代码部署到 staging。工具存在、schema 对，但权限被图方便设成了 Free。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886200"/>
            <a:ext cx="3291840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2 Permission — 策略配置错误，deploy 不应是 Free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9976" y="1600200"/>
            <a:ext cx="329184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79976" y="2057400"/>
            <a:ext cx="3291840" cy="18288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219456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调用 db_query 传入 {sql:"SELECT *", limit:"all"}，返回 2GB 结果，context window 被撑爆，后续推理全失败。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79976" y="3886200"/>
            <a:ext cx="3291840" cy="10058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9" name="Text 17"/>
          <p:cNvSpPr/>
          <p:nvPr/>
        </p:nvSpPr>
        <p:spPr>
          <a:xfrm>
            <a:off x="4517136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3 Validation + Step 5 Truncation — 双重失守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18704" y="1600200"/>
            <a:ext cx="329184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7918704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 C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18704" y="2057400"/>
            <a:ext cx="3291840" cy="182880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8055864" y="219456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要读配置，调用 read_config（实际是 read_file）。连续 4 次 tool-not-found，最终放弃告诉用户“无法完成”。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18704" y="3886200"/>
            <a:ext cx="3291840" cy="10058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5" name="Text 23"/>
          <p:cNvSpPr/>
          <p:nvPr/>
        </p:nvSpPr>
        <p:spPr>
          <a:xfrm>
            <a:off x="8055864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 Discovery — 缺编辑距离纠错 + available 列表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引导问题：① 你团队的 deploy 权限怎么管理？ ② 除 validation+truncation 还有哪些防线？ ③ 纠错阈值设多少？太低会误纠正吗？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 · BASH TOOL 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Real-World Case — Claude Code 如何治理最危险的工具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760720" cy="310896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5394960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Execute a bash command in the user's shell.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IMPORTANT: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Prefer dedicated tools (Read, Edit, Write)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Quote file paths with spaces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Optional timeout up to 600000ms (10 min)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git: prefer new commit over amend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99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When NOT to use: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Reading files → use Read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Editing files → use Edit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645920"/>
            <a:ext cx="4480560" cy="960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645920"/>
            <a:ext cx="109728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2" name="Text 10"/>
          <p:cNvSpPr/>
          <p:nvPr/>
        </p:nvSpPr>
        <p:spPr>
          <a:xfrm>
            <a:off x="7059168" y="17190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Ask-first · allowlist Bash(git *) 自动通过 · Deny 硬编码 rm -rf / 与 fork bomb（allow all 也拒绝）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2724912"/>
            <a:ext cx="4480560" cy="960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2724912"/>
            <a:ext cx="109728" cy="9601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5" name="Text 13"/>
          <p:cNvSpPr/>
          <p:nvPr/>
        </p:nvSpPr>
        <p:spPr>
          <a:xfrm>
            <a:off x="7059168" y="2798064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Timeout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120s（编译/测试较慢）· 可覆盖至 600000ms · SIGTERM → 5s → SIGKILL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803904"/>
            <a:ext cx="4480560" cy="960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3803904"/>
            <a:ext cx="109728" cy="96012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8" name="Text 16"/>
          <p:cNvSpPr/>
          <p:nvPr/>
        </p:nvSpPr>
        <p:spPr>
          <a:xfrm>
            <a:off x="7059168" y="387705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Truncation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 head + tail（中间 [...truncated...]）· 各默认 50KB · 保留 tail 因编译错误在末尾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029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精髓：“When NOT to use” 比 “When to use” 更重要 · 用户可放松安全，但不能关闭安全（Deny 硬编码）。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 · EDIT TOOL 差异化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 — 安全但受限的 Tool 如何设计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36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Bash Tool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Edit Tool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能力范围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无限（can do anything）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限定（只改文件内容）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副作用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不可预测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可预测（内容变更）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权限级别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Ask-first / Deny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Free(项目内) / Ask(项目外)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前置检查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Allowlist glob match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路径校验 + 存在性检查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回滚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不可能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可能（git / 备份）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Timeout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120s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5s（纯 I/O）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3232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治理的风险矩阵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32320" y="1965960"/>
            <a:ext cx="2057400" cy="128016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1" name="Text 8"/>
          <p:cNvSpPr/>
          <p:nvPr/>
        </p:nvSpPr>
        <p:spPr>
          <a:xfrm>
            <a:off x="7242048" y="2057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高能力·高风险 Bash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Ask-first + Deny + 长超时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81160" y="1965960"/>
            <a:ext cx="2057400" cy="12801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9390888" y="2057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高能力·低风险 Edit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Free(项目内) + 前置检查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3337560"/>
            <a:ext cx="2057400" cy="1280160"/>
          </a:xfrm>
          <a:prstGeom prst="rect">
            <a:avLst/>
          </a:prstGeom>
          <a:solidFill>
            <a:srgbClr val="E0651A"/>
          </a:solidFill>
          <a:ln/>
        </p:spPr>
      </p:sp>
      <p:sp>
        <p:nvSpPr>
          <p:cNvPr id="15" name="Text 12"/>
          <p:cNvSpPr/>
          <p:nvPr/>
        </p:nvSpPr>
        <p:spPr>
          <a:xfrm>
            <a:off x="7242048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低能力·高风险 Delete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Ask-first + 确认回显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281160" y="3337560"/>
            <a:ext cx="2057400" cy="128016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7" name="Text 14"/>
          <p:cNvSpPr/>
          <p:nvPr/>
        </p:nvSpPr>
        <p:spPr>
          <a:xfrm>
            <a:off x="9390888" y="3429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低能力·低风险 Read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Free + 最少检查 + 最短超时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设计原则：治理强度应与工具能力成正比 —— 不是“越安全越好”，而是“风险匹配”。Edit 前置：必须先 Read → old_string 唯一 → 在项目内。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STRUCTURED OUTPUT PARSING · 核心矛盾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从文本流到结构化数据 — 被低估的难题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3108960" cy="64008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554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text stream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50208" y="1874520"/>
            <a:ext cx="82296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73168" y="1554480"/>
            <a:ext cx="2194560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？ 转换器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67728" y="1874520"/>
            <a:ext cx="82296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90688" y="1554480"/>
            <a:ext cx="3566160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790688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structured JSON: name + params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2468880"/>
            <a:ext cx="6035040" cy="246888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2578608"/>
            <a:ext cx="566928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```json {...} ```        // markdown fences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{"a":1, "b":2,}          // trailing comma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{"cmd":"git st            // unclosed (streaming)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Let me run: {"cmd":"ls"} // 混合文本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\u{1F600} vs 😀           // unicode escape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{"cmd":"echo \"hi\""}     // 嵌套引号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0" y="246888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为何不能完全依赖 native structured output？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不是所有 provider 都支持（开源/旧 API）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 需要增量解析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Fallback 场景需自定义逻辑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错误恢复需 domain-specific 处理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多模型支持：Claude/GPT/Gemini 格式不同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结构化输出解析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从原始文本到可信结构 — 4-Step Parsing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7680960" cy="65836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· Candidate Extraction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regex 匹配 JSON · 剥离 markdown fences · 定位混合文本中的结构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41080" y="1645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 → 0-N 候选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304288"/>
            <a:ext cx="0" cy="128016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" y="2432304"/>
            <a:ext cx="7680960" cy="658368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432304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· Cleaning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 trailing comma · 单→双引号 · 去注释 · 规范 unicode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41080" y="2432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cleaned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090672"/>
            <a:ext cx="0" cy="128016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" y="3218688"/>
            <a:ext cx="7680960" cy="658368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1868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· Strict JSON Parse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JSON.parse / json.loads · 失败 → error recovery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41080" y="32186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JS/Py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877056"/>
            <a:ext cx="0" cy="128016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" y="4005072"/>
            <a:ext cx="7680960" cy="6583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00507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· Schema Validation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Pydantic/Zod · required/types/enum/range/pattern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41080" y="40050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typed object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29200"/>
            <a:ext cx="10515600" cy="7772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029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生产实测：</a:t>
            </a:r>
            <a:pPr algn="ctr"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 1-2 解决 95% 格式问题 · Step 3 parse 失败率 &lt;3% · Step 4 捕获 ~100% 语义错误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 + ERROR RECOVERY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流式解析 + 错误恢复 — 生产级鲁棒性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Streaming：bracket stack tracking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{ → push · } → pop · 空栈 = JSON 完整可解析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增量库：partial-json / simdjson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三阶段优化：识别 name → 预备执行环境 → params 完整即执行</a:t>
            </a:r>
            <a:endParaRPr lang="en-US" sz="13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收益：省 100-500ms cold start（bash 尤其明显）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Error Recovery 重试链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057400"/>
            <a:ext cx="4572000" cy="713232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2057400"/>
            <a:ext cx="1005840" cy="713232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05740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205740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 retry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2926080"/>
            <a:ext cx="4572000" cy="713232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2926080"/>
            <a:ext cx="1005840" cy="7132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9260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09560" y="29260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第二次 retry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3794760"/>
            <a:ext cx="4572000" cy="713232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3794760"/>
            <a:ext cx="1005840" cy="713232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9476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09560" y="37947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仍失败 → 人工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 error message 注入 context → LLM 重试。Max 2 retries，总成功率 ~95%。不要无限重试 —— 反模式。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幻觉检测 · 三种类型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Tool-Call Hallucination — 三种致命幻觉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36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188720"/>
                <a:gridCol w="3017520"/>
                <a:gridCol w="21031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类型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表现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检测难度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示例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根因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工具名幻觉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编造不存在的工具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execute_sql（实为 run_query）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训练数据工具名混入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参数幻觉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编造不在 schema 的参数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{timeout:30}（schema 无）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基于函数名推测参数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值幻觉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参数名对但值是编造的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file:"/src/utils/helper.ts"（不存在）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基于代码模式推测路径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26280"/>
            <a:ext cx="10515600" cy="1097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4526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负责前两类的 L1 拦截（确定性、毫秒级）；值幻觉需要运行时验证（S3 / S4 协同）。幻觉不是“撒谎”——是概率推测。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幻觉检测 · L1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Defense — Schema 校验 + 编辑距离纠错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6035040" cy="265176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566928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 Call 到达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→ tool_name 是否存在于注册表？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├ 存在 → Schema 校验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│   required? 类型? enum? 范围?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└ 不存在 → 编辑距离纠错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dist≤2 &amp; sim&gt;0.85 → 自动纠正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dist&gt;2 → 拒绝 + 返回可用列表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6459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 Distance 纠错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Levenshtein + Jaro-Winkler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read_fil → “Did you mean read_file?” (dist=1) → 自动纠正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566160"/>
            <a:ext cx="4114800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3703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~60%</a:t>
            </a:r>
            <a:endParaRPr lang="en-US" sz="4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schema validation 拦截的工具调用幻觉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1248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实现成本极低（纯确定性字符串比较 + schema 校验，无 AI），ROI 极高。关键决策：typo 自动纠正，方向错则拒绝。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幻觉检测 · 分工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Input Gate 设计 — S2 在幻觉防御中的定位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36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572000"/>
                <a:gridCol w="22860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检测层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负责系统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检测内容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时机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L1 结构校验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S2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工具名/参数名/类型/范围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执行前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L2 语义校验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S3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路径合法性/命令安全/权限合规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执行前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L3 事实校验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S4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文件存在/API 可达/数据过时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执行中/后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43400"/>
            <a:ext cx="2377440" cy="9144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0" name="Text 7"/>
          <p:cNvSpPr/>
          <p:nvPr/>
        </p:nvSpPr>
        <p:spPr>
          <a:xfrm>
            <a:off x="950976" y="443484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15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格式合法（这是合法 JSON）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18688" y="4800600"/>
            <a:ext cx="32004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38728" y="4343400"/>
            <a:ext cx="2377440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48456" y="443484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15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结构语义（对目标工具有意义）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916168" y="4800600"/>
            <a:ext cx="32004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36208" y="4343400"/>
            <a:ext cx="2377440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3"/>
          <p:cNvSpPr/>
          <p:nvPr/>
        </p:nvSpPr>
        <p:spPr>
          <a:xfrm>
            <a:off x="6345936" y="443484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</a:t>
            </a:r>
            <a:endParaRPr lang="en-US" sz="15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安全策略（允许这个操作吗）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13648" y="4800600"/>
            <a:ext cx="32004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933688" y="4343400"/>
            <a:ext cx="2377440" cy="91440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9" name="Text 16"/>
          <p:cNvSpPr/>
          <p:nvPr/>
        </p:nvSpPr>
        <p:spPr>
          <a:xfrm>
            <a:off x="9043416" y="443484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1500" dirty="0"/>
          </a:p>
          <a:p>
            <a:pPr algn="ctr" indent="0" marL="0">
              <a:spcBef>
                <a:spcPts val="300"/>
              </a:spcBef>
              <a:buNone/>
            </a:pP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1248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的 L1 成本最低、速度最快 —— 纯确定性计算，毫秒级完成。S1 保证格式 + S2 保证语义 → 才进入执行。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四级权限模型 — 从完全自由到完全禁止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36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10312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级别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用户体验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典型工具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Free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无需检查，直接执行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无感知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read_file(项目内), list_tools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A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Ask-first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每次执行前询问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频繁弹窗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write_file, run_bash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Approve-once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首次询问，session 记住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首次弹窗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git_commit, npm_install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Deny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硬性禁止，无法覆盖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被拒绝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rm -rf, DROP TABLE(prod)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526280"/>
            <a:ext cx="10515600" cy="11887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466344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级别决策依据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元数据（默认） → 项目配置（覆盖, .claude/settings.json） → 运行时上下文（动态升级）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示例：read_file 默认 Free，但 path 含 .. 或在 home 外 → 升级到 Ask-first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· 动态升级与 S3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权限不是静态标签 — 运行时证据驱动升降级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动态升级触发条件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result 含敏感模式（API key/password）→ 后续升级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路径超出项目边界 → 升级到 Ask-first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 3 次同工具失败 → 升级引入人工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异常参数值（非典型操作）→ 升级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4663440" cy="1188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7830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· 执行层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执行权限检查（前台保安：查通行证）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2971800"/>
            <a:ext cx="4663440" cy="1188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108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· 策略层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定义权限规则（安保主管：制定规则）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663440"/>
            <a:ext cx="10515600" cy="10972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828032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信任不对称（有意设计）：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获得信任是慢的（10+ 次安全操作 → 可降级）；失去信任是瞬间的（1 次违规 → 立即升级）。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· 产品对比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vs Cursor vs Windsurf — 权限交互三流派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291840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显式审批派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24028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77440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bash/write 弹终端确认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y/a/N · allowlist 配永久 Free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哲学：知情并同意每个副作用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审计清晰 − 频繁打断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9976" y="1600200"/>
            <a:ext cx="3291840" cy="64008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差异展示派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9976" y="224028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377440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Apply 前展示完整 diff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Accept/Reject 文件级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哲学：审查结果而非过程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理解度高 − bash 无法 diff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18704" y="1600200"/>
            <a:ext cx="3291840" cy="64008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Windsurf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YOLO 可选派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18704" y="2240280"/>
            <a:ext cx="3291840" cy="21945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8083296" y="2377440"/>
            <a:ext cx="3017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ask，提供 Act 全自动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 Docker sandbox 兜底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哲学：环境隔离代替交互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流畅 − 审计困难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663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没有“最好”的设计，只有“最适合你场景”的：开发者本地 IDE → 显式审批/差异；CI/CD 无人值守 → Sandbox；多人协作 → 审批工作流。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· 配置实战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配置驱动权限 — 不改代码调整安全边界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760720" cy="274320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539496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"permissions":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"allow": [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"Bash(git *)", "Bash(npm test)",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"Read(*)", "Write(src/**)"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"deny": [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"Bash(rm -rf *)", "Bash(sudo *)",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"Write(.env*)", "Write(*.pem)"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873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 }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64592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 与评估顺序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= 单层；** = 多层路径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评估：deny → allow → default(Ask-first)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deny 优先于 allow（安全默认）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三级覆盖</a:t>
            </a:r>
            <a:endParaRPr lang="en-US" sz="13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系统默认 &lt; 项目(.claude) &lt; 用户(~/.claude)；deny 取并集，个人不能绕过团队 deny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可立即上手：把常用安全命令加到 allow list。核心原则：deny 优先于 allow —— 误放行危险操作 ≫ 误拦截安全操作。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 N×M 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— AI 时代的 USB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120640" cy="1371600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83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问题：N × M 定制集成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 框架 × M 工具，每对写适配代码，维护成本平方级上升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6208" y="1645920"/>
            <a:ext cx="5120640" cy="13716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83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解法：N + M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 框架实现 MCP Client + M 工具实现 MCP Server，标准化协议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3291840"/>
            <a:ext cx="329184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4290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Tools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可调用函数（主用途）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AA9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tools/list + tools/call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79976" y="3291840"/>
            <a:ext cx="329184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17136" y="34290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Resources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可读数据源（文件类）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AA9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resources/list + read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18704" y="3291840"/>
            <a:ext cx="3291840" cy="13716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342900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Prompts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可复用提示模板</a:t>
            </a:r>
            <a:endParaRPr lang="en-US" sz="15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00" dirty="0">
                <a:solidFill>
                  <a:srgbClr val="9AA9B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prompts/list + get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生态：200+ 开源 MCP Server（Slack/GitHub/Notion/PostgreSQL/Stripe…） · Anthropic 发起，OpenAI / Google 已采用。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· TRANSPORT 与生命周期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连接模型 — stdio vs Streamable HTTP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 / 36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01168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Transport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通信方式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示例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stdio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子进程 stdin/stdout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本地工具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文件系统、Git、本地 DB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Streamable HTTP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HTTP 请求/响应 + SSE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远程服务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云 API、共享工具、SaaS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200400"/>
            <a:ext cx="10515600" cy="169164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3310128"/>
            <a:ext cx="1014984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 → Server: initialize (version, capabilities)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 → Client: initialize_result (capabilities)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 → Server: tools/list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 → Client: [tool definitions with schemas]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BFE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 → Server: tools/call (name, arguments)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 → Client: result (content, is_error)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Capability Negotiation：双方各自声明支持的原语/功能，只使用对方声明支持的部分 → 避免 runtime error。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· 报文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一次完整 MCP 交互的 JSON-RPC 报文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6766560" cy="3383280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755648"/>
            <a:ext cx="64008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1. Client → Server (初始化)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{"jsonrpc":"2.0","id":1,"method":"initialize",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"params":{"protocolVersion":"2024-11-05",...}}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3. Client → Server (发现工具)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{"jsonrpc":"2.0","id":2,"method":"tools/list"}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4. Server → Client (返回 schema)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result.tools[].inputSchema  // 标准 JSON Schema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5. Client → Server (调用)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5DBD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{"method":"tools/call","params":{"name":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FD1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"create_pull_request","arguments":{...}}}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C9AA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6. Server → Client: {content:[...], isError:false}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0" y="164592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每条消息是独立 JSON 行（JSON-RPC 2.0）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 字段匹配请求/响应（支持并发）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inputSchema 即标准 JSON Schema → Zod/Pydantic 校验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schema 从 server 来，validation 在 client 做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isError 决定 Agent 是否重试或换方案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stdio：newline-delimited JSON；stderr 留给日志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比 REST 更简洁 —— 没有 HTTP header、status code、content negotiation。JSON-RPC 的美在于极简。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· SCHEMA 缓存与容错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工程化 — 缓存策略与故障处理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6400800" cy="713232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645920"/>
            <a:ext cx="6035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 内存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内 O(1)，TTL = session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81328" y="2514600"/>
            <a:ext cx="5120640" cy="713232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1" name="Text 9"/>
          <p:cNvSpPr/>
          <p:nvPr/>
        </p:nvSpPr>
        <p:spPr>
          <a:xfrm>
            <a:off x="1664208" y="251460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磁盘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session 持久化，TTL 24h / version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21408" y="3383280"/>
            <a:ext cx="3840480" cy="713232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2304288" y="33832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 分布式 Redis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跨实例共享，多节点部署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目标：cache hit &gt; 95%，避免每轮 tools/list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164592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故障处理（每 server 独立 circuit breaker）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Retry：临时错误 → 指数退避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Server 切换：主不健康 → 备用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本地降级：远程不可用 → 本地等效工具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熔断：持续失败 → circuit breaker 快速失败</a:t>
            </a:r>
            <a:endParaRPr lang="en-US" sz="1300" dirty="0"/>
          </a:p>
          <a:p>
            <a:pPr marL="342900" indent="-342900">
              <a:spcBef>
                <a:spcPts val="500"/>
              </a:spcBef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健康检查：定期 ping / heartbeat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· 生产集成最佳实践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条 MCP 生产规则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6002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Health Check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定期 ping 检测故障，不等用户请求时才发现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25856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25856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Credential 隔离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server 的 API key 与 Agent 主 credential 分离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2916936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2916936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Saga 模式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多工具操作需原子性时，设计补偿动作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575304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57530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统一审计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tool calls 走与内置 tool 相同的 trace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233672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23367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权限映射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工具自动映射到 S3 四级权限模型（非默认 Free）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" y="5029200"/>
            <a:ext cx="10515600" cy="77724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029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反模式：给 MCP server “god mode” → 任何 MCP tool 无限制执行 → 安全灾难。正确：接入默认 Ask-first，评估后再降级。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AGENT-EDITOR 通信标准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ACP — 把 Agent 嵌入任何编辑器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 / 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“LSP 之于语言服务器，ACP 之于 AI 编码 Agent”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011680"/>
            <a:ext cx="3108960" cy="64008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Editor (ACP Client)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50208" y="2331720"/>
            <a:ext cx="73152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81728" y="2011680"/>
            <a:ext cx="3108960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(ACP Server)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90688" y="2331720"/>
            <a:ext cx="731520" cy="0"/>
          </a:xfrm>
          <a:prstGeom prst="line">
            <a:avLst/>
          </a:prstGeom>
          <a:noFill/>
          <a:ln w="2540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22208" y="2011680"/>
            <a:ext cx="2834640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2011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→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017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vs ACP（互补）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= Agent 向外调用工具（Agent → Tools）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ACP = 编辑器与 Agent 通信（Editor → Agent）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Session 生命周期（create/resume/close）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流式更新（thinking/tool_call/diff/plan）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权限请求 session/request_permission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文件系统 fs/read·write · 终端 terminal/*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通信：JSON-RPC over stdio（主）/ HTTP（开发中）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ACP · 生态与 CAPSTONE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ACP 生态现状 + 在本课程的角色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 / 36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Editor (Client)：</a:t>
            </a:r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Zed · JetBrains · VS Code · Neovim · Emacs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(Server)：</a:t>
            </a:r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· OpenCode · Gemini CLI · Codex CLI · Goose · 50+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SDK：</a:t>
            </a:r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TypeScript · Rust · Python · Kotlin · Java  ·  ACP Registry（2026.01 上线）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926080"/>
          <a:ext cx="6583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ACP 能力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对应系统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session/prompt + streaming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S1 上下文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call reports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S2 工具治理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session/request_permission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S3 安全审批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 resume + Plan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S4 状态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Stop reasons + modes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S5 熵管理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772400" y="2926080"/>
            <a:ext cx="3566160" cy="25603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3090672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Capstone 角色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 Gateway = ACP Client（TS SDK）</a:t>
            </a:r>
            <a:endParaRPr lang="en-US" sz="14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OpenCode = ACP Server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亲手体验 permission request 从 Agent → Gateway 策略层 → 前端 UI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工具选择智能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Selection — 工具数量决定选择策略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2194560" cy="82296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71907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10 工具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关键词匹配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27248" y="1645920"/>
            <a:ext cx="8229600" cy="8229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意图关键词 → match name+description · &lt;1ms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2606040"/>
            <a:ext cx="2194560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67919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10–30 工具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语义相似度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27248" y="2606040"/>
            <a:ext cx="8229600" cy="8229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6060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embed 意图 ↔ description embedding · 处理同义改述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566160"/>
            <a:ext cx="2194560" cy="82296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63931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30+ 工具</a:t>
            </a:r>
            <a:endParaRPr lang="en-US" sz="13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分类器 / 分层加载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3566160"/>
            <a:ext cx="8229600" cy="8229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5661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小模型分类任务 → 只加载子集 · hierarchical loading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663440"/>
            <a:ext cx="10515600" cy="1097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48006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description 的质量决定选择准确率（上限）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好的 description：做什么 / 什么时候用 / 什么时候不要用。算法再好，description 写烂也选不对。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工具选择 · 动态加载与分层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 100 个工具全塞进 Context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0515600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问题：100 个工具的 schema ≈ 30-50K tokens → 吃掉 context budget 的 15-25%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2331720"/>
            <a:ext cx="3291840" cy="2103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331720"/>
            <a:ext cx="329184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 1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shouldDefer（Claude Code）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每个工具 shouldDefer(ctx):bool · 不在 git repo → Git 工具 defer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9976" y="2331720"/>
            <a:ext cx="3291840" cy="2103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379976" y="2331720"/>
            <a:ext cx="329184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 2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分层加载（OpenCode）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层：system→session→user→domain→builtin→dynamic · 默认仅 system+builtin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18704" y="2331720"/>
            <a:ext cx="3291840" cy="21031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918704" y="2331720"/>
            <a:ext cx="329184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83296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 3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Schema 摘要 vs 完整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Discovery 用 {name, one-line} · Selection 后加载完整 schema · 省 80%+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754880"/>
            <a:ext cx="10515600" cy="86868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7548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全加载 50K tokens  →  按需加载 5-10K tokens   （这是 S1 Context Budget 原则在 S2 的具体体现）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系统接口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在五大系统中的数据流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310896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108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Governance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2103120" cy="10058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167335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上游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组装 context → LLM 输出 tool call → S2 接管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3108960"/>
            <a:ext cx="2103120" cy="10058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897940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横向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执行 check（point），S3 提供 policy（规则）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4709160"/>
            <a:ext cx="2103120" cy="100584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47823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 下游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 tool call 发 trace event → 可观测/指标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108960"/>
            <a:ext cx="2103120" cy="1005840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7" name="Text 15"/>
          <p:cNvSpPr/>
          <p:nvPr/>
        </p:nvSpPr>
        <p:spPr>
          <a:xfrm>
            <a:off x="1298448" y="3182112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 横向 ↔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 check 决定是否允许新 call；circuit breaker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0" cy="50292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3232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4114800"/>
            <a:ext cx="0" cy="59436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3611880"/>
            <a:ext cx="173736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完整链路：S1 结构化解析 → S2 幻觉检测 → S2 六步执行管线（input → validate → execute）。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一图总结 — 从 LLM 输出到工具执行的完整链路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03 S2 · Tool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/ 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7680960" cy="74980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Structured Parsing (S1→S2)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extract → clean → parse → validate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41080" y="164592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成功率 &gt;98%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395728"/>
            <a:ext cx="0" cy="164592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" y="2560320"/>
            <a:ext cx="7680960" cy="749808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6032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Hallucination Detection (S2 L1)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name check → schema → correction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41080" y="256032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拦截率 ~60%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310128"/>
            <a:ext cx="0" cy="164592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" y="3474720"/>
            <a:ext cx="7680960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7472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Six-Step Execution Pipeline    </a:t>
            </a:r>
            <a:pPr indent="0" marL="0">
              <a:buNone/>
            </a:pPr>
            <a:r>
              <a:rPr lang="en-US" sz="105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Discover→Permission→Validate→Execute→Result→Persist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41080" y="347472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成功率 &gt;99.5%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4526280"/>
            <a:ext cx="6400800" cy="123444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46634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Parse &gt;98% · 幻觉拦截 &gt;60% · 执行 &gt;99.5% · P99 &lt;5s · 权限检查 &lt;5ms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4526280"/>
            <a:ext cx="3931920" cy="12344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6634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Mini-Lab 预告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注册自定义 tool · 改权限策略触发 Ask-first · 连接 MCP server 发起 tools/list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03 S2 Tool Governance</dc:title>
  <dc:subject>PptxGenJS Presentation</dc:subject>
  <dc:creator>Harness Engineering</dc:creator>
  <cp:lastModifiedBy>Harness Engineering</cp:lastModifiedBy>
  <cp:revision>1</cp:revision>
  <dcterms:created xsi:type="dcterms:W3CDTF">2026-06-03T06:18:53Z</dcterms:created>
  <dcterms:modified xsi:type="dcterms:W3CDTF">2026-06-03T06:18:53Z</dcterms:modified>
</cp:coreProperties>
</file>