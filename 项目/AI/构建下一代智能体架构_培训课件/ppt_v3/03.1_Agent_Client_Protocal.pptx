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Client Protocol (ACP)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79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IDE 与 AI 编程 Agent 说同一种语言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AC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  |  JetBrains  |  Kiro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Talk |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解决什么问题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2E3B4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3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Agent 有不同 API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集成成本 N × M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会话管理各自为政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权限控制无标准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流式输出格式不统一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2E3B4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1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ACP 方案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 Client ↔ Agent 接口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标准化会话生命周期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内建权限审批机制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结构化流式推送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可扩展 Capability 协商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= Client(IDE/Gateway) ↔ Agent(AI) 的统一接口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通信模型：JSON-RPC 2.0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2E3B4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请求-响应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期望 result 或 error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2E3B4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2074D5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7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单向消息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无需响应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2E3B4E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1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未绑定传输层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/ WS / HTTP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基于成熟的 JSON-RPC 2.0 规范，解析简单、生态工具丰富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典型消息流程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280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194560" y="1554480"/>
            <a:ext cx="1188720" cy="0"/>
          </a:xfrm>
          <a:prstGeom prst="line">
            <a:avLst/>
          </a:prstGeom>
          <a:noFill/>
          <a:ln w="19050">
            <a:solidFill>
              <a:srgbClr val="879596"/>
            </a:solidFill>
            <a:prstDash val="dash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2377440" cy="1828800"/>
          </a:xfrm>
          <a:prstGeom prst="roundRect">
            <a:avLst>
              <a:gd name="adj" fmla="val 3000"/>
            </a:avLst>
          </a:prstGeom>
          <a:solidFill>
            <a:srgbClr val="2E3B4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280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20640" y="1554480"/>
            <a:ext cx="1188720" cy="0"/>
          </a:xfrm>
          <a:prstGeom prst="line">
            <a:avLst/>
          </a:prstGeom>
          <a:noFill/>
          <a:ln w="19050">
            <a:solidFill>
              <a:srgbClr val="879596"/>
            </a:solidFill>
            <a:prstDash val="dash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356616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Setup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2560320"/>
            <a:ext cx="2377440" cy="1828800"/>
          </a:xfrm>
          <a:prstGeom prst="roundRect">
            <a:avLst>
              <a:gd name="adj" fmla="val 3000"/>
            </a:avLst>
          </a:prstGeom>
          <a:solidFill>
            <a:srgbClr val="2E3B4E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session/new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1280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Turn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2560320"/>
            <a:ext cx="2377440" cy="1828800"/>
          </a:xfrm>
          <a:prstGeom prst="roundRect">
            <a:avLst>
              <a:gd name="adj" fmla="val 3000"/>
            </a:avLst>
          </a:prstGeom>
          <a:solidFill>
            <a:srgbClr val="2E3B4E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update* → response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Agent 方向为主，Agent 通过 Notification 推送状态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(Server) 端方法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2E3B4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188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(必选)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    authenticate    session/new    session/prompt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2E3B4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560320"/>
            <a:ext cx="73152" cy="1188720"/>
          </a:xfrm>
          <a:prstGeom prst="rect">
            <a:avLst/>
          </a:prstGeom>
          <a:solidFill>
            <a:srgbClr val="2074D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7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(按需)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session/load (需 loadSession capability)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(需 auth.logout capability)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session/set_mode (切换运行模式)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2E3B4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87959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79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(通知)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session/cancel — Client 发送中断请求，Agent 停止处理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(IDE) 端方法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01168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2E3B4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唯一必选方法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session/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request_permission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请求用户授权 Agent 的工具调用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反向调用此方法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等待用户在 IDE 中 Approve / Deny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2E3B4E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7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方法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19202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文件操作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fs/read_text_file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fs/write_text_file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终端操作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terminal/create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terminal/wait_for_exit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terminal/kill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terminal/release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session/update — 流式推送机制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371600" cy="457200"/>
          </a:xfrm>
          <a:prstGeom prst="roundRect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1280160"/>
            <a:ext cx="1371600" cy="457200"/>
          </a:xfrm>
          <a:prstGeom prst="roundRect">
            <a:avLst/>
          </a:prstGeom>
          <a:solidFill>
            <a:srgbClr val="2074D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2011680"/>
            <a:ext cx="4389120" cy="0"/>
          </a:xfrm>
          <a:prstGeom prst="line">
            <a:avLst/>
          </a:prstGeom>
          <a:noFill/>
          <a:ln w="19050">
            <a:solidFill>
              <a:srgbClr val="879596"/>
            </a:solidFill>
            <a:prstDash val="solid"/>
            <a:tailEnd type="arrow"/>
          </a:ln>
        </p:spPr>
      </p:sp>
      <p:sp>
        <p:nvSpPr>
          <p:cNvPr id="7" name="Text 5"/>
          <p:cNvSpPr/>
          <p:nvPr/>
        </p:nvSpPr>
        <p:spPr>
          <a:xfrm>
            <a:off x="27432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 chunks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过程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2560320"/>
            <a:ext cx="438912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274320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工具调用请求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3108960"/>
            <a:ext cx="4389120" cy="0"/>
          </a:xfrm>
          <a:prstGeom prst="line">
            <a:avLst/>
          </a:prstGeom>
          <a:noFill/>
          <a:ln w="19050">
            <a:solidFill>
              <a:srgbClr val="FFAC31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27432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C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tool_update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工具执行结果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3657600"/>
            <a:ext cx="4389120" cy="0"/>
          </a:xfrm>
          <a:prstGeom prst="line">
            <a:avLst/>
          </a:prstGeom>
          <a:noFill/>
          <a:ln w="19050">
            <a:solidFill>
              <a:srgbClr val="1D8102"/>
            </a:solidFill>
            <a:prstDash val="solid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274320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81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message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生成回复片段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4206240"/>
            <a:ext cx="4389120" cy="0"/>
          </a:xfrm>
          <a:prstGeom prst="line">
            <a:avLst/>
          </a:prstGeom>
          <a:noFill/>
          <a:ln w="19050">
            <a:solidFill>
              <a:srgbClr val="2074D5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27432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74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/ mode_change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 / 模式变更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模式：单向推送，无需 Client 确认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权限审批：request_permission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56032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645920" cy="1097280"/>
          </a:xfrm>
          <a:prstGeom prst="roundRect">
            <a:avLst/>
          </a:prstGeom>
          <a:solidFill>
            <a:srgbClr val="2E3B4E"/>
          </a:solidFill>
          <a:ln w="19050">
            <a:solidFill>
              <a:srgbClr val="FF99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(需执行工具)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2560320"/>
            <a:ext cx="11887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20116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request_permission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2011680"/>
            <a:ext cx="1645920" cy="1097280"/>
          </a:xfrm>
          <a:prstGeom prst="roundRect">
            <a:avLst/>
          </a:prstGeom>
          <a:solidFill>
            <a:srgbClr val="2E3B4E"/>
          </a:solidFill>
          <a:ln w="19050">
            <a:solidFill>
              <a:srgbClr val="2074D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(弹出审批)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2560320"/>
            <a:ext cx="1188720" cy="0"/>
          </a:xfrm>
          <a:prstGeom prst="line">
            <a:avLst/>
          </a:prstGeom>
          <a:noFill/>
          <a:ln w="25400">
            <a:solidFill>
              <a:srgbClr val="2074D5"/>
            </a:solidFill>
            <a:prstDash val="solid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1645920" cy="1097280"/>
          </a:xfrm>
          <a:prstGeom prst="roundRect">
            <a:avLst/>
          </a:prstGeom>
          <a:solidFill>
            <a:srgbClr val="2E3B4E"/>
          </a:solidFill>
          <a:ln w="19050">
            <a:solidFill>
              <a:srgbClr val="1D810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用户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Deny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3474720"/>
            <a:ext cx="5212080" cy="0"/>
          </a:xfrm>
          <a:prstGeom prst="line">
            <a:avLst/>
          </a:prstGeom>
          <a:noFill/>
          <a:ln w="19050">
            <a:solidFill>
              <a:srgbClr val="1D8102"/>
            </a:solidFill>
            <a:prstDash val="dash"/>
            <a:headEnd type="arrow"/>
          </a:ln>
        </p:spPr>
      </p:sp>
      <p:sp>
        <p:nvSpPr>
          <p:cNvPr id="11" name="Text 9"/>
          <p:cNvSpPr/>
          <p:nvPr/>
        </p:nvSpPr>
        <p:spPr>
          <a:xfrm>
            <a:off x="320040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81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(granted / denied)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2E3B4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148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同步阻塞：Agent 等待 Client 响应后才继续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粒度：每个 tool call 级别单独审批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方向反转：Agent → Client（与大多数方法相反）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/ 前端集成优势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2E3B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一套接口接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多个 Agent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2E3B4E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协商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初始化时协商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动态适配 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2E3B4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结构化流式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thought/tool/msg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分区渲染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2E3B4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内建权限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统一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拦截与审批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301752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2E3B4E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new/load/cancel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开箱即用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2E3B4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_meta + _前缀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自定义方法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注意事项与局限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5714"/>
            </a:avLst>
          </a:prstGeom>
          <a:solidFill>
            <a:srgbClr val="2E3B4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6400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场景局限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143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 IDE/代码场景，通用 AI 助手需额外适配层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40080"/>
          </a:xfrm>
          <a:prstGeom prst="roundRect">
            <a:avLst>
              <a:gd name="adj" fmla="val 5714"/>
            </a:avLst>
          </a:prstGeom>
          <a:solidFill>
            <a:srgbClr val="2E3B4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54864" cy="6400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928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部署模型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18928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 Agent 为本地子进程，不适合云端多租户分布式架构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8229600" cy="640080"/>
          </a:xfrm>
          <a:prstGeom prst="roundRect">
            <a:avLst>
              <a:gd name="adj" fmla="val 5714"/>
            </a:avLst>
          </a:prstGeom>
          <a:solidFill>
            <a:srgbClr val="2E3B4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6400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4261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同步审批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64261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request_permission 阻塞 Agent 进程，无批量/规则授权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229600" cy="640080"/>
          </a:xfrm>
          <a:prstGeom prst="roundRect">
            <a:avLst>
              <a:gd name="adj" fmla="val 5714"/>
            </a:avLst>
          </a:prstGeom>
          <a:solidFill>
            <a:srgbClr val="2E3B4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46704"/>
            <a:ext cx="54864" cy="6400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924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消息可靠性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339242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无确认无重传，网络不稳定需自建可靠层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640080"/>
          </a:xfrm>
          <a:prstGeom prst="roundRect">
            <a:avLst>
              <a:gd name="adj" fmla="val 5714"/>
            </a:avLst>
          </a:prstGeom>
          <a:solidFill>
            <a:srgbClr val="2E3B4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96512"/>
            <a:ext cx="54864" cy="6400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422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协议成熟度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41422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仍在演进，可能有 breaking changes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ACP 时需结合具体场景评估是否需要扩展或补充其他协议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vs MCP vs A2A 定位对比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56032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2E3B4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7772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↔ Agent 交互层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2E3B4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77724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1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↔ Agent 协作层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2E3B4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2074D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7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↔ Tool/Data 工具层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协议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核心问题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发起方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3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IDE/前端 ↔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3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Zed/JetBrains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74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3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↔ 工具/数据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3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81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3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↔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3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795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2E3B4E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206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三者互补，非互斥：编程 Agent 用 ACP 对接前端，用 MCP 连接工具，用 A2A 与其他 Agent 协作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总结与建议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 Agent 对接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280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79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7315200" cy="0"/>
          </a:xfrm>
          <a:prstGeom prst="line">
            <a:avLst/>
          </a:prstGeom>
          <a:noFill/>
          <a:ln w="6350">
            <a:solidFill>
              <a:srgbClr val="374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工具能力扩展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79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7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2971800"/>
            <a:ext cx="7315200" cy="0"/>
          </a:xfrm>
          <a:prstGeom prst="line">
            <a:avLst/>
          </a:prstGeom>
          <a:noFill/>
          <a:ln w="6350">
            <a:solidFill>
              <a:srgbClr val="3747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协作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79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81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4400" y="3886200"/>
            <a:ext cx="7315200" cy="0"/>
          </a:xfrm>
          <a:prstGeom prst="line">
            <a:avLst/>
          </a:prstGeom>
          <a:noFill/>
          <a:ln w="6350">
            <a:solidFill>
              <a:srgbClr val="374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23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实践中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4023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79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4023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组合使用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agentclientprotocol.com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2026-06-05T05:15:04Z</dcterms:created>
  <dcterms:modified xsi:type="dcterms:W3CDTF">2026-06-05T05:15:04Z</dcterms:modified>
</cp:coreProperties>
</file>