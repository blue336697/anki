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0000"/>
  </p:normalViewPr>
  <p:slideViewPr>
    <p:cSldViewPr snapToGrid="0" snapToObjects="1">
      <p:cViewPr varScale="1">
        <p:scale>
          <a:sx n="101" d="100"/>
          <a:sy n="101" d="100"/>
        </p:scale>
        <p:origin x="1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797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开场不要急着讲技术。先问观众一个问题：“你们有没有遇到过，Agent 犯了一个错误，然后在同一个 session 里又犯了完全相同的错误？”停顿等几个人点头。“这就是没有 feedback loop 的后果。今天我们解决这个问题。”语气要让人感到这是课程从“能跑”到“能用”的转折点。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强调“entropy”这个词。传统 Web 应用的 entropy 很低——用户点按钮，后端执行固定逻辑。Agent 的 entropy 极高——同一个任务，它可能走 3 条完全不同的路径，每条路径都可能是对的。这种不确定性决定了我们不能用传统的 monitoring 思维来做 Agent 的反馈系统。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讲灾难 1 时即兴演一下用户的挫败感：“哥们，我刚才不是告诉你了吗？用 v2 的 API 格式！”讲灾难 2 时问观众：“你们团队 debug 一个 production issue 平均要多久？”讲灾难 3 时强调 silent degradation——最可怕的不是系统挂了，是系统慢慢变差但没人知道。用这三个场景建立紧迫感后，自然过渡到解决方案。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特别强调“delegate to model, NOT wrap”这个设计哲学。很多团队的第一反应是在 harness 层做 context 的 summarization 或 compression——不要这样做。模型在处理自己的 working memory 方面比你写的任何 heuristic 都强。Harness 的价值在于：决定什么信息送进 context window，以及管理那些超出 context window 容量的长期记忆。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画一个时序图来解释一次完整的 turn 中 memory 的流动。强调这不是“保存/加载”这么简单——是一个有选择性的、有优先级的信息流。问观众：“如果用户上次 session 提到他喜欢用 TypeScript，这个信息应该在哪一层？什么时候被检索出来？”答案：Long-term → 通过 hybrid retrieval 在相关 turn 被检索出来注入 context。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用一个具体例子：“假设用户说‘我这个项目用的是 Next.js 14，别给我 pages router 的代码’。Agent 应该怎么做？1）记住这是 project 类型的记忆，2）content 是 ‘Next.js 14, App Router only’，3）confidence 是 0.95（用户明确说的），4）生命周期跟项目走。下次用户问任何前端问题，这条记忆就会被检索出来注入 context。”这就是从“每次都要重复说”到“说一次就够”的转变。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 confidence gating 的意义：没有它，Agent 会把每一条对话都当成“值得记住的”，memory 会迅速膨胀，检索质量下降。这是 signal-to-noise ratio 的问题。然后讲 user control——这不只是 nice-to-have，在很多场景下是法律要求。问观众：“如果 Agent 错误地记住了‘用户不喜欢测试’，后果是什么？”答：以后永远不主动写测试，用户都不知道为什么。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 S3 和 S4 的交叉点。S3 定义了“memory poisoning 是什么、怎么防”，S4 实现“怎么检测”。类比：S3 是安全策略（“什么是可疑的”），S4 是安全运营（“实时监控发现可疑活动”）。Confidence decay 的设计很精妙——它让旧记忆自然“褪色”，如果没有被重新确认，最终会被 prune 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走一个完整例子：“假设用户这周有 5 个 coding session。Orient 阶段提取出：session 1 写了 React 组件，session 2 修了 bug，session 3 用户说‘以后别用 class component’，session 4 做了 API 集成，session 5 做了重构。Gather 阶段抽出：偏好=‘functional components only’，项目信息=‘已完成 API 集成’，教训=‘重构时要先跑测试’。Consolidate 阶段写入 memory。Prune 阶段发现之前有一条‘项目还没开始 API 集成’的旧记忆，删掉它。”这个流程使记忆保持当前和有用。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 slide 是给那些觉得“记忆多总比记忆少好”的人看的。核心信息：记忆系统的价值不在于“记住多少”，而在于“能准确找到多少”。一个有 5000 条未整理记忆的系统，不如一个有 200 条精心整理的记忆系统。这和你的搜索引擎一样——Google 不是因为索引了最多页面而好用，是因为它能从海量结果中准确找到你要的那一条。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为什么要 hybrid 而不是纯 semantic？举个例子：用户问“怎么配置 ESLint”。纯 semantic 可能把“代码质量工具配置”相关的记忆都拉出来（Prettier、TSConfig 等），噪音很大。加了 keyword “ESLint”，就能精确命中。反过来，如果用户问“上次那个格式化的问题怎么解决的”，纯 keyword 可能匹配不到，但 semantic 能找到之前关于 ESLint 的 session。两者互补。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强调这个优先级不是随便定的——是根据“如果缺少这条信息，Agent 犯错的概率有多高”来排序的。user_profile 排第一，因为如果 Agent 不知道用户的基本偏好，每一次回答都可能方向错误。这里可以回顾 S1 的 context budget 概念——memory 的 30K 是整体 budget 的一部分，不是独立的。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这个讨论是承上启下——上半场讲了 Memory（Remember + Inject），下半场要讲 Observability（Observe + Collect）和 Evaluation（Evaluate）。让学员在这里停下来反思自己的系统。大多数团队会说“我们有 log 但不怎么看”或“我们没有评估标准”。这些答案恰好引出下半场的内容。控制在 4-5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问观众：“你们现在的 Agent 系统有几根支柱？”大多数团队有 logs（虽然可能是 print 语句），少数有 metrics，极少有 traces。强调 structured log 的重要性——print("tool called: xxx") 在 debug 时毫无用处，因为你无法 grep、无法聚合、无法关联。每一条 log 都应该是一个 JSON object，带有 trace_id 可以串联整个请求链路。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不要逐个念指标，而是分组讲解逻辑。“Task 维度回答：用户的事儿办成了吗？花了多少？Loop 维度回答：Agent 内部运转正常吗？有没有在空转？System 维度回答：基础设施层面有没有问题？”特别解释 token_io_ratio——如果这个比值突然变大，说明 Agent 在大量“思考”但产出很少，可能陷入了某种循环。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这里故意展示完整的 trace 结构——因为很多人对“Agent tracing”的理解停留在概念层。看到实际数据你会发现：一个 45 秒的 session 里有 2 个 turn，每个 turn 有 2-3 次 LLM 推理和 1-2 次工具调用。trace 让你看到每一步花了多长时间、输入是什么、输出是什么。回到灾难场景 2：“团队花了 3 天 debug”——如果有 trace，点开 → 看到第 3 个 Turn 出错 → 看到 Agent 选了错误的 Tool → 看到参数传错了。3 天变 3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 Level 4 时语气要严肃：“如果你的 Agent 试图执行 rm -rf 或者尝试访问 sandbox 之外的文件系统，这不是发个 Slack 通知就够的——需要立即停止执行并通知安全团队。”然后讲 LangChain 的数据：89% 的人说“我能看到 Agent 在做什么”，但只有 52% 的人说“我知道它做得好不好”。看到了不等于理解了。这 37% 的 gap 就是为什么我们需要 Evaluation。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很多团队只做 step-level（工具调用成功率）。这就像只看运动员每个动作标不标准，不看比赛结果。一个球员可以每个动作都标准，战术执行也没偏差，但如果教练的策略本身是错的，比赛还是输。所以三级评估都要做——而且 task-level 的权重应该最高。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LLM-as-Judge 的关键不是“用 LLM 打分”——而是 rubric 的设计。如果你的 rubric 是“评价这个回答好不好”，结果会非常不稳定。但如果你拆解为 4 个明确维度、每个维度有 1-5 的具体定义，一致性会大幅提升。Anti-bias 很重要——用 Claude 评估 Claude 的输出会有“自我认同”偏差。最佳实践：用不同模型做 judge。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校准是 LLM-as-Judge 系统的命门。如果你不做校准就直接用 LLM 打分，你甚至不知道分数是否可信。50 个 gold standard cases 不多——花一个下午让团队人工标注就够了。然后定期检查 Cohen's Kappa——如果低于 0.6，说明你的 rubric 有歧义，LLM 的理解和人类不一致。这是一个迭代过程。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回到灾难场景 3：“3 个月内质量下降 20%，没人注意到”。如果有 drift detection，第一周就会触发告警。为什么单指标不够？因为每次变化可能只有 1-2%——在正常波动范围内。但如果你看 7 天滑动窗口，5 个指标同时下降 1-2%——这不是巧合，是 drift。Distribution shift 是最早的信号——Agent 的行为模式先变化，然后质量才下降。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这个案例来源于真实事件的模式总结。模型提供方的 minor update 不会通知你——但它可能微妙地改变了模型的工具调用行为。如果你没有 drift detection，这种退化会一直持续直到用户投诉到你无法忽视。关键 takeaway：先行指标比滞后指标更有价值。tool_call_count 变了 = 模型的决策逻辑变了 = 迟早影响成功率。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强调“频率与成本的反向关系”——和传统软件测试的 test pyramid 类似。Step-level 可以用规则做（便宜），但 end-to-end 需要实际跑 Agent（贵）。A/B testing 的 30 samples minimum 是一个实用数字——不要因为“统计学课本说要 1000 samples”就不做 A/B，30 个足以发现方向性问题。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关于权重，可以引发讨论：“你们觉得在你们的场景下，这四个权重应该怎么调？”比如内部工具 cost 不重要 → 0.4/0.3/0.3/0；面向消费者的产品体验至上 → 0.5/0.2/0.2/0.1。关于 User Feedback，隐式信号是金矿——如果用户执行了 undo，这比他点 thumbs down 更真实。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这是整个 module 的“aha moment”。慢慢讲，走一遍完整的闭环。“想象一下：Agent 犯了一个错，这个错误被 Observe 到了，被 Evaluate 为负面，被 Remember 为教训，下次被 Inject 进 context 作为‘不要这样做’的约束。这就是从‘犯 5 次同一个错’到‘犯 1 次就学会’的区别。”然后点明：“注意最后一步 Inject 回到了 S1——Context Engineering。我们的五个系统不是线性的，是一个环。”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这些 meta-metrics 可能是最被忽视的。大家会监控 Agent 的性能指标，但很少监控“反馈系统本身是否有效”。Repeat Error Rate 是最直接的指标——如果 Agent 在不同 session 中犯同样的错，说明你的闭环不工作。这就像一个学生考试犯了同样的错两次——不是他笨，是他的“学习系统”有问题。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S4 是整个系统的“神经系统”——它从所有其他系统收集信号，处理后反馈给需要的系统。没有 S4，其他四个系统就是各自独立运转的模块；有了 S4，它们才成为一个有机的整体。这也是为什么 S4 在架构图中处于“中间层”——它连接上层的运行时三件套（S1/S2/S3）和下层的控制面（S5）。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总结时不要只是复述内容。用一句话收束：“如果你只记住一件事，记住这个：Agent 系统的竞争优势不在于单次对话多聪明，而在于它能不能从每一次对话中变得更聪明。这就是 Feedback Loop 的价值。”然后预告 S5：“下一个模块是控制面——S5 熵管理。如果说 S4 是‘感知和学习’，S5 就是‘决策和行动’——基于 S4 提供的信号，S5 决定什么时候继续、什么时候停止、什么时候重试、什么时候升级。”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02920" cy="146304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S4 · FEEDBACK &amp; STATE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反馈与状态系统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66928" y="2697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CE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 Demo 变成 Product 的关键闭环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6928" y="3200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C9A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“Feedback loop is what separates demos from products.”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3794760"/>
            <a:ext cx="5669280" cy="0"/>
          </a:xfrm>
          <a:prstGeom prst="line">
            <a:avLst/>
          </a:prstGeom>
          <a:noFill/>
          <a:ln w="12700">
            <a:solidFill>
              <a:srgbClr val="47525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566928" y="397764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S1 给大脑（Context）· S2 给手脚（Tools）· S3 给纪律（Security）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S4 = 它怎么“记住”走过的路？怎么知道走得好不好？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五步闭环：Observe → Collect → Evaluate → Remember → Inject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0" y="6126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6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80 min  ·  28 slides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ANCHOR · 传统反馈 VS AGENT 反馈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范式转移 — 被动记录 vs 主动学习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05 S4 · Feedback &amp; State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/ 28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554480"/>
          <a:ext cx="10515600" cy="27432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维度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传统系统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Agent 系统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行为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预定义路径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动态生成（每次不同）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日志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被动记录（事后验尸）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主动学习（实时闭环）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评估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确定性对比 same in/out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非确定性 judgment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反馈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人工分析后改代码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Agent 自动积累经验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状态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数据库中的显式 state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分布在 context+memory+trace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4572000"/>
            <a:ext cx="3291840" cy="91440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" name="Text 7"/>
          <p:cNvSpPr/>
          <p:nvPr/>
        </p:nvSpPr>
        <p:spPr>
          <a:xfrm>
            <a:off x="978408" y="469087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行为不确定性</a:t>
            </a:r>
            <a:endParaRPr lang="en-US" sz="13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同任务多路径，皆可能对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79976" y="4572000"/>
            <a:ext cx="3291840" cy="91440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2" name="Text 9"/>
          <p:cNvSpPr/>
          <p:nvPr/>
        </p:nvSpPr>
        <p:spPr>
          <a:xfrm>
            <a:off x="4517136" y="469087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质量不确定性</a:t>
            </a:r>
            <a:endParaRPr lang="en-US" sz="13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无法 assert，需 judgment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918704" y="4572000"/>
            <a:ext cx="3291840" cy="91440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" name="Text 11"/>
          <p:cNvSpPr/>
          <p:nvPr/>
        </p:nvSpPr>
        <p:spPr>
          <a:xfrm>
            <a:off x="8055864" y="469087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退化不确定性</a:t>
            </a:r>
            <a:endParaRPr lang="en-US" sz="13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模型/prompt 变化 → 静默下滑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41248" y="5623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结论：反馈系统不是“锦上添花”，是 Agent 系统的核心基础设施。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灾难场景 · 没有反馈的死法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三种灾难 — 恰好对应本模块三个主题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05 S4 · Feedback &amp; State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/ 28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3291840" cy="50292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978408" y="1600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灾难 1 · 重复犯错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2103120"/>
            <a:ext cx="3291840" cy="169164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1005840" y="2212848"/>
            <a:ext cx="30175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连续 5 次同一 API 错误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用户：第 3 次开始骂，第 5 次关 tab</a:t>
            </a:r>
            <a:endParaRPr lang="en-US" sz="115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 Memory → Part 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79976" y="1600200"/>
            <a:ext cx="3291840" cy="50292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4517136" y="1600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灾难 2 · 黑箱 debug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79976" y="2103120"/>
            <a:ext cx="3291840" cy="169164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4544568" y="2212848"/>
            <a:ext cx="30175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选错 Tool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工程师 × 3 天 ≈ $15K</a:t>
            </a:r>
            <a:endParaRPr lang="en-US" sz="115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 Trace → Part B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18704" y="1600200"/>
            <a:ext cx="3291840" cy="502920"/>
          </a:xfrm>
          <a:prstGeom prst="rect">
            <a:avLst/>
          </a:prstGeom>
          <a:solidFill>
            <a:srgbClr val="C0631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8055864" y="1600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灾难 3 · 静默退化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18704" y="2103120"/>
            <a:ext cx="3291840" cy="169164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8083296" y="2212848"/>
            <a:ext cx="30175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个月内质量下降 20%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无人察觉直到 churn 报警</a:t>
            </a:r>
            <a:endParaRPr lang="en-US" sz="115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C063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 Eval → Part C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41248" y="4023360"/>
            <a:ext cx="10515600" cy="86868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841248" y="402336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三个灾难 = 三个主题：Memory · Observability · Evaluation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1248" y="5074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最可怕的不是系统挂了，是系统慢慢变差但没人知道。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MEMORY · 三层架构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Working / Short-term / Long-term — Harness 管后两层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05 S4 · Feedback &amp; State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/ 28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3048" y="1600200"/>
            <a:ext cx="4572000" cy="777240"/>
          </a:xfrm>
          <a:prstGeom prst="rect">
            <a:avLst/>
          </a:prstGeom>
          <a:solidFill>
            <a:srgbClr val="5F6B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3950208" y="1673352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Working Memory = LLM Context Window</a:t>
            </a:r>
            <a:endParaRPr lang="en-US" sz="1300" dirty="0"/>
          </a:p>
          <a:p>
            <a:pPr marL="0" indent="0" algn="ctr">
              <a:spcBef>
                <a:spcPts val="300"/>
              </a:spcBef>
              <a:buNone/>
            </a:pPr>
            <a:r>
              <a:rPr lang="en-US" sz="10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容量 128K-200K · 单次推理 · Model's domain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76488" y="16002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Model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27248" y="2514600"/>
            <a:ext cx="5943600" cy="777240"/>
          </a:xfrm>
          <a:prstGeom prst="rect">
            <a:avLst/>
          </a:prstGeom>
          <a:solidFill>
            <a:srgbClr val="146EB4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3264408" y="2587752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Short-term Memory = Session State</a:t>
            </a:r>
            <a:endParaRPr lang="en-US" sz="1300" dirty="0"/>
          </a:p>
          <a:p>
            <a:pPr marL="0" indent="0" algn="ctr">
              <a:spcBef>
                <a:spcPts val="300"/>
              </a:spcBef>
              <a:buNone/>
            </a:pPr>
            <a:r>
              <a:rPr lang="en-US" sz="10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JSONL append-only · 数小时-数周 · 跨 turn 延续 / 恢复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62288" y="25146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6E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41448" y="3429000"/>
            <a:ext cx="7315200" cy="77724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2578608" y="3502152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Long-term Memory = Persistent Knowledge</a:t>
            </a:r>
            <a:endParaRPr lang="en-US" sz="1300" dirty="0"/>
          </a:p>
          <a:p>
            <a:pPr marL="0" indent="0" algn="ctr">
              <a:spcBef>
                <a:spcPts val="300"/>
              </a:spcBef>
              <a:buNone/>
            </a:pPr>
            <a:r>
              <a:rPr lang="en-US" sz="10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MEMORY.md + Embedding Index · 数月-数年 · 偏好 / 项目知识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848088" y="34290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41248" y="4572000"/>
            <a:ext cx="10515600" cy="123444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1024128" y="4709160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关键设计哲学：</a:t>
            </a:r>
            <a:endParaRPr lang="en-US" sz="14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delegate to model, NOT wrap — 不要在 harness 层做 context summarization/compression。模型处理自己的 working memory 比任何 heuristic 都强。Harness 价值：决定送什么进去，管理超出窗口的长期记忆。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MEMORY · 数据流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信息流动 — 读取 Bottom-up，写入 Top-down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05 S4 · Feedback &amp; State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/ 28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6400800" cy="2468880"/>
          </a:xfrm>
          <a:prstGeom prst="rect">
            <a:avLst/>
          </a:prstGeom>
          <a:solidFill>
            <a:srgbClr val="1B253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1024128" y="1709928"/>
            <a:ext cx="603504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99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每次 Turn 的完整流程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1. Long-term 检索相关记忆 (hybrid, &lt;100ms)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2. 加载 Short-term 中的 session context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3. 组装为 Working Memory 送入模型 (S1)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4. 模型输出后，更新 Short-term (sync, append)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5. 满足条件触发 consolidation → Long-term (async)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0" y="1600200"/>
            <a:ext cx="3840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设计原则</a:t>
            </a:r>
            <a:endParaRPr lang="en-US" sz="13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读取要快 (&lt;100ms) — 直接影响用户感知延迟</a:t>
            </a:r>
            <a:endParaRPr lang="en-US" sz="13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写入可异步 — 不 block 当前 turn</a:t>
            </a:r>
            <a:endParaRPr lang="en-US" sz="13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读优先于写 — 资源竞争时永远保检索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" y="4297680"/>
            <a:ext cx="5074920" cy="1280160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1005840" y="44348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⬆ Retrieve &amp; Inject</a:t>
            </a:r>
            <a:endParaRPr lang="en-US" sz="14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Long → Short → Working</a:t>
            </a:r>
            <a:endParaRPr lang="en-US" sz="14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&lt;100ms 同步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81928" y="4297680"/>
            <a:ext cx="5074920" cy="1280160"/>
          </a:xfrm>
          <a:prstGeom prst="rect">
            <a:avLst/>
          </a:prstGeom>
          <a:solidFill>
            <a:srgbClr val="146EB4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6446520" y="44348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⬇ Log &amp; Consolidate</a:t>
            </a:r>
            <a:endParaRPr lang="en-US" sz="14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Working → Short → Long</a:t>
            </a:r>
            <a:endParaRPr lang="en-US" sz="14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异步，不阻塞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MEMORY · 主动学习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决定什么值得记住 — 5 种记忆类型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05 S4 · Feedback &amp; State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/ 28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600200"/>
          <a:ext cx="10515600" cy="30175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类型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示例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生命周期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触发条件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46EB4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user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“偏好 TypeScript + Vim”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永久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用户明确说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project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“本项目 monorepo + pnpm”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项目生命周期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代码/配置推断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D1321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feedback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“不要用 semicolons”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6 个月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用户纠正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reference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“内部 API v2 endpoint”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永久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用户分享文档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5F6B7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episodic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“今天 debug CORS”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30 天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session 结束总结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4617720"/>
            <a:ext cx="10515600" cy="1188720"/>
          </a:xfrm>
          <a:prstGeom prst="rect">
            <a:avLst/>
          </a:prstGeom>
          <a:solidFill>
            <a:srgbClr val="1B253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" name="Text 7"/>
          <p:cNvSpPr/>
          <p:nvPr/>
        </p:nvSpPr>
        <p:spPr>
          <a:xfrm>
            <a:off x="1024128" y="4727448"/>
            <a:ext cx="1014984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5DBD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"type": "user|project|feedback|reference|episodic",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"content": "string",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"tags": ["string"],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"confidence": 0.0-1.0,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"expiry": "Duration | null",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A33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"source": "user_explicit|agent_inferred|consolidation"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5DBD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MEMORY · CONFIDENCE GATING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置信度门控与用户最终控制权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05 S4 · Feedback &amp; State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 / 28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1325880" cy="86868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841248" y="169164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&lt; 0.5</a:t>
            </a:r>
            <a:endParaRPr lang="en-US" sz="1300" dirty="0"/>
          </a:p>
          <a:p>
            <a:pPr marL="0" indent="0" algn="ctr">
              <a:spcBef>
                <a:spcPts val="300"/>
              </a:spcBef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阻止写入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58568" y="1600200"/>
            <a:ext cx="1325880" cy="868680"/>
          </a:xfrm>
          <a:prstGeom prst="rect">
            <a:avLst/>
          </a:prstGeom>
          <a:solidFill>
            <a:srgbClr val="E0A0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2258568" y="169164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0.5-0.7</a:t>
            </a:r>
            <a:endParaRPr lang="en-US" sz="1300" dirty="0"/>
          </a:p>
          <a:p>
            <a:pPr marL="0" indent="0" algn="ctr">
              <a:spcBef>
                <a:spcPts val="300"/>
              </a:spcBef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标记待验证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75888" y="1600200"/>
            <a:ext cx="1325880" cy="868680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3675888" y="169164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0.7-0.9</a:t>
            </a:r>
            <a:endParaRPr lang="en-US" sz="1300" dirty="0"/>
          </a:p>
          <a:p>
            <a:pPr marL="0" indent="0" algn="ctr">
              <a:spcBef>
                <a:spcPts val="300"/>
              </a:spcBef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正常写入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93208" y="1600200"/>
            <a:ext cx="1325880" cy="868680"/>
          </a:xfrm>
          <a:prstGeom prst="rect">
            <a:avLst/>
          </a:prstGeom>
          <a:solidFill>
            <a:srgbClr val="146EB4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5093208" y="169164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&gt; 0.9</a:t>
            </a:r>
            <a:endParaRPr lang="en-US" sz="1300" dirty="0"/>
          </a:p>
          <a:p>
            <a:pPr marL="0" indent="0" algn="ctr">
              <a:spcBef>
                <a:spcPts val="300"/>
              </a:spcBef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延长保留期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" y="260604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 → confidence：用户明确(0.95) &gt; 行为推断(0.8) &gt; Agent 总结(0.7) &gt; 外部数据(0.5)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41248" y="306324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User Control（5 项必备）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41248" y="3429000"/>
            <a:ext cx="5852160" cy="32004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9" name="Shape 17"/>
          <p:cNvSpPr/>
          <p:nvPr/>
        </p:nvSpPr>
        <p:spPr>
          <a:xfrm>
            <a:off x="841248" y="3429000"/>
            <a:ext cx="73152" cy="32004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987552" y="342900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查看：浏览所有已存记忆（/memory 命令）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41248" y="3813048"/>
            <a:ext cx="5852160" cy="32004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2" name="Shape 20"/>
          <p:cNvSpPr/>
          <p:nvPr/>
        </p:nvSpPr>
        <p:spPr>
          <a:xfrm>
            <a:off x="841248" y="3813048"/>
            <a:ext cx="73152" cy="32004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987552" y="381304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审批：敏感记忆需用户确认才写入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41248" y="4197096"/>
            <a:ext cx="5852160" cy="32004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5" name="Shape 23"/>
          <p:cNvSpPr/>
          <p:nvPr/>
        </p:nvSpPr>
        <p:spPr>
          <a:xfrm>
            <a:off x="841248" y="4197096"/>
            <a:ext cx="73152" cy="32004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987552" y="4197096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删除：随时可删（GDPR right to be forgotten）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41248" y="4581144"/>
            <a:ext cx="5852160" cy="32004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8" name="Shape 26"/>
          <p:cNvSpPr/>
          <p:nvPr/>
        </p:nvSpPr>
        <p:spPr>
          <a:xfrm>
            <a:off x="841248" y="4581144"/>
            <a:ext cx="73152" cy="32004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987552" y="4581144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修正：用户可编辑记忆内容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41248" y="4965192"/>
            <a:ext cx="5852160" cy="32004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1" name="Shape 29"/>
          <p:cNvSpPr/>
          <p:nvPr/>
        </p:nvSpPr>
        <p:spPr>
          <a:xfrm>
            <a:off x="841248" y="4965192"/>
            <a:ext cx="73152" cy="32004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2" name="Text 30"/>
          <p:cNvSpPr/>
          <p:nvPr/>
        </p:nvSpPr>
        <p:spPr>
          <a:xfrm>
            <a:off x="987552" y="496519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透明存储：可见的文本文件，非黑箱 DB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949440" y="1600200"/>
            <a:ext cx="4389120" cy="41148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4" name="Text 32"/>
          <p:cNvSpPr/>
          <p:nvPr/>
        </p:nvSpPr>
        <p:spPr>
          <a:xfrm>
            <a:off x="7114032" y="1755648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为什么必须有 User Control</a:t>
            </a:r>
            <a:endParaRPr lang="en-US" sz="14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信任：用户需知 Agent“记住了什么关于我”</a:t>
            </a:r>
            <a:endParaRPr lang="en-US" sz="14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合规：GDPR / CCPA 要求</a:t>
            </a:r>
            <a:endParaRPr lang="en-US" sz="14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质量：Agent 可能记错，用户是仲裁者</a:t>
            </a:r>
            <a:endParaRPr lang="en-US" sz="14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安全：防止 memory poisoning（联动 S3）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MEMORY · 污染检测与防护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记忆可以被攻击 — S4 侧的检测机制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05 S4 · Feedback &amp; State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/ 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1554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Pre-write Scan（写入时）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41248" y="1920240"/>
            <a:ext cx="5486400" cy="438912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841248" y="1920240"/>
            <a:ext cx="91440" cy="438912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1005840" y="192024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语义异常  </a:t>
            </a:r>
            <a:r>
              <a:rPr lang="en-US" sz="10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新记忆与已有记忆矛盾？已有 TS 偏好 + 新 JavaScript → 冲突告警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41248" y="2423160"/>
            <a:ext cx="5486400" cy="438912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Shape 11"/>
          <p:cNvSpPr/>
          <p:nvPr/>
        </p:nvSpPr>
        <p:spPr>
          <a:xfrm>
            <a:off x="841248" y="2423160"/>
            <a:ext cx="91440" cy="438912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1005840" y="242316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指令检测  </a:t>
            </a:r>
            <a:r>
              <a:rPr lang="en-US" sz="10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可疑模式：“总是/永远/忽略” · URL+动作组合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41248" y="2926080"/>
            <a:ext cx="5486400" cy="438912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6" name="Shape 14"/>
          <p:cNvSpPr/>
          <p:nvPr/>
        </p:nvSpPr>
        <p:spPr>
          <a:xfrm>
            <a:off x="841248" y="2926080"/>
            <a:ext cx="91440" cy="438912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1005840" y="292608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来源评估  </a:t>
            </a:r>
            <a:r>
              <a:rPr lang="en-US" sz="10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用户直说（可信）vs Agent 从外部推断（需验证）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" y="3520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Retrieval-time Validation（使用时）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41248" y="3886200"/>
            <a:ext cx="5486400" cy="1005840"/>
          </a:xfrm>
          <a:prstGeom prst="rect">
            <a:avLst/>
          </a:prstGeom>
          <a:solidFill>
            <a:srgbClr val="1B253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1024128" y="3995928"/>
            <a:ext cx="512064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C9AA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Decay function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confidence(t) = initial × 0.95^(days/30)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C9AA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30 天 ↓~5% · 180 天 ↓~26%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66560" y="1554480"/>
            <a:ext cx="4572000" cy="36576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6949440" y="1719072"/>
            <a:ext cx="42976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异常告警（联动 S3）</a:t>
            </a:r>
            <a:endParaRPr lang="en-US" sz="14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短时间大量记忆写入 → 批量投毒</a:t>
            </a:r>
            <a:endParaRPr lang="en-US" sz="14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内容匹配 S3 注入模式库 → 告警 + 隔离</a:t>
            </a:r>
            <a:endParaRPr lang="en-US" sz="14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 Agent 异常传播 → 阻断</a:t>
            </a:r>
            <a:endParaRPr lang="en-US" sz="1400" dirty="0"/>
          </a:p>
          <a:p>
            <a:pPr marL="0" indent="0">
              <a:spcBef>
                <a:spcPts val="1200"/>
              </a:spcBef>
              <a:buNone/>
            </a:pPr>
            <a:r>
              <a:rPr lang="en-US" sz="1100" i="1" dirty="0">
                <a:solidFill>
                  <a:srgbClr val="C7CE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S3 = 安全策略（什么是可疑）</a:t>
            </a:r>
            <a:endParaRPr lang="en-US" sz="1400" dirty="0"/>
          </a:p>
          <a:p>
            <a:pPr marL="0" indent="0">
              <a:buNone/>
            </a:pPr>
            <a:r>
              <a:rPr lang="en-US" sz="1100" i="1" dirty="0">
                <a:solidFill>
                  <a:srgbClr val="C7CE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S4 = 安全运营（实时监控发现可疑）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" y="52120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Decay 让旧记忆自然褪色 — 即使绕过写入时检测，被污染的记忆也会在 180 天内自然失效。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MEMORY · AUTODREAM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autoDream — 周期性整理（S4 完整实现）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05 S4 · Feedback &amp; State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 / 28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2468880" cy="50292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932688" y="1600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Stage 1 · Orient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1248" y="2103120"/>
            <a:ext cx="2468880" cy="141732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978408" y="219456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提取 session 摘要 + 识别关键事件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session_summaries[]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10128" y="2331720"/>
            <a:ext cx="228600" cy="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13" name="Shape 11"/>
          <p:cNvSpPr/>
          <p:nvPr/>
        </p:nvSpPr>
        <p:spPr>
          <a:xfrm>
            <a:off x="3538728" y="1600200"/>
            <a:ext cx="2468880" cy="502920"/>
          </a:xfrm>
          <a:prstGeom prst="rect">
            <a:avLst/>
          </a:prstGeom>
          <a:solidFill>
            <a:srgbClr val="2E4A6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3630168" y="1600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Stage 2 · Gather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38728" y="2103120"/>
            <a:ext cx="2468880" cy="141732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3675888" y="219456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抽出偏好 / 项目变更 / 教训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raw_memories[]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07608" y="2331720"/>
            <a:ext cx="228600" cy="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18" name="Shape 16"/>
          <p:cNvSpPr/>
          <p:nvPr/>
        </p:nvSpPr>
        <p:spPr>
          <a:xfrm>
            <a:off x="6236208" y="1600200"/>
            <a:ext cx="2468880" cy="502920"/>
          </a:xfrm>
          <a:prstGeom prst="rect">
            <a:avLst/>
          </a:prstGeom>
          <a:solidFill>
            <a:srgbClr val="146EB4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6327648" y="1600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Stage 3 · Consolidate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36208" y="2103120"/>
            <a:ext cx="2468880" cy="141732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6373368" y="219456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写入 + 合并 + 冲突解决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updated memory store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705088" y="2331720"/>
            <a:ext cx="228600" cy="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23" name="Shape 21"/>
          <p:cNvSpPr/>
          <p:nvPr/>
        </p:nvSpPr>
        <p:spPr>
          <a:xfrm>
            <a:off x="8933688" y="1600200"/>
            <a:ext cx="2468880" cy="50292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4" name="Text 22"/>
          <p:cNvSpPr/>
          <p:nvPr/>
        </p:nvSpPr>
        <p:spPr>
          <a:xfrm>
            <a:off x="9025128" y="1600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Stage 4 · Prune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933688" y="2103120"/>
            <a:ext cx="2468880" cy="141732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9070848" y="219456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过期 / 低 confidence / 重复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trimmed memory store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41248" y="3657600"/>
            <a:ext cx="10515600" cy="50292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8" name="Text 26"/>
          <p:cNvSpPr/>
          <p:nvPr/>
        </p:nvSpPr>
        <p:spPr>
          <a:xfrm>
            <a:off x="841248" y="36576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触发条件（任一）：Time Gate &gt;24h  ·  Session Gate ≥5 sessions  ·  Explicit /consolidate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1248" y="429768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质量保证</a:t>
            </a:r>
            <a:endParaRPr lang="en-US" sz="13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条目数对比：整合后应减少 30-50%</a:t>
            </a:r>
            <a:endParaRPr lang="en-US" sz="13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整合后检索准确率不应下降（回归测试）</a:t>
            </a:r>
            <a:endParaRPr lang="en-US" sz="13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冲突解决：新信息优先（更近 = 更反映现状）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MEMORY · 整理的价值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没有整理的记忆系统 = 垃圾堆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05 S4 · Feedback &amp; State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/ 28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10515600" cy="50292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841248" y="1600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无限增长：50 条潜在记忆/session × 100 sessions = 5000 条 → 检索时间↑ 质量↓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1248" y="2286000"/>
            <a:ext cx="411480" cy="411480"/>
          </a:xfrm>
          <a:prstGeom prst="ellipse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841248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71600" y="2286000"/>
            <a:ext cx="5120640" cy="41148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1463040" y="22860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条目过多 → 检索噪音大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41248" y="2743200"/>
            <a:ext cx="411480" cy="411480"/>
          </a:xfrm>
          <a:prstGeom prst="ellipse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841248" y="2743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371600" y="2743200"/>
            <a:ext cx="5120640" cy="41148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1463040" y="27432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噪音大 → tokens 浪费在无关记忆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1248" y="3200400"/>
            <a:ext cx="411480" cy="411480"/>
          </a:xfrm>
          <a:prstGeom prst="ellipse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841248" y="3200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371600" y="3200400"/>
            <a:ext cx="5120640" cy="41148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1463040" y="32004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Tokens 浪费 → 有用信息被挤出窗口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41248" y="3657600"/>
            <a:ext cx="411480" cy="411480"/>
          </a:xfrm>
          <a:prstGeom prst="ellipse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841248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371600" y="3657600"/>
            <a:ext cx="5120640" cy="41148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1463040" y="36576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信息丢失 → Agent 表现下降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41248" y="4114800"/>
            <a:ext cx="411480" cy="411480"/>
          </a:xfrm>
          <a:prstGeom prst="ellipse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841248" y="4114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371600" y="4114800"/>
            <a:ext cx="5120640" cy="41148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1463040" y="41148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表现下降 → 更多纠正 → 更多记忆 → 恶性循环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858000" y="2286000"/>
            <a:ext cx="4480560" cy="2423160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1" name="Text 29"/>
          <p:cNvSpPr/>
          <p:nvPr/>
        </p:nvSpPr>
        <p:spPr>
          <a:xfrm>
            <a:off x="7040880" y="2423160"/>
            <a:ext cx="4114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Consolidation 的价值（实测）</a:t>
            </a:r>
            <a:endParaRPr lang="en-US" sz="13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压缩：5 条 → 1 条 (~5x)</a:t>
            </a:r>
            <a:endParaRPr lang="en-US" sz="13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未整理 1000 条 → 准确率 60%</a:t>
            </a:r>
            <a:endParaRPr lang="en-US" sz="13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整理后 200 条 → 准确率 90%</a:t>
            </a:r>
            <a:endParaRPr lang="en-US" sz="13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 消耗 ↓ 40%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41248" y="4937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记忆系统的价值不在于“记住多少”，而在于“能准确找到多少”。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MEMORY · HYBRID RETRIEVAL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Keyword + Semantic 双通道检索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05 S4 · Feedback &amp; State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 / 28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5029200" cy="1417320"/>
          </a:xfrm>
          <a:prstGeom prst="rect">
            <a:avLst/>
          </a:prstGeom>
          <a:solidFill>
            <a:srgbClr val="EEF1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1005840" y="1719072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6E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🔍 Keyword Search</a:t>
            </a:r>
            <a:endParaRPr lang="en-US" sz="130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BM25 索引 · 精确匹配术语</a:t>
            </a:r>
            <a:endParaRPr lang="en-US" sz="13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快速 / 精确  − 无法处理同义改写</a:t>
            </a:r>
            <a:endParaRPr lang="en-US" sz="13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&lt;10ms · 适：“React hooks” “API v2”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27648" y="1600200"/>
            <a:ext cx="5029200" cy="141732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6492240" y="1719072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🧠 Semantic Search</a:t>
            </a:r>
            <a:endParaRPr lang="en-US" sz="130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Embedding ANN · 理解意图 / 改写</a:t>
            </a:r>
            <a:endParaRPr lang="en-US" sz="13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处理 paraphrase  − 看似相关但无关</a:t>
            </a:r>
            <a:endParaRPr lang="en-US" sz="13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&lt;50ms · 适：“上次类似问题”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1248" y="3200400"/>
            <a:ext cx="6400800" cy="2286000"/>
          </a:xfrm>
          <a:prstGeom prst="rect">
            <a:avLst/>
          </a:prstGeom>
          <a:solidFill>
            <a:srgbClr val="1B253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1024128" y="3310128"/>
            <a:ext cx="6035040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99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Mixing Strategy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1. 各 top-K：keyword + semantic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2. 加权合并：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final = keyword × 0.4 + semantic × 0.6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3. 去重 + rerank → top-N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9AA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性能预算（总 &lt; 100ms）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A33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Keyword 10ms · Semantic 50ms · Merge 40ms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98080" y="3200400"/>
            <a:ext cx="3840480" cy="22860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7680960" y="333756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 Budget</a:t>
            </a:r>
            <a:endParaRPr lang="en-US" sz="13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记忆检索 ~30K tokens</a:t>
            </a:r>
            <a:endParaRPr lang="en-US" sz="13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solidFill>
                  <a:srgbClr val="C7CE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（在 S1 总预算的份额）</a:t>
            </a:r>
            <a:r>
              <a:rPr lang="en-US" sz="1100" i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用户感知：&lt;100ms 不可察觉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MEMORY · ASSEMBLY PRIORITY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记忆注入的优先级排序 + Token 分配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05 S4 · Feedback &amp; State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/ 28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7772400" cy="4572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1005840" y="16002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· user_profile    </a:t>
            </a:r>
            <a:r>
              <a:rPr lang="en-US" sz="10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用户身份 + 核心偏好（始终注入）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778240" y="1600200"/>
            <a:ext cx="1280160" cy="45720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8778240" y="1600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2K tokens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149840" y="1600200"/>
            <a:ext cx="1188720" cy="457200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10149840" y="1600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41248" y="2148840"/>
            <a:ext cx="7772400" cy="457200"/>
          </a:xfrm>
          <a:prstGeom prst="rect">
            <a:avLst/>
          </a:prstGeom>
          <a:solidFill>
            <a:srgbClr val="2E4A6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1005840" y="21488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· project    </a:t>
            </a:r>
            <a:r>
              <a:rPr lang="en-US" sz="10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技术栈 + 项目约束（项目内常驻）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778240" y="2148840"/>
            <a:ext cx="1280160" cy="45720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8778240" y="21488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5K tokens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149840" y="2148840"/>
            <a:ext cx="1188720" cy="457200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10149840" y="21488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41248" y="2697480"/>
            <a:ext cx="7772400" cy="45720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1005840" y="26974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· feedback    </a:t>
            </a:r>
            <a:r>
              <a:rPr lang="en-US" sz="10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用户历史纠正（按相关性）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778240" y="2697480"/>
            <a:ext cx="1280160" cy="45720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8778240" y="2697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8K tokens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149840" y="2697480"/>
            <a:ext cx="1188720" cy="457200"/>
          </a:xfrm>
          <a:prstGeom prst="rect">
            <a:avLst/>
          </a:prstGeom>
          <a:solidFill>
            <a:srgbClr val="5F6B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10149840" y="26974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41248" y="3246120"/>
            <a:ext cx="7772400" cy="457200"/>
          </a:xfrm>
          <a:prstGeom prst="rect">
            <a:avLst/>
          </a:prstGeom>
          <a:solidFill>
            <a:srgbClr val="146EB4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1005840" y="32461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· recent_sessions    </a:t>
            </a:r>
            <a:r>
              <a:rPr lang="en-US" sz="10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对话连续性（按时间衰减）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778240" y="3246120"/>
            <a:ext cx="1280160" cy="45720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8778240" y="32461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10K tokens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149840" y="3246120"/>
            <a:ext cx="1188720" cy="457200"/>
          </a:xfrm>
          <a:prstGeom prst="rect">
            <a:avLst/>
          </a:prstGeom>
          <a:solidFill>
            <a:srgbClr val="5F6B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1" name="Text 29"/>
          <p:cNvSpPr/>
          <p:nvPr/>
        </p:nvSpPr>
        <p:spPr>
          <a:xfrm>
            <a:off x="10149840" y="3246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41248" y="3794760"/>
            <a:ext cx="7772400" cy="45720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3" name="Text 31"/>
          <p:cNvSpPr/>
          <p:nvPr/>
        </p:nvSpPr>
        <p:spPr>
          <a:xfrm>
            <a:off x="1005840" y="37947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· references    </a:t>
            </a:r>
            <a:r>
              <a:rPr lang="en-US" sz="10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参考文档 + API 规格（按相关性）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778240" y="3794760"/>
            <a:ext cx="1280160" cy="45720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5" name="Text 33"/>
          <p:cNvSpPr/>
          <p:nvPr/>
        </p:nvSpPr>
        <p:spPr>
          <a:xfrm>
            <a:off x="8778240" y="3794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5K tokens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149840" y="3794760"/>
            <a:ext cx="1188720" cy="457200"/>
          </a:xfrm>
          <a:prstGeom prst="rect">
            <a:avLst/>
          </a:prstGeom>
          <a:solidFill>
            <a:srgbClr val="5F6B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7" name="Text 35"/>
          <p:cNvSpPr/>
          <p:nvPr/>
        </p:nvSpPr>
        <p:spPr>
          <a:xfrm>
            <a:off x="10149840" y="37947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41248" y="4434840"/>
            <a:ext cx="10515600" cy="50292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9" name="Text 37"/>
          <p:cNvSpPr/>
          <p:nvPr/>
        </p:nvSpPr>
        <p:spPr>
          <a:xfrm>
            <a:off x="841248" y="44348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总预算 30K tokens  ·  溢出策略：从优先级最低开始截断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41248" y="5074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优先级原则：缺这条信息 → Agent 犯错概率多高？user_profile 第一 — 不知道“跟谁说话”每次回答都可能方向错。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讨论环节 · 你的闭环断在哪？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Discussion — 诊断你系统中的薄弱环节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05 S4 · Feedback &amp; State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 / 28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2011680" cy="502920"/>
          </a:xfrm>
          <a:prstGeom prst="rect">
            <a:avLst/>
          </a:prstGeom>
          <a:solidFill>
            <a:srgbClr val="146EB4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841248" y="1600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Observe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2103120"/>
            <a:ext cx="2011680" cy="91440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932688" y="21945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看到 Agent 每一步决策？trace？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52928" y="1828800"/>
            <a:ext cx="137160" cy="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13" name="Shape 11"/>
          <p:cNvSpPr/>
          <p:nvPr/>
        </p:nvSpPr>
        <p:spPr>
          <a:xfrm>
            <a:off x="2990088" y="1600200"/>
            <a:ext cx="2011680" cy="502920"/>
          </a:xfrm>
          <a:prstGeom prst="rect">
            <a:avLst/>
          </a:prstGeom>
          <a:solidFill>
            <a:srgbClr val="2E4A6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2990088" y="1600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Collect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990088" y="2103120"/>
            <a:ext cx="2011680" cy="91440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3081528" y="21945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提取了有价值的信号？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01768" y="1828800"/>
            <a:ext cx="137160" cy="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18" name="Shape 16"/>
          <p:cNvSpPr/>
          <p:nvPr/>
        </p:nvSpPr>
        <p:spPr>
          <a:xfrm>
            <a:off x="5138928" y="1600200"/>
            <a:ext cx="2011680" cy="50292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5138928" y="1600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Evaluate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138928" y="2103120"/>
            <a:ext cx="2011680" cy="91440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5230368" y="21945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知道做得“好不好”？baseline？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50608" y="1828800"/>
            <a:ext cx="137160" cy="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23" name="Shape 21"/>
          <p:cNvSpPr/>
          <p:nvPr/>
        </p:nvSpPr>
        <p:spPr>
          <a:xfrm>
            <a:off x="7287768" y="1600200"/>
            <a:ext cx="2011680" cy="50292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4" name="Text 22"/>
          <p:cNvSpPr/>
          <p:nvPr/>
        </p:nvSpPr>
        <p:spPr>
          <a:xfrm>
            <a:off x="7287768" y="1600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Remember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287768" y="2103120"/>
            <a:ext cx="2011680" cy="91440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7379208" y="21945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评估结论被保存了？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299448" y="1828800"/>
            <a:ext cx="137160" cy="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28" name="Shape 26"/>
          <p:cNvSpPr/>
          <p:nvPr/>
        </p:nvSpPr>
        <p:spPr>
          <a:xfrm>
            <a:off x="9436608" y="1600200"/>
            <a:ext cx="2011680" cy="502920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9436608" y="1600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Inject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436608" y="2103120"/>
            <a:ext cx="2011680" cy="91440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1" name="Text 29"/>
          <p:cNvSpPr/>
          <p:nvPr/>
        </p:nvSpPr>
        <p:spPr>
          <a:xfrm>
            <a:off x="9528048" y="21945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经验在下次 session 被使用？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41248" y="32461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常见断裂模式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41248" y="3611880"/>
            <a:ext cx="2468880" cy="96012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4" name="Text 32"/>
          <p:cNvSpPr/>
          <p:nvPr/>
        </p:nvSpPr>
        <p:spPr>
          <a:xfrm>
            <a:off x="950976" y="37033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 log 但不看</a:t>
            </a:r>
            <a:endParaRPr lang="en-US" sz="11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000" dirty="0">
                <a:solidFill>
                  <a:srgbClr val="D1321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Observe ✓  Collect ✗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538728" y="3611880"/>
            <a:ext cx="2468880" cy="96012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6" name="Text 34"/>
          <p:cNvSpPr/>
          <p:nvPr/>
        </p:nvSpPr>
        <p:spPr>
          <a:xfrm>
            <a:off x="3648456" y="37033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看了但没结论</a:t>
            </a:r>
            <a:endParaRPr lang="en-US" sz="11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000" dirty="0">
                <a:solidFill>
                  <a:srgbClr val="D1321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Collect ✓  Evaluate ✗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236208" y="3611880"/>
            <a:ext cx="2468880" cy="96012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8" name="Text 36"/>
          <p:cNvSpPr/>
          <p:nvPr/>
        </p:nvSpPr>
        <p:spPr>
          <a:xfrm>
            <a:off x="6345936" y="37033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有评估没持久化</a:t>
            </a:r>
            <a:endParaRPr lang="en-US" sz="11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000" dirty="0">
                <a:solidFill>
                  <a:srgbClr val="D1321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Evaluate ✓  Remember ✗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933688" y="3611880"/>
            <a:ext cx="2468880" cy="96012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0" name="Text 38"/>
          <p:cNvSpPr/>
          <p:nvPr/>
        </p:nvSpPr>
        <p:spPr>
          <a:xfrm>
            <a:off x="9043416" y="37033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存了但检索不出</a:t>
            </a:r>
            <a:endParaRPr lang="en-US" sz="115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000" dirty="0">
                <a:solidFill>
                  <a:srgbClr val="D1321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Remember ✓  Inject ✗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41248" y="4800600"/>
            <a:ext cx="10515600" cy="96012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2" name="Text 40"/>
          <p:cNvSpPr/>
          <p:nvPr/>
        </p:nvSpPr>
        <p:spPr>
          <a:xfrm>
            <a:off x="841248" y="480060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引导问题：你们团队的 Agent 系统，闭环断在哪一步？为什么？  ·  3-5 分钟讨论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OBSERVABILITY · 三支柱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Metrics / Logs / Traces — What / When / Why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05 S4 · Feedback &amp; State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 / 28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3291840" cy="502920"/>
          </a:xfrm>
          <a:prstGeom prst="rect">
            <a:avLst/>
          </a:prstGeom>
          <a:solidFill>
            <a:srgbClr val="146EB4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978408" y="1600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Metrics  </a:t>
            </a: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(What)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41248" y="2103120"/>
            <a:ext cx="3291840" cy="219456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1005840" y="224028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可聚合数值 / dashboard / alerting</a:t>
            </a:r>
            <a:endParaRPr lang="en-US" sz="1150" dirty="0"/>
          </a:p>
          <a:p>
            <a:pPr marL="0" indent="0">
              <a:spcBef>
                <a:spcPts val="1200"/>
              </a:spcBef>
              <a:buNone/>
            </a:pPr>
            <a:r>
              <a:rPr lang="en-US" sz="1100" b="1" i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个核心指标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79976" y="1600200"/>
            <a:ext cx="3291840" cy="50292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4517136" y="1600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Logs  </a:t>
            </a: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(When)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79976" y="2103120"/>
            <a:ext cx="3291840" cy="219456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4544568" y="224028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结构化 JSON · trace_id / agent_id / event</a:t>
            </a:r>
            <a:endParaRPr lang="en-US" sz="1150" dirty="0"/>
          </a:p>
          <a:p>
            <a:pPr marL="0" indent="0">
              <a:spcBef>
                <a:spcPts val="1200"/>
              </a:spcBef>
              <a:buNone/>
            </a:pPr>
            <a:r>
              <a:rPr lang="en-US" sz="1100" b="1" i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 print 语句！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18704" y="1600200"/>
            <a:ext cx="3291840" cy="50292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8055864" y="1600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Traces  </a:t>
            </a: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(Why)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918704" y="2103120"/>
            <a:ext cx="3291840" cy="219456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8083296" y="224028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OpenTelemetry spans · 跨边界 trace_id</a:t>
            </a:r>
            <a:endParaRPr lang="en-US" sz="1150" dirty="0"/>
          </a:p>
          <a:p>
            <a:pPr marL="0" indent="0">
              <a:spcBef>
                <a:spcPts val="1200"/>
              </a:spcBef>
              <a:buNone/>
            </a:pPr>
            <a:r>
              <a:rPr lang="en-US" sz="1100" b="1" i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找到根因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41248" y="4434840"/>
            <a:ext cx="10515600" cy="50292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841248" y="44348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递进关系：Metrics 发现 → Logs 定位时间窗口 → Traces 找根因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" y="5074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缺一不可：只 Metrics = 知道坏但不知为何 · 只 Logs = 淹没细节找不到方向 · 只 Traces = 能 debug 无法监控趋势。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OBSERVABILITY · 12 个核心指标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Task × Loop × System 三维 Metrics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05 S4 · Feedback &amp; State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 / 28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1280160" cy="1188720"/>
          </a:xfrm>
          <a:prstGeom prst="rect">
            <a:avLst/>
          </a:prstGeom>
          <a:solidFill>
            <a:srgbClr val="146EB4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841248" y="1600200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TASK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40280" y="1600200"/>
            <a:ext cx="2194560" cy="118872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2331720" y="16916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191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task_success_rate</a:t>
            </a:r>
            <a:endParaRPr lang="en-US" sz="1050" dirty="0"/>
          </a:p>
          <a:p>
            <a:pPr marL="0" indent="0" algn="ctr">
              <a:spcBef>
                <a:spcPts val="1200"/>
              </a:spcBef>
              <a:buNone/>
            </a:pPr>
            <a:r>
              <a:rPr lang="en-US" sz="1400" b="1" dirty="0">
                <a:solidFill>
                  <a:srgbClr val="146E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&gt; 85%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26280" y="1600200"/>
            <a:ext cx="2194560" cy="118872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4617720" y="16916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191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task_duration_s</a:t>
            </a:r>
            <a:endParaRPr lang="en-US" sz="1050" dirty="0"/>
          </a:p>
          <a:p>
            <a:pPr marL="0" indent="0" algn="ctr">
              <a:spcBef>
                <a:spcPts val="1200"/>
              </a:spcBef>
              <a:buNone/>
            </a:pPr>
            <a:r>
              <a:rPr lang="en-US" sz="1400" b="1" dirty="0">
                <a:solidFill>
                  <a:srgbClr val="146E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&lt; 120s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12280" y="1600200"/>
            <a:ext cx="2194560" cy="118872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6903720" y="16916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191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total_tokens</a:t>
            </a:r>
            <a:endParaRPr lang="en-US" sz="1050" dirty="0"/>
          </a:p>
          <a:p>
            <a:pPr marL="0" indent="0" algn="ctr">
              <a:spcBef>
                <a:spcPts val="1200"/>
              </a:spcBef>
              <a:buNone/>
            </a:pPr>
            <a:r>
              <a:rPr lang="en-US" sz="1400" b="1" dirty="0">
                <a:solidFill>
                  <a:srgbClr val="146E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&lt; 50K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98280" y="1600200"/>
            <a:ext cx="2194560" cy="118872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9189720" y="16916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191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cost_per_task</a:t>
            </a:r>
            <a:endParaRPr lang="en-US" sz="1050" dirty="0"/>
          </a:p>
          <a:p>
            <a:pPr marL="0" indent="0" algn="ctr">
              <a:spcBef>
                <a:spcPts val="1200"/>
              </a:spcBef>
              <a:buNone/>
            </a:pPr>
            <a:r>
              <a:rPr lang="en-US" sz="1400" b="1" dirty="0">
                <a:solidFill>
                  <a:srgbClr val="146E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&lt; $0.50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41248" y="2926080"/>
            <a:ext cx="1280160" cy="118872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841248" y="2926080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LOOP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240280" y="2926080"/>
            <a:ext cx="2194560" cy="118872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2331720" y="301752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191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iteration_depth</a:t>
            </a:r>
            <a:endParaRPr lang="en-US" sz="1050" dirty="0"/>
          </a:p>
          <a:p>
            <a:pPr marL="0" indent="0" algn="ctr">
              <a:spcBef>
                <a:spcPts val="1200"/>
              </a:spcBef>
              <a:buNone/>
            </a:pPr>
            <a:r>
              <a:rPr lang="en-US" sz="14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&lt; 10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26280" y="2926080"/>
            <a:ext cx="2194560" cy="118872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4617720" y="301752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191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tool_call_count</a:t>
            </a:r>
            <a:endParaRPr lang="en-US" sz="1050" dirty="0"/>
          </a:p>
          <a:p>
            <a:pPr marL="0" indent="0" algn="ctr">
              <a:spcBef>
                <a:spcPts val="1200"/>
              </a:spcBef>
              <a:buNone/>
            </a:pPr>
            <a:r>
              <a:rPr lang="en-US" sz="14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&lt; 15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12280" y="2926080"/>
            <a:ext cx="2194560" cy="118872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6903720" y="301752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191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tool_success_rate</a:t>
            </a:r>
            <a:endParaRPr lang="en-US" sz="1050" dirty="0"/>
          </a:p>
          <a:p>
            <a:pPr marL="0" indent="0" algn="ctr">
              <a:spcBef>
                <a:spcPts val="1200"/>
              </a:spcBef>
              <a:buNone/>
            </a:pPr>
            <a:r>
              <a:rPr lang="en-US" sz="14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&gt; 95%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098280" y="2926080"/>
            <a:ext cx="2194560" cy="118872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9189720" y="301752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191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tool_latency_p95</a:t>
            </a:r>
            <a:endParaRPr lang="en-US" sz="1050" dirty="0"/>
          </a:p>
          <a:p>
            <a:pPr marL="0" indent="0" algn="ctr">
              <a:spcBef>
                <a:spcPts val="1200"/>
              </a:spcBef>
              <a:buNone/>
            </a:pPr>
            <a:r>
              <a:rPr lang="en-US" sz="14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&lt; 2s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41248" y="4251960"/>
            <a:ext cx="1280160" cy="1188720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841248" y="4251960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SYSTEM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240280" y="4251960"/>
            <a:ext cx="2194560" cy="118872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1" name="Text 29"/>
          <p:cNvSpPr/>
          <p:nvPr/>
        </p:nvSpPr>
        <p:spPr>
          <a:xfrm>
            <a:off x="2331720" y="43434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191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permission_denials</a:t>
            </a:r>
            <a:endParaRPr lang="en-US" sz="1050" dirty="0"/>
          </a:p>
          <a:p>
            <a:pPr marL="0" indent="0" algn="ctr">
              <a:spcBef>
                <a:spcPts val="1200"/>
              </a:spcBef>
              <a:buNone/>
            </a:pPr>
            <a:r>
              <a:rPr lang="en-US" sz="1400" b="1" dirty="0">
                <a:solidFill>
                  <a:srgbClr val="1D810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&lt; 2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26280" y="4251960"/>
            <a:ext cx="2194560" cy="118872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3" name="Text 31"/>
          <p:cNvSpPr/>
          <p:nvPr/>
        </p:nvSpPr>
        <p:spPr>
          <a:xfrm>
            <a:off x="4617720" y="43434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191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llm_call_count</a:t>
            </a:r>
            <a:endParaRPr lang="en-US" sz="1050" dirty="0"/>
          </a:p>
          <a:p>
            <a:pPr marL="0" indent="0" algn="ctr">
              <a:spcBef>
                <a:spcPts val="1200"/>
              </a:spcBef>
              <a:buNone/>
            </a:pPr>
            <a:r>
              <a:rPr lang="en-US" sz="1400" b="1" dirty="0">
                <a:solidFill>
                  <a:srgbClr val="1D810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&lt; 20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812280" y="4251960"/>
            <a:ext cx="2194560" cy="118872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5" name="Text 33"/>
          <p:cNvSpPr/>
          <p:nvPr/>
        </p:nvSpPr>
        <p:spPr>
          <a:xfrm>
            <a:off x="6903720" y="43434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191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token_io_ratio</a:t>
            </a:r>
            <a:endParaRPr lang="en-US" sz="1050" dirty="0"/>
          </a:p>
          <a:p>
            <a:pPr marL="0" indent="0" algn="ctr">
              <a:spcBef>
                <a:spcPts val="1200"/>
              </a:spcBef>
              <a:buNone/>
            </a:pPr>
            <a:r>
              <a:rPr lang="en-US" sz="1400" b="1" dirty="0">
                <a:solidFill>
                  <a:srgbClr val="1D810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2:1 - 5:1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098280" y="4251960"/>
            <a:ext cx="2194560" cy="118872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7" name="Text 35"/>
          <p:cNvSpPr/>
          <p:nvPr/>
        </p:nvSpPr>
        <p:spPr>
          <a:xfrm>
            <a:off x="9189720" y="43434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191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cache_hit_rate</a:t>
            </a:r>
            <a:endParaRPr lang="en-US" sz="1050" dirty="0"/>
          </a:p>
          <a:p>
            <a:pPr marL="0" indent="0" algn="ctr">
              <a:spcBef>
                <a:spcPts val="1200"/>
              </a:spcBef>
              <a:buNone/>
            </a:pPr>
            <a:r>
              <a:rPr lang="en-US" sz="1400" b="1" dirty="0">
                <a:solidFill>
                  <a:srgbClr val="1D810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&gt; 60%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41248" y="5623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异常信号：token_io_ratio 突变大 → 大量“思考”但产出少（可能循环） · cache_hit_rate ↓ → context 复用差 · denials 突增 → 联动 S3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OBSERVABILITY · TRACE 实战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Real-World Trace — 从 Session 到 MCP Call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05 S4 · Feedback &amp; State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 / 28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6858000" cy="3200400"/>
          </a:xfrm>
          <a:prstGeom prst="rect">
            <a:avLst/>
          </a:prstGeom>
          <a:solidFill>
            <a:srgbClr val="1B253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1024128" y="1709928"/>
            <a:ext cx="649224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99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Session Span (sess_abc123, 45.2s)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└── Turn Span (turn_1, 12.3s)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│   ├── LLM Inference (3.2s, in=4200, out=850)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│   ├── Tool: read_file (0.05s, /src/app.ts)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│   ├── LLM Inference (2.8s, in=5100, out=1200)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│   └── Tool: edit_file (0.02s, lines=5)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└── Turn Span (turn_2, 8.1s)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├── LLM Inference (2.1s)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├── Tool: bash (1.8s, npm test, exit=0)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A33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└── LLM Inference (1.5s) → end_turn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955280" y="1600200"/>
            <a:ext cx="33832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Span 关键属性</a:t>
            </a:r>
            <a:endParaRPr lang="en-US" sz="13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trace_id / span_id / parent_span_id</a:t>
            </a:r>
            <a:endParaRPr lang="en-US" sz="13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name / start_time / duration_ms / status</a:t>
            </a:r>
            <a:endParaRPr lang="en-US" sz="13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tool.name / input / result.size</a:t>
            </a:r>
            <a:endParaRPr lang="en-US" sz="13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agent.turn / agent.step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" y="4983480"/>
            <a:ext cx="10515600" cy="868680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841248" y="498348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 trace：3 分钟定位根因（turn_3 缺关键文件 → read_file 在 turn_2 返回空）  ·  无 trace：3 天盲猜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OBSERVABILITY · 四级告警体系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Threshold → Anomaly → Pattern → Critical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05 S4 · Feedback &amp; State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 / 28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584448" y="1600200"/>
            <a:ext cx="3657600" cy="548640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3675888" y="16002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L1 · Threshold   </a:t>
            </a: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简单规则：success_rate &lt; 90% / cost &gt; $X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424928" y="1600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D810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已知问题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98648" y="2240280"/>
            <a:ext cx="5029200" cy="548640"/>
          </a:xfrm>
          <a:prstGeom prst="rect">
            <a:avLst/>
          </a:prstGeom>
          <a:solidFill>
            <a:srgbClr val="E0A0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2990088" y="22402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L2 · Anomaly   </a:t>
            </a: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3-sigma 偏差 / token 突增 / 工具异常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110728" y="2240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E0A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未知问题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12848" y="2880360"/>
            <a:ext cx="6400800" cy="54864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2304288" y="28803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L3 · Pattern   </a:t>
            </a: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重复失败 / 循环检测 / 系统性故障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796528" y="2880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系统性问题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527048" y="3520440"/>
            <a:ext cx="7772400" cy="54864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1618488" y="35204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L4 · Critical   </a:t>
            </a: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Sandbox escape / 危险命令 / 用户连续拒绝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482328" y="3520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立即人工介入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41248" y="4297680"/>
            <a:ext cx="10515600" cy="155448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1024128" y="4434840"/>
            <a:ext cx="10149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行业数据 · LangChain State of AI Agents 2025</a:t>
            </a:r>
            <a:endParaRPr lang="en-US" sz="1400" dirty="0"/>
          </a:p>
          <a:p>
            <a:pPr marL="0" indent="0">
              <a:spcBef>
                <a:spcPts val="10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89% 团队有 observability  ·  仅 52% 做 systematic evaluation</a:t>
            </a:r>
            <a:endParaRPr lang="en-US" sz="1400" dirty="0"/>
          </a:p>
          <a:p>
            <a:pPr marL="0" indent="0">
              <a:spcBef>
                <a:spcPts val="1000"/>
              </a:spcBef>
              <a:buNone/>
            </a:pPr>
            <a:r>
              <a:rPr lang="en-US" sz="14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37% gap = 行业最大的 ROI 机会  ·  看到了 ≠ 理解了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EVALUATION · 三级评估体系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/ Trajectory / Task — 从微观到宏观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05 S4 · Feedback &amp; State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 / 28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2743200" cy="960120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960120" y="1673352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Step-level</a:t>
            </a:r>
            <a:endParaRPr lang="en-US" sz="13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每步</a:t>
            </a:r>
            <a:r>
              <a:rPr lang="en-US" sz="10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低（规则匹配）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03320" y="1600200"/>
            <a:ext cx="7635240" cy="96012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3840480" y="1673352"/>
            <a:ext cx="7360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选对 tool 吗？参数对吗？执行成功？</a:t>
            </a:r>
            <a:endParaRPr lang="en-US" sz="12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050" i="1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该 read_file 却用 bash cat → step error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1248" y="2697480"/>
            <a:ext cx="2743200" cy="96012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960120" y="2770632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Trajectory-level</a:t>
            </a:r>
            <a:endParaRPr lang="en-US" sz="13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 task 完成后</a:t>
            </a:r>
            <a:r>
              <a:rPr lang="en-US" sz="10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中（efficiency / repeat / recovery）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703320" y="2697480"/>
            <a:ext cx="7635240" cy="96012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3840480" y="2770632"/>
            <a:ext cx="7360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路径高效吗？走弯路了吗？</a:t>
            </a:r>
            <a:endParaRPr lang="en-US" sz="12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050" i="1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简单任务 15 步，最优 5 步 → 效率问题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1248" y="3794760"/>
            <a:ext cx="2743200" cy="96012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960120" y="3867912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Task-level</a:t>
            </a:r>
            <a:endParaRPr lang="en-US" sz="13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 task</a:t>
            </a:r>
            <a:r>
              <a:rPr lang="en-US" sz="10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高（success / time / cost / 满意度）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03320" y="3794760"/>
            <a:ext cx="7635240" cy="96012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3840480" y="3867912"/>
            <a:ext cx="7360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用户目标达成了吗？</a:t>
            </a:r>
            <a:endParaRPr lang="en-US" sz="12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050" i="1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代码能跑但不是用户要的 → task failure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1248" y="4937760"/>
            <a:ext cx="10515600" cy="9144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1024128" y="507492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正确 ≠ Trajectory 高效 ≠ Task 成功</a:t>
            </a:r>
            <a:endParaRPr lang="en-US" sz="14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类比：Step = 动作姿势  ·  Trajectory = 战术路线  ·  Task = 比分赢了没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EVALUATION · LLM-AS-JUDGE 设计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 LLM 评估 LLM — Prompt Template + Rubric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05 S4 · Feedback &amp; State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 / 28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6766560" cy="3200400"/>
          </a:xfrm>
          <a:prstGeom prst="rect">
            <a:avLst/>
          </a:prstGeom>
          <a:solidFill>
            <a:srgbClr val="1B253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1024128" y="1709928"/>
            <a:ext cx="640080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FF99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You are evaluating an AI agent's response.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Task: {original_user_request}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Actions: {trajectory_summary}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Output: {agent_response}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FF99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Rubric (Score 1-5):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1. Correctness — does code work?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2. Efficiency — direct or wandering?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3. Safety — risky ops without checks?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4. Communication — explained clearly?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8A33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Output: {correctness, efficiency, safety, communication, overall, reasoning}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600200"/>
          <a:ext cx="3474720" cy="16459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方法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准确率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成本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Human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Gold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$10-50/h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规则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结构性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几乎免费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LLM-Judge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85% of human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$0.01-0.05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7863840" y="3657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Anti-bias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55280" y="3977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不同模型 judge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955280" y="42702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多 judge 投票（中位数）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955280" y="456285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每月 50 cases human 校准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41248" y="4983480"/>
            <a:ext cx="10515600" cy="82296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6" name="Text 13"/>
          <p:cNvSpPr/>
          <p:nvPr/>
        </p:nvSpPr>
        <p:spPr>
          <a:xfrm>
            <a:off x="841248" y="4983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关键：rubric 设计 — 每维度有明确 1-5 定义 + 正负面示例 + 与业务对齐  ·  不是“好坏”模糊判断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EVALUATION · LLM-JUDGE 校准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Judge 的结果可信吗？— 校准方法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05 S4 · Feedback &amp; State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 / 28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5943600" cy="2743200"/>
          </a:xfrm>
          <a:prstGeom prst="rect">
            <a:avLst/>
          </a:prstGeom>
          <a:solidFill>
            <a:srgbClr val="1B253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1024128" y="1709928"/>
            <a:ext cx="5577840" cy="2523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99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Judge Calibration 5 步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1. Gold Standard Set: 50-100 cases 人工标注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2. LLM Judge 对同批 cases 打分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3. 计算 Cohen's Kappa（人机一致性）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κ &gt; 0.8: 优秀  ·  0.6-0.8: 良好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73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κ &lt; 0.6: 改 rubric / 换 judge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4. 分析 disagreement → 改 rubric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5. 重复直到 κ &gt; 0.75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040880" y="1600200"/>
            <a:ext cx="4297680" cy="457200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7178040" y="16002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judges 一致   </a:t>
            </a: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high → 直接使用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40880" y="2103120"/>
            <a:ext cx="4297680" cy="457200"/>
          </a:xfrm>
          <a:prstGeom prst="rect">
            <a:avLst/>
          </a:prstGeom>
          <a:solidFill>
            <a:srgbClr val="E0A0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7178040" y="2103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2:1 分歧   </a:t>
            </a: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medium → 多数 + 标记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040880" y="2606040"/>
            <a:ext cx="4297680" cy="45720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7178040" y="2606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都不同   </a:t>
            </a: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low → human review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040880" y="3200400"/>
            <a:ext cx="4297680" cy="11430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7205472" y="3310128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成本对比</a:t>
            </a:r>
            <a:endParaRPr lang="en-US" sz="130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3-judge 投票：$0.03-0.15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Human：$2-5  ·  约 1/50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41248" y="4617720"/>
            <a:ext cx="10515600" cy="118872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1024128" y="4736592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实践建议</a:t>
            </a:r>
            <a:endParaRPr lang="en-US" sz="13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保留 5% cases 走 human review  ·  监控 judge 一致性趋势  ·  每月 recalibration（模型更新可能改变 judge 行为）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EVALUATION · DRIFT DETECTION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最危险的不是崩溃 — 是慢慢变差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05 S4 · Feedback &amp; State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 / 28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554480"/>
            <a:ext cx="10515600" cy="50292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841248" y="1554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Drift = 每次变化 &lt; 告警阈值，但累积效应显著  ·  原因：模型更新 / prompt 累积 / 记忆退化 / 外部 API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1248" y="2240280"/>
            <a:ext cx="10515600" cy="68580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Shape 9"/>
          <p:cNvSpPr/>
          <p:nvPr/>
        </p:nvSpPr>
        <p:spPr>
          <a:xfrm>
            <a:off x="841248" y="2240280"/>
            <a:ext cx="128016" cy="685800"/>
          </a:xfrm>
          <a:prstGeom prst="rect">
            <a:avLst/>
          </a:prstGeom>
          <a:solidFill>
            <a:srgbClr val="146EB4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1078992" y="2240280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E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Sliding Window   </a:t>
            </a: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最近 7 天 vs 前 7 天 · 多指标同时 ↓ &gt; 3% → drift alert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41248" y="3017520"/>
            <a:ext cx="10515600" cy="68580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841248" y="3017520"/>
            <a:ext cx="128016" cy="68580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1078992" y="3017520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Baseline Regression   </a:t>
            </a: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维护黄金基线 · 持续 3 天 &lt; 95% baseline → alert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41248" y="3794760"/>
            <a:ext cx="10515600" cy="68580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Shape 15"/>
          <p:cNvSpPr/>
          <p:nvPr/>
        </p:nvSpPr>
        <p:spPr>
          <a:xfrm>
            <a:off x="841248" y="3794760"/>
            <a:ext cx="128016" cy="685800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1078992" y="3794760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810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Distribution Shift   </a:t>
            </a: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工具分布 / 路径长度 / token 消耗 → KL/JS divergence (leading indicator)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41248" y="4663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响应流程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1248" y="5029200"/>
            <a:ext cx="3291840" cy="777240"/>
          </a:xfrm>
          <a:prstGeom prst="rect">
            <a:avLst/>
          </a:prstGeom>
          <a:solidFill>
            <a:srgbClr val="146EB4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978408" y="5120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告警</a:t>
            </a:r>
            <a:endParaRPr lang="en-US" sz="1300" dirty="0"/>
          </a:p>
          <a:p>
            <a:pPr marL="0" indent="0" algn="ctr">
              <a:spcBef>
                <a:spcPts val="4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标记可能原因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33088" y="5413248"/>
            <a:ext cx="228600" cy="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23" name="Shape 21"/>
          <p:cNvSpPr/>
          <p:nvPr/>
        </p:nvSpPr>
        <p:spPr>
          <a:xfrm>
            <a:off x="4379976" y="5029200"/>
            <a:ext cx="3291840" cy="77724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4" name="Text 22"/>
          <p:cNvSpPr/>
          <p:nvPr/>
        </p:nvSpPr>
        <p:spPr>
          <a:xfrm>
            <a:off x="4517136" y="5120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A/B Test</a:t>
            </a:r>
            <a:endParaRPr lang="en-US" sz="1300" dirty="0"/>
          </a:p>
          <a:p>
            <a:pPr marL="0" indent="0" algn="ctr">
              <a:spcBef>
                <a:spcPts val="4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new vs baseline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671816" y="5413248"/>
            <a:ext cx="228600" cy="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26" name="Shape 24"/>
          <p:cNvSpPr/>
          <p:nvPr/>
        </p:nvSpPr>
        <p:spPr>
          <a:xfrm>
            <a:off x="7918704" y="5029200"/>
            <a:ext cx="3291840" cy="77724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8055864" y="5120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</a:t>
            </a:r>
            <a:endParaRPr lang="en-US" sz="1300" dirty="0"/>
          </a:p>
          <a:p>
            <a:pPr marL="0" indent="0" algn="ctr">
              <a:spcBef>
                <a:spcPts val="4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回滚 / 调查 / 自调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EVALUATION · DRIFT 案例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一次真实 Drift 事件的全生命周期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05 S4 · Feedback &amp; State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 / 28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554480"/>
            <a:ext cx="914400" cy="438912"/>
          </a:xfrm>
          <a:prstGeom prst="rect">
            <a:avLst/>
          </a:prstGeom>
          <a:solidFill>
            <a:srgbClr val="5F6B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841248" y="155448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Day 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828800" y="1554480"/>
            <a:ext cx="7315200" cy="438912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1965960" y="1554480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Provider 发布 minor version update（用户无感知）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235440" y="1554480"/>
            <a:ext cx="2103120" cy="438912"/>
          </a:xfrm>
          <a:prstGeom prst="rect">
            <a:avLst/>
          </a:prstGeom>
          <a:solidFill>
            <a:srgbClr val="5F6B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9235440" y="155448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41248" y="2057400"/>
            <a:ext cx="914400" cy="438912"/>
          </a:xfrm>
          <a:prstGeom prst="rect">
            <a:avLst/>
          </a:prstGeom>
          <a:solidFill>
            <a:srgbClr val="E0A0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841248" y="205740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Day 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828800" y="2057400"/>
            <a:ext cx="7315200" cy="438912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1965960" y="2057400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tool_call_count 8 → 10（+25%）— 先行指标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235440" y="2057400"/>
            <a:ext cx="2103120" cy="438912"/>
          </a:xfrm>
          <a:prstGeom prst="rect">
            <a:avLst/>
          </a:prstGeom>
          <a:solidFill>
            <a:srgbClr val="E0A0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9235440" y="205740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未达告警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41248" y="2560320"/>
            <a:ext cx="914400" cy="438912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841248" y="256032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Day 3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828800" y="2560320"/>
            <a:ext cx="7315200" cy="438912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1965960" y="2560320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task_success_rate 92% → 88%（-4%）持续 3 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235440" y="2560320"/>
            <a:ext cx="2103120" cy="438912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9235440" y="256032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DRIFT ALERT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41248" y="3063240"/>
            <a:ext cx="914400" cy="438912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841248" y="306324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Day 3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828800" y="3063240"/>
            <a:ext cx="7315200" cy="438912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1965960" y="3063240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 A/B test 启动：当前 vs 上周快照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235440" y="3063240"/>
            <a:ext cx="2103120" cy="438912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1" name="Text 29"/>
          <p:cNvSpPr/>
          <p:nvPr/>
        </p:nvSpPr>
        <p:spPr>
          <a:xfrm>
            <a:off x="9235440" y="306324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 &lt; 0.05 确认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41248" y="3566160"/>
            <a:ext cx="914400" cy="438912"/>
          </a:xfrm>
          <a:prstGeom prst="rect">
            <a:avLst/>
          </a:prstGeom>
          <a:solidFill>
            <a:srgbClr val="146EB4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3" name="Text 31"/>
          <p:cNvSpPr/>
          <p:nvPr/>
        </p:nvSpPr>
        <p:spPr>
          <a:xfrm>
            <a:off x="841248" y="356616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Day 4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828800" y="3566160"/>
            <a:ext cx="7315200" cy="438912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5" name="Text 33"/>
          <p:cNvSpPr/>
          <p:nvPr/>
        </p:nvSpPr>
        <p:spPr>
          <a:xfrm>
            <a:off x="1965960" y="3566160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调查发现：模型 function calling 行为微妙改变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235440" y="3566160"/>
            <a:ext cx="2103120" cy="438912"/>
          </a:xfrm>
          <a:prstGeom prst="rect">
            <a:avLst/>
          </a:prstGeom>
          <a:solidFill>
            <a:srgbClr val="146EB4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7" name="Text 35"/>
          <p:cNvSpPr/>
          <p:nvPr/>
        </p:nvSpPr>
        <p:spPr>
          <a:xfrm>
            <a:off x="9235440" y="356616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找到根因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41248" y="4069080"/>
            <a:ext cx="914400" cy="438912"/>
          </a:xfrm>
          <a:prstGeom prst="rect">
            <a:avLst/>
          </a:prstGeom>
          <a:solidFill>
            <a:srgbClr val="146EB4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9" name="Text 37"/>
          <p:cNvSpPr/>
          <p:nvPr/>
        </p:nvSpPr>
        <p:spPr>
          <a:xfrm>
            <a:off x="841248" y="406908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Day 4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1828800" y="4069080"/>
            <a:ext cx="7315200" cy="438912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1" name="Text 39"/>
          <p:cNvSpPr/>
          <p:nvPr/>
        </p:nvSpPr>
        <p:spPr>
          <a:xfrm>
            <a:off x="1965960" y="4069080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修复：调 system prompt 强化 tool 格式要求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235440" y="4069080"/>
            <a:ext cx="2103120" cy="438912"/>
          </a:xfrm>
          <a:prstGeom prst="rect">
            <a:avLst/>
          </a:prstGeom>
          <a:solidFill>
            <a:srgbClr val="146EB4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3" name="Text 41"/>
          <p:cNvSpPr/>
          <p:nvPr/>
        </p:nvSpPr>
        <p:spPr>
          <a:xfrm>
            <a:off x="9235440" y="406908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部署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41248" y="4572000"/>
            <a:ext cx="914400" cy="438912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5" name="Text 43"/>
          <p:cNvSpPr/>
          <p:nvPr/>
        </p:nvSpPr>
        <p:spPr>
          <a:xfrm>
            <a:off x="841248" y="457200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Day 5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1828800" y="4572000"/>
            <a:ext cx="7315200" cy="438912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7" name="Text 45"/>
          <p:cNvSpPr/>
          <p:nvPr/>
        </p:nvSpPr>
        <p:spPr>
          <a:xfrm>
            <a:off x="1965960" y="4572000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指标恢复到 baseline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235440" y="4572000"/>
            <a:ext cx="2103120" cy="438912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9" name="Text 47"/>
          <p:cNvSpPr/>
          <p:nvPr/>
        </p:nvSpPr>
        <p:spPr>
          <a:xfrm>
            <a:off x="9235440" y="457200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41248" y="5120640"/>
            <a:ext cx="10515600" cy="6858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1" name="Text 49"/>
          <p:cNvSpPr/>
          <p:nvPr/>
        </p:nvSpPr>
        <p:spPr>
          <a:xfrm>
            <a:off x="841248" y="51206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总修复周期：5 天  ·  无 detection → 可能 3 个月  ·  先行指标比滞后指标早 2 天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EVALUATION · 持续评估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评估的测试金字塔 + A/B Testing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05 S4 · Feedback &amp; State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 / 28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600200"/>
          <a:ext cx="5852160" cy="22860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层级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频率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成本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方法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Step-level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常驻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最低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规则匹配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46EB4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Trajectory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每日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中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LLM-as-Judge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99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End-to-end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每次发布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高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Gold standard set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D1321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Benchmarks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每月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最高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学术评估集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949440" y="1600200"/>
            <a:ext cx="4389120" cy="2286000"/>
          </a:xfrm>
          <a:prstGeom prst="rect">
            <a:avLst/>
          </a:prstGeom>
          <a:solidFill>
            <a:srgbClr val="1B253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" name="Text 7"/>
          <p:cNvSpPr/>
          <p:nvPr/>
        </p:nvSpPr>
        <p:spPr>
          <a:xfrm>
            <a:off x="7132320" y="1709928"/>
            <a:ext cx="4023360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99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A/B Testing 流程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10% → new, 90% → baseline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观察 3 天 → 无 regression?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Yes: 50/50 → 7 天 → full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73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No:  自动回滚 + 告警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9AA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最低样本：30/组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41248" y="4251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Gold Standard Test Set 规模建议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41248" y="4617720"/>
            <a:ext cx="3291840" cy="868680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0"/>
          <p:cNvSpPr/>
          <p:nvPr/>
        </p:nvSpPr>
        <p:spPr>
          <a:xfrm>
            <a:off x="978408" y="47091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MVP</a:t>
            </a:r>
            <a:endParaRPr lang="en-US" sz="1300" dirty="0"/>
          </a:p>
          <a:p>
            <a:pPr marL="0" indent="0" algn="ctr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50-100 cases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379976" y="4617720"/>
            <a:ext cx="3291840" cy="86868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2"/>
          <p:cNvSpPr/>
          <p:nvPr/>
        </p:nvSpPr>
        <p:spPr>
          <a:xfrm>
            <a:off x="4517136" y="47091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成熟产品</a:t>
            </a:r>
            <a:endParaRPr lang="en-US" sz="1300" dirty="0"/>
          </a:p>
          <a:p>
            <a:pPr marL="0" indent="0" algn="ctr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500-1000 cases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918704" y="4617720"/>
            <a:ext cx="3291840" cy="86868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4"/>
          <p:cNvSpPr/>
          <p:nvPr/>
        </p:nvSpPr>
        <p:spPr>
          <a:xfrm>
            <a:off x="8055864" y="47091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大规模</a:t>
            </a:r>
            <a:endParaRPr lang="en-US" sz="1300" dirty="0"/>
          </a:p>
          <a:p>
            <a:pPr marL="0" indent="0" algn="ctr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5000+ cases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41248" y="5577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维护：每月更新 10%（淘汰过时 + 补充新场景）  ·  Regression：&gt; 5% degradation → alert + 回滚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EVALUATION · 加权质量分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Quality Score 公式 + 三种评估来源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05 S4 · Feedback &amp; State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 / 28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10515600" cy="64008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841248" y="1600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99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Quality = task_success × 0.4 + trajectory × 0.3 + step × 0.2 + cost × 0.1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41248" y="2423160"/>
            <a:ext cx="2468880" cy="54864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841248" y="24231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Task Success  </a:t>
            </a: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0.4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538728" y="2423160"/>
            <a:ext cx="2468880" cy="54864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3538728" y="24231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Trajectory  </a:t>
            </a: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0.3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36208" y="2423160"/>
            <a:ext cx="2468880" cy="548640"/>
          </a:xfrm>
          <a:prstGeom prst="rect">
            <a:avLst/>
          </a:prstGeom>
          <a:solidFill>
            <a:srgbClr val="146EB4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6236208" y="24231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Accuracy  </a:t>
            </a: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33688" y="2423160"/>
            <a:ext cx="2468880" cy="548640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8933688" y="24231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Cost  </a:t>
            </a: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0.1</a:t>
            </a:r>
            <a:endParaRPr lang="en-US" sz="11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3154680"/>
          <a:ext cx="10515600" cy="18288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来源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优势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劣势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适用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Human Annotation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Gold standard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贵 / 慢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建立 baseline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LLM-as-Judge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可扩展 / 便宜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有偏差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日常大规模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User Feedback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最真实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稀疏 / 偏差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方向验证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841248" y="4983480"/>
            <a:ext cx="10515600" cy="86868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0" name="Text 17"/>
          <p:cNvSpPr/>
          <p:nvPr/>
        </p:nvSpPr>
        <p:spPr>
          <a:xfrm>
            <a:off x="1024128" y="5120640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User Feedback 信号</a:t>
            </a:r>
            <a:endParaRPr lang="en-US" sz="13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显式：thumbs up/down · rating  ·  隐式（多 10x）：undo Agent 修改 / 重述同一请求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完整闭环 · 五步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Observe → Collect → Evaluate → Remember → Inject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05 S4 · Feedback &amp; State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 / 28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983480" y="1508760"/>
            <a:ext cx="2194560" cy="731520"/>
          </a:xfrm>
          <a:prstGeom prst="rect">
            <a:avLst/>
          </a:prstGeom>
          <a:solidFill>
            <a:srgbClr val="146EB4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5074920" y="1563624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· Observe</a:t>
            </a:r>
            <a:endParaRPr lang="en-US" sz="1100" dirty="0"/>
          </a:p>
          <a:p>
            <a:pPr marL="0" indent="0" algn="ctr">
              <a:spcBef>
                <a:spcPts val="300"/>
              </a:spcBef>
              <a:buNone/>
            </a:pPr>
            <a:r>
              <a:rPr lang="en-US" sz="9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Metrics/Logs/Traces 记录每次行为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18396" y="2551288"/>
            <a:ext cx="2194560" cy="731520"/>
          </a:xfrm>
          <a:prstGeom prst="rect">
            <a:avLst/>
          </a:prstGeom>
          <a:solidFill>
            <a:srgbClr val="2E4A6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6509836" y="260615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· Collect</a:t>
            </a:r>
            <a:endParaRPr lang="en-US" sz="1100" dirty="0"/>
          </a:p>
          <a:p>
            <a:pPr marL="0" indent="0" algn="ctr">
              <a:spcBef>
                <a:spcPts val="300"/>
              </a:spcBef>
              <a:buNone/>
            </a:pPr>
            <a:r>
              <a:rPr lang="en-US" sz="9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提取有价值信号（不是存 log）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70307" y="4238132"/>
            <a:ext cx="2194560" cy="73152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5961747" y="4292996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· Evaluate</a:t>
            </a:r>
            <a:endParaRPr lang="en-US" sz="1100" dirty="0"/>
          </a:p>
          <a:p>
            <a:pPr marL="0" indent="0" algn="ctr">
              <a:spcBef>
                <a:spcPts val="300"/>
              </a:spcBef>
              <a:buNone/>
            </a:pPr>
            <a:r>
              <a:rPr lang="en-US" sz="9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三级评估 Step/Trajectory/Task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96653" y="4238132"/>
            <a:ext cx="2194560" cy="73152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4188093" y="4292996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· Remember</a:t>
            </a:r>
            <a:endParaRPr lang="en-US" sz="1100" dirty="0"/>
          </a:p>
          <a:p>
            <a:pPr marL="0" indent="0" algn="ctr">
              <a:spcBef>
                <a:spcPts val="300"/>
              </a:spcBef>
              <a:buNone/>
            </a:pPr>
            <a:r>
              <a:rPr lang="en-US" sz="9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成功/失败写入 Memory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48564" y="2551288"/>
            <a:ext cx="2194560" cy="731520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3640004" y="260615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· Inject</a:t>
            </a:r>
            <a:endParaRPr lang="en-US" sz="1100" dirty="0"/>
          </a:p>
          <a:p>
            <a:pPr marL="0" indent="0" algn="ctr">
              <a:spcBef>
                <a:spcPts val="300"/>
              </a:spcBef>
              <a:buNone/>
            </a:pPr>
            <a:r>
              <a:rPr lang="en-US" sz="9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下次 session 注入 Context (回 S1)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74920" y="3513724"/>
            <a:ext cx="2011680" cy="54864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5074920" y="351372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Continuous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Improvement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41248" y="5024119"/>
            <a:ext cx="10515600" cy="1478273"/>
          </a:xfrm>
          <a:prstGeom prst="rect">
            <a:avLst/>
          </a:prstGeom>
          <a:solidFill>
            <a:srgbClr val="1B253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1024128" y="5108448"/>
            <a:ext cx="10149840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E8A33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Turn 1: Agent 用错 API 格式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→ Trace 记录 (Observe)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→ Step eval = error (Evaluate)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Turn 2: 用户纠正 → 完成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→ Feedback memory (Remember, c=0.95)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Session 2: hybrid retrieval → 命中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→ 注入 context (Inject) → 一次对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FF99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autoDream: 升级为 project memory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闭环 · 质量指标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如何衡量闭环本身的质量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05 S4 · Feedback &amp; State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 / 28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600200"/>
          <a:ext cx="10515600" cy="30175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指标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含义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目标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46EB4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Memory Hit Rate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检索出的记忆实际被使用的比率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&gt; 60%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D1321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Repeat Error Rate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同一错误跨 session 重复出现的频率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&lt; 10%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99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Feedback Integration Lag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用户纠正 → 下次正确应用的延迟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&lt; 2 sessions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E4A6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Consolidation Compression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autoDream 压缩率（before / after）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3-5x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5F6B7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Evaluation-Action Gap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评估发现问题 → 系统修正的时间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&lt; 24h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4572000"/>
            <a:ext cx="5120640" cy="1280160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" name="Text 7"/>
          <p:cNvSpPr/>
          <p:nvPr/>
        </p:nvSpPr>
        <p:spPr>
          <a:xfrm>
            <a:off x="1024128" y="47091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健康信号</a:t>
            </a:r>
            <a:endParaRPr lang="en-US" sz="13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Repeat Error Rate 持续↓ → 学习中</a:t>
            </a:r>
            <a:endParaRPr lang="en-US" sz="13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Hit Rate 稳定 &gt; 60% → 检索准</a:t>
            </a:r>
            <a:endParaRPr lang="en-US" sz="13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Lag = 1 session → 立即生效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36208" y="4572000"/>
            <a:ext cx="5120640" cy="128016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2" name="Text 9"/>
          <p:cNvSpPr/>
          <p:nvPr/>
        </p:nvSpPr>
        <p:spPr>
          <a:xfrm>
            <a:off x="6419088" y="47091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✗ 不健康信号</a:t>
            </a:r>
            <a:endParaRPr lang="en-US" sz="13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Repeat Error 不降 → 闭环断裂</a:t>
            </a:r>
            <a:endParaRPr lang="en-US" sz="13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Hit Rate &lt; 30% → consolidation 问题</a:t>
            </a:r>
            <a:endParaRPr lang="en-US" sz="13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Gap &gt; 7 days → 组织问题非技术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系统接口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S4 在五大系统中的数据流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05 S4 · Feedback &amp; State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 / 28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0" y="310896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5029200" y="31089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S4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Feedback &amp; State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0" y="1600200"/>
            <a:ext cx="2103120" cy="1005840"/>
          </a:xfrm>
          <a:prstGeom prst="rect">
            <a:avLst/>
          </a:prstGeom>
          <a:solidFill>
            <a:srgbClr val="146EB4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5138928" y="1673352"/>
            <a:ext cx="18836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S1 ↔ S4</a:t>
            </a:r>
            <a:endParaRPr lang="en-US" sz="12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9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记忆闭环：检索注入 + 写入新记忆 + autoDream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69680" y="3108960"/>
            <a:ext cx="2103120" cy="1005840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8979408" y="3182112"/>
            <a:ext cx="18836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S2 → S4</a:t>
            </a:r>
            <a:endParaRPr lang="en-US" sz="12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9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工具观测：每次 tool call 产生 trace span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4709160"/>
            <a:ext cx="2103120" cy="100584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5138928" y="4782312"/>
            <a:ext cx="18836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S3 ↔ S4</a:t>
            </a:r>
            <a:endParaRPr lang="en-US" sz="12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9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安全闭环：事件分析 → 策略调整反馈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88720" y="3108960"/>
            <a:ext cx="2103120" cy="100584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1298448" y="3182112"/>
            <a:ext cx="18836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S4 → S5</a:t>
            </a:r>
            <a:endParaRPr lang="en-US" sz="12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9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控制反馈：drift alert → 降级 / cost → budget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0" y="2606040"/>
            <a:ext cx="0" cy="50292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19" name="Shape 17"/>
          <p:cNvSpPr/>
          <p:nvPr/>
        </p:nvSpPr>
        <p:spPr>
          <a:xfrm>
            <a:off x="7132320" y="3611880"/>
            <a:ext cx="1737360" cy="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20" name="Shape 18"/>
          <p:cNvSpPr/>
          <p:nvPr/>
        </p:nvSpPr>
        <p:spPr>
          <a:xfrm>
            <a:off x="6080760" y="4114800"/>
            <a:ext cx="0" cy="59436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21" name="Shape 19"/>
          <p:cNvSpPr/>
          <p:nvPr/>
        </p:nvSpPr>
        <p:spPr>
          <a:xfrm>
            <a:off x="3291840" y="3611880"/>
            <a:ext cx="1737360" cy="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841248" y="5852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S4 = Agent 系统的“神经系统” — 收集所有信号，处理后反馈给需要的系统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 · S4 全景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S4 核心回顾 — 带走这 5 条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05 S4 · Feedback &amp; State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 / 28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502920" cy="502920"/>
          </a:xfrm>
          <a:prstGeom prst="ellipse">
            <a:avLst/>
          </a:prstGeom>
          <a:solidFill>
            <a:srgbClr val="146EB4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841248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508760" y="1600200"/>
            <a:ext cx="9829800" cy="45720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1645920" y="1600200"/>
            <a:ext cx="9646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三层记忆   </a:t>
            </a:r>
            <a:r>
              <a:rPr lang="en-US" sz="11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Working（模型）/ Short-term / Long-term — Harness 管后两个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1248" y="214884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841248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508760" y="2148840"/>
            <a:ext cx="9829800" cy="45720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1645920" y="2148840"/>
            <a:ext cx="9646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可写记忆 + Gating   </a:t>
            </a:r>
            <a:r>
              <a:rPr lang="en-US" sz="11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Confidence 门槛 + 用户控制 + 安全检测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41248" y="2697480"/>
            <a:ext cx="502920" cy="502920"/>
          </a:xfrm>
          <a:prstGeom prst="ellipse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841248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508760" y="2697480"/>
            <a:ext cx="9829800" cy="45720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1645920" y="2697480"/>
            <a:ext cx="9646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autoDream   </a:t>
            </a:r>
            <a:r>
              <a:rPr lang="en-US" sz="11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Orient → Gather → Consolidate → Prune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41248" y="3246120"/>
            <a:ext cx="502920" cy="502920"/>
          </a:xfrm>
          <a:prstGeom prst="ellipse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841248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508760" y="3246120"/>
            <a:ext cx="9829800" cy="45720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1645920" y="3246120"/>
            <a:ext cx="9646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三支柱 + 四级告警   </a:t>
            </a:r>
            <a:r>
              <a:rPr lang="en-US" sz="11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Metrics/Logs/Traces + Threshold→Critical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41248" y="3794760"/>
            <a:ext cx="502920" cy="502920"/>
          </a:xfrm>
          <a:prstGeom prst="ellipse">
            <a:avLst/>
          </a:prstGeom>
          <a:solidFill>
            <a:srgbClr val="2E4A6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841248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508760" y="3794760"/>
            <a:ext cx="9829800" cy="45720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1645920" y="3794760"/>
            <a:ext cx="9646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三级评估 + Drift   </a:t>
            </a:r>
            <a:r>
              <a:rPr lang="en-US" sz="11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Step/Trajectory/Task + 滑动窗口检测静默退化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41248" y="4526280"/>
            <a:ext cx="10515600" cy="77724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841248" y="45262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“Agent 的竞争优势不在于单次对话多聪明，而在于它能不能从每一次对话中变得更聪明。”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41248" y="5440680"/>
            <a:ext cx="6400800" cy="50292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1" name="Text 29"/>
          <p:cNvSpPr/>
          <p:nvPr/>
        </p:nvSpPr>
        <p:spPr>
          <a:xfrm>
            <a:off x="1024128" y="544068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Mini-Lab：confidence gating · 注入错误记忆观察检测 · 触发 drift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06640" y="5440680"/>
            <a:ext cx="3931920" cy="502920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3" name="Text 31"/>
          <p:cNvSpPr/>
          <p:nvPr/>
        </p:nvSpPr>
        <p:spPr>
          <a:xfrm>
            <a:off x="7406640" y="54406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S1✓ S2✓ S3✓ S4✓ → S5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4465</Words>
  <Application>Microsoft Macintosh PowerPoint</Application>
  <PresentationFormat>Custom</PresentationFormat>
  <Paragraphs>677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PingFang SC</vt:lpstr>
      <vt:lpstr>Arial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Harness Engineering — 05 S4 Feedback &amp; State</dc:title>
  <dc:subject>PptxGenJS Presentation</dc:subject>
  <dc:creator>Harness Engineering</dc:creator>
  <cp:lastModifiedBy>Qin, Chenguang</cp:lastModifiedBy>
  <cp:revision>2</cp:revision>
  <dcterms:created xsi:type="dcterms:W3CDTF">2026-06-03T12:10:28Z</dcterms:created>
  <dcterms:modified xsi:type="dcterms:W3CDTF">2026-06-05T16:42:25Z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2026-06-05T16:42:25Z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fba78c7d-d141-426b-90e5-a38b26c54239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