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charts/chart3.xml" ContentType="application/vnd.openxmlformats-officedocument.drawingml.chart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贡献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FF9900"/>
              </a:solidFill>
              <a:effectLst/>
            </c:spPr>
          </c:dPt>
          <c:dPt>
            <c:idx val="1"/>
            <c:bubble3D val="0"/>
            <c:spPr>
              <a:solidFill>
                <a:srgbClr val="146EB4"/>
              </a:solidFill>
              <a:effectLst/>
            </c:spPr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1200" b="1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1200" b="1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numFmt formatCode="0%" sourceLinked="0"/>
            <c:txPr>
              <a:bodyPr/>
              <a:lstStyle/>
              <a:p>
                <a:pPr>
                  <a:defRPr sz="1800" b="1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Sheet1!$A$2:$A$3</c:f>
              <c:strCache>
                <c:ptCount val="2"/>
                <c:pt idx="0">
                  <c:v>Harness 80-85%</c:v>
                </c:pt>
                <c:pt idx="1">
                  <c:v>模型 15-20%</c:v>
                </c:pt>
              </c:strCache>
            </c:strRef>
          </c:cat>
          <c:val>
            <c:numRef>
              <c:f>Sheet1!$B$2:$B$3</c:f>
              <c:numCache>
                <c:ptCount val="2"/>
                <c:pt idx="0">
                  <c:v>82</c:v>
                </c:pt>
                <c:pt idx="1">
                  <c:v>18</c:v>
                </c:pt>
              </c:numCache>
            </c:numRef>
          </c:val>
        </c:ser>
        <c:firstSliceAng val="0"/>
        <c:holeSize val="55"/>
      </c:doughnut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
              <a:latin typeface="PingFang SC"/>
              <a:cs typeface="PingFang SC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5F6B7A"/>
                </a:solidFill>
                <a:latin typeface="PingFang SC"/>
              </a:defRPr>
            </a:pPr>
            <a:r>
              <a:rPr sz="1200" b="0" i="0" u="none" strike="noStrike">
                <a:solidFill>
                  <a:srgbClr val="5F6B7A"/>
                </a:solidFill>
                <a:latin typeface="PingFang SC"/>
              </a:rPr>
              <a:t>同一模型 codex-1，仅改工程层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SWE-bench 通过率</c:v>
                </c:pt>
              </c:strCache>
            </c:strRef>
          </c:tx>
          <c:spPr>
            <a:solidFill>
              <a:srgbClr val="146EB4">
                <a:alpha val="100000"/>
              </a:srgbClr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1" i="0" strike="noStrike" sz="1200" u="none">
                    <a:solidFill>
                      <a:srgbClr val="16191F"/>
                    </a:solidFill>
                    <a:latin typeface="PingFang SC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146EB4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FF9900"/>
              </a:solidFill>
              <a:effectLst/>
            </c:spPr>
          </c:dPt>
          <c:cat>
            <c:multiLvlStrRef>
              <c:f>Sheet1!$A$2:$A$3</c:f>
              <c:multiLvlStrCache>
                <c:ptCount val="2"/>
                <c:lvl>
                  <c:pt idx="0">
                    <c:v>优化前</c:v>
                  </c:pt>
                  <c:pt idx="1">
                    <c:v>优化 Harness 后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45</c:v>
                </c:pt>
                <c:pt idx="1">
                  <c:v>90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1" i="0" strike="noStrike" sz="1200" u="none">
                  <a:solidFill>
                    <a:srgbClr val="16191F"/>
                  </a:solidFill>
                  <a:latin typeface="PingFang SC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16191F"/>
                </a:solidFill>
                <a:latin typeface="PingFang SC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00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5F6B7A"/>
                </a:solidFill>
                <a:latin typeface="PingFang SC"/>
              </a:defRPr>
            </a:pPr>
            <a:r>
              <a:rPr sz="1200" b="0" i="0" u="none" strike="noStrike">
                <a:solidFill>
                  <a:srgbClr val="5F6B7A"/>
                </a:solidFill>
                <a:latin typeface="PingFang SC"/>
              </a:rPr>
              <a:t>权限随上下文动态升降</a:t>
            </a:r>
          </a:p>
        </c:rich>
      </c:tx>
      <c:layout/>
      <c:overlay val="0"/>
    </c:title>
    <c:autoTitleDeleted val="0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信任/权限</c:v>
                </c:pt>
              </c:strCache>
            </c:strRef>
          </c:tx>
          <c:spPr>
            <a:solidFill>
              <a:srgbClr val="FF9900"/>
            </a:solidFill>
            <a:ln w="38100" cap="flat">
              <a:solidFill>
                <a:srgbClr val="FF9900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FF9900"/>
              </a:solidFill>
              <a:ln w="9525" cap="flat">
                <a:solidFill>
                  <a:srgbClr val="FF9900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Sheet1!$A$2:$A$8</c:f>
              <c:multiLvlStrCache>
                <c:ptCount val="7"/>
                <c:lvl>
                  <c:pt idx="0">
                    <c:v>新会话</c:v>
                  </c:pt>
                  <c:pt idx="1">
                    <c:v>成功1</c:v>
                  </c:pt>
                  <c:pt idx="2">
                    <c:v>成功2</c:v>
                  </c:pt>
                  <c:pt idx="3">
                    <c:v>成功3</c:v>
                  </c:pt>
                  <c:pt idx="4">
                    <c:v>异常!</c:v>
                  </c:pt>
                  <c:pt idx="5">
                    <c:v>收紧</c:v>
                  </c:pt>
                  <c:pt idx="6">
                    <c:v>恢复</c:v>
                  </c:pt>
                </c:lvl>
              </c:multiLvlStrCache>
            </c:multiLvl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4.2</c:v>
                </c:pt>
                <c:pt idx="4">
                  <c:v>1.2</c:v>
                </c:pt>
                <c:pt idx="5">
                  <c:v>2</c:v>
                </c:pt>
                <c:pt idx="6">
                  <c:v>3</c:v>
                </c:pt>
              </c:numCache>
            </c:numRef>
          </c:val>
          <c:smooth val="1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F6B7A"/>
                </a:solidFill>
                <a:latin typeface="PingFang SC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l"/>
        <c:majorGridlines>
          <c:spPr>
            <a:ln w="6350" cap="flat">
              <a:solidFill>
                <a:srgbClr val="EDEDED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欢迎各位。这门课叫 Harness Engineering——直译是“线束工程”。线束是什么？在航空领域，线束是连接引擎与驾驶舱的所有线缆和控制系统。引擎再强大，没有可靠的线束，飞机飞不起来。今天的 LLM 就是引擎，而我们要讲的，就是怎么把这台引擎变成一架能安全飞行的飞机。两天时间，我们从头构建这套工程体系。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先看全局地图。两天，五大系统，每个系统我们都会深入源码。这不是一个“理念课”——每个模块都有可运行的代码。到 Day 2 结束，你手上会有一套完整的 Harness 框架原型。先记住这张图，后面我们不断回来对照。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2022 年大家在做什么？写 prompt。2024 年进化到 Context Engineering——怎么把正确的信息、在正确的时机、以正确的格式喂给模型。这是个巨大进步，但还不够。为什么？因为 Context Engineering 只管“输入侧”。模型输出之后呢？工具调用怎么治理？权限怎么控制？失败怎么恢复？成本怎么管理？这些问题合在一起，就是 Harness Engineering。它不是替代前两者，而是包含前两者——Context Engineering 是 Harness 的子系统 S1。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这是整门课最重要的一张 slide。请记住这个数字：99% 的 100 次方等于 36.6%。什么意思？假设你的 Agent 每一步操作成功率是 99%——已经很高了对吧？但如果一个任务需要 100 步，整体成功率只有 36.6%。三分之一。这不是理论数字——一个复杂的代码生成任务，从理解需求、搜索代码、生成方案、编辑文件、运行测试到修复错误，轻松超过 100 步。所以问题不是“模型够不够聪明”，问题是“你的工程系统能不能把每一步的成功率从 99% 提升到 99.9%”。差 0.9 个百分点，100 步之后结果从 36.6% 变成 90.5%。这就是 Harness Engineering 的价值——它不是锦上添花，它决定系统能不能用。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我们做软件工程这么多年，有一套完善的质量保障体系：写代码、code review、跑测试、CI 通过、部署。但 Agent 系统里有个根本性问题——我叫它 Dark Code。LLM 生成的工具调用、代码片段、操作序列，都是运行时才产生的。你没法提前 review，没法提前测试，因为在运行之前它根本不存在。这就是为什么传统方法全部失效。我们需要的不是更好的测试，而是一套运行时治理体系——在每一步执行的瞬间进行约束和验证。这就是 S2 和 S3 要解决的问题。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让数据说话。OpenAI 的 Codex 产品，用的是同一个模型 codex-1。最初在 SWE-bench 上大概 40-50% 的通过率。然后他们没有换模型，只优化了 Harness——怎么组装 context、怎么管理工具调用、怎么处理失败、怎么做 feedback loop。结果？飙升到接近 90%。30-40 个百分点的提升，纯靠工程。这就是为什么我说模型只占 15-20%，Harness 占 80-85%。模型决定了“能不能想出来”，Harness 决定了“想出来之后能不能做对、做稳、做到”。你们来这里两天，学的就是那 80-85%。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这是整个课程的架构图，请拍照或记下来。五大系统，各司其职。S1 管输入——给模型组装什么信息。S2 管输出——模型调用的工具怎么治理。S3 管安全——什么操作必须被拦截或需要人工审批。这三个是“运行时三件套”，Agent 每走一步，S1、S2、S3 都会被触发一次。然后 S4 是反馈环路——执行结果回来了，怎么观测、怎么记忆、怎么评估，然后反馈给下一步的 S1。最后 S5 是控制平面——编排多步流程、处理失败、控制成本。S5 在最外层，管全局。两天课，我们逐一拆解每个系统的设计和实现。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第一个设计原则：Constraint-First，约束优先。传统做产品是“我能做什么”，列功能清单。做 Harness 必须反过来——先定义“绝对不能做什么”。为什么？因为 Dark Code。你不知道 LLM 下一步要干什么，所以你必须先画好边界。白名单，default deny，sandbox first。这不是过度防御，这是唯一可行的策略。我见过一个案例：某 Agent 框架默认允许所有 shell 命令，结果模型 hallucinate 了一个 rm -rf /home/user/data，用户数据全没了。如果约束优先——shell 命令默认禁止，只开放白名单——这个事故根本不会发生。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第二个原则：Verifiability，可验证性。Agent 做了什么，你必须能追溯。不只是“记了日志”——LangChain 的调研显示 89% 的团队有 observability，但只有 52% 做 evaluation。这中间有 37% 的缺口——你能看到 Agent 调用了什么工具、花了多少 token，但你不知道它做得对不对。可验证性需要三层：Observability 是“发生了什么”，Evaluation 是“做得好不好”，Reproducibility 是“能不能重现”。三层全做到，你才真正控制住了 Agent 的行为。S4 会深入讲这个体系。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第三个原则：Progressive Trust，渐进信任。权限不应该是“全开或全关”。想想驾照制度——你不是拿到驾照就可以开任何车。有实习期、有扣分、有吊销。Agent 也一样：刚开始对话，最小权限；连续执行成功，逐步放开；一旦出现异常行为——比如试图访问不相关的文件——立即收紧。这不是固定配置，这是运行时动态调整的。S3 会详细讲 Claude Code 是怎么实现这套 progressive trust 的——它的 permission system 就是这个原则的典型实现。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最后一个原则：Design for Failure，为失败而设计。不是“出错了再想办法”，而是在架构层面假设每一步都会出错。LLM 会幻觉、工具会超时、状态会不一致、Agent 会陷入死循环——这些不是意外，这是常态。你的 Harness 必须内建恢复能力：checkpoint 让你能回滚，circuit breaker 让你能熔断，retry 让你能重试但有上限，graceful degradation 让你在部分失败时仍能给出有价值的结果。这里有个有趣的数据：合理的容错设计不仅提升可靠性，还能降低 60-80% 的成本——因为无效重试和无限循环是最大的 token 浪费来源。S5 会深入讲这些机制。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这门课我们会反复参考三个系统。Claude Code——Anthropic 官方的，设计哲学是交互优先：async generator 架构、全程 streaming、极致低延迟。用户输入一个字就开始响应。OpenCode——开源社区的，设计哲学是开放优先：支持多种模型、插件化 SDK、MIT 协议，社区可以自由扩展。OpenAI Codex CLI——设计哲学是协议优先：Item/Turn/Thread 三层抽象，prefix consistency 保证 cache hit，一切都是结构化的。三种哲学，没有对错。这两天我们不是要“选一个”，而是理解每种选择背后的 trade-off。你做自己系统的时候，要想清楚你的用户最需要什么。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快速过一遍五个系统各解决什么问题。S1——Context Assembly：窗口就那么大，怎么装最有用的信息？Claude Code 的 compaction 机制、CLAUDE.md 的多层级加载，都是经典方案。S2——Tool Governance：模型要调工具了，怎么确保安全？参数验证、沙箱执行、结果过滤。S3——Security：哪些操作太危险必须人来确认？怎么做到既安全又不过度打扰？S4——Feedback：执行完了，结果怎么回来？怎么让 Agent 从错误中学习？S5——Entropy Management：怎么防止系统跑飞？怎么控制成本？怎么编排复杂流程？每个系统我们都会深入源码级别。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补充一个成本视角。很多人觉得 Agent 贵，token 烧钱。但 Harness Engineering 有六根成本杠杆，组合使用可以降低 60-80%。Prompt Caching 一项就能降 90%——前提是你的 context assembly 做对了，prefix 一致。Circuit Breaking 避免无限循环烧 token。Intelligent Routing 让简单操作走便宜的小模型。这些都是纯工程优化，不需要换模型。Day 2 的 S5 会详细讲每根杠杆怎么实现。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两天结束之后你手上会有什么？不是一堆 slide 和笔记——是可运行的代码。Day 1 结束你有 context assembly pipeline、tool governance 框架、permission system。Day 2 结束你有 feedback loop、entropy manager，最后集成成一个 mini agent harness。这不是玩具——这些模式直接来自 Claude Code、OpenCode、Codex CLI 的真实实现。你回去之后可以直接用在自己的系统上。好，概览结束。接下来我们进入第一个系统——S1: Context Assembly。准备好了吗？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概览到此结束。我们花了一个小时建立了全局认知：为什么需要 Harness Engineering（概率复合效应）、面对什么新挑战（Dark Code）、整体架构长什么样（五大系统）、设计原则是什么（约束优先、可验证、渐进信任、为失败设计）。接下来我们进入第一个系统：Context Assembly。这是 Harness 的“输入侧”——怎么在有限的窗口里给模型提供最大价值的信息。请打开你的开发环境，我们马上开始动手。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chart" Target="/ppt/charts/chart2.xm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32F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48640"/>
            <a:ext cx="502920" cy="146304"/>
          </a:xfrm>
          <a:prstGeom prst="rect">
            <a:avLst/>
          </a:prstGeom>
          <a:solidFill>
            <a:srgbClr val="FF9900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5544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400" kern="0" dirty="0">
                <a:solidFill>
                  <a:srgbClr val="FF990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HARNESS ENGINEERING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548640" y="2057400"/>
            <a:ext cx="105156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构建生产级 AI Agent 系统的工程学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566928" y="365760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7CED6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LLM 与执行环境之间的工程层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566928" y="4709160"/>
            <a:ext cx="5669280" cy="0"/>
          </a:xfrm>
          <a:prstGeom prst="line">
            <a:avLst/>
          </a:prstGeom>
          <a:noFill/>
          <a:ln w="12700">
            <a:solidFill>
              <a:srgbClr val="47525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66928" y="4892040"/>
            <a:ext cx="7315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AEB7C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讲师：Harness Engineering 教研团队</a:t>
            </a:r>
            <a:endParaRPr lang="en-US" sz="13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AEB7C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2026 年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8686800" y="612648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768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01 · Opening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146304" cy="566928"/>
          </a:xfrm>
          <a:prstGeom prst="rect">
            <a:avLst/>
          </a:prstGeom>
          <a:solidFill>
            <a:srgbClr val="FF9900"/>
          </a:solidFill>
          <a:ln/>
        </p:spPr>
      </p:sp>
      <p:sp>
        <p:nvSpPr>
          <p:cNvPr id="3" name="Text 1"/>
          <p:cNvSpPr/>
          <p:nvPr/>
        </p:nvSpPr>
        <p:spPr>
          <a:xfrm>
            <a:off x="841248" y="420624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F990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COURSE MAP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841248" y="676656"/>
            <a:ext cx="10698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1619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两天课程结构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548640" y="6419088"/>
            <a:ext cx="11091672" cy="0"/>
          </a:xfrm>
          <a:prstGeom prst="line">
            <a:avLst/>
          </a:prstGeom>
          <a:noFill/>
          <a:ln w="12700">
            <a:solidFill>
              <a:srgbClr val="D5DBD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6455664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F6B7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Harness Engineering  ·  01 Opening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9811512" y="645566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F6B7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2 / 16</a:t>
            </a:r>
            <a:endParaRPr lang="en-US" sz="900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41248" y="1554480"/>
          <a:ext cx="10515600" cy="914400"/>
        </p:xfrm>
        <a:graphic>
          <a:graphicData uri="http://schemas.openxmlformats.org/drawingml/2006/table">
            <a:tbl>
              <a:tblPr/>
              <a:tblGrid>
                <a:gridCol w="1828800"/>
                <a:gridCol w="4206240"/>
                <a:gridCol w="4480560"/>
              </a:tblGrid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时间</a:t>
                      </a:r>
                      <a:endParaRPr lang="en-US" sz="13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2F3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模块</a:t>
                      </a:r>
                      <a:endParaRPr lang="en-US" sz="13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2F3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核心系统</a:t>
                      </a:r>
                      <a:endParaRPr lang="en-US" sz="13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2F3E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6191F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Day 1 上午</a:t>
                      </a:r>
                      <a:endParaRPr lang="en-US" sz="13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6191F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Opening + Context Assembly</a:t>
                      </a:r>
                      <a:endParaRPr lang="en-US" sz="13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6191F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S1: 信息 → LLM</a:t>
                      </a:r>
                      <a:endParaRPr lang="en-US" sz="13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6191F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Day 1 下午</a:t>
                      </a:r>
                      <a:endParaRPr lang="en-US" sz="13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6191F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Tool Governance + Security</a:t>
                      </a:r>
                      <a:endParaRPr lang="en-US" sz="13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6191F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S2: LLM → 外部世界 / S3: 约束与人类控制</a:t>
                      </a:r>
                      <a:endParaRPr lang="en-US" sz="13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6191F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Day 2 上午</a:t>
                      </a:r>
                      <a:endParaRPr lang="en-US" sz="13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6191F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Feedback &amp; State</a:t>
                      </a:r>
                      <a:endParaRPr lang="en-US" sz="13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6191F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S4: 观测 + 记忆 + 评估闭环</a:t>
                      </a:r>
                      <a:endParaRPr lang="en-US" sz="13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6191F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Day 2 下午</a:t>
                      </a:r>
                      <a:endParaRPr lang="en-US" sz="13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6191F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Entropy Management + Integration</a:t>
                      </a:r>
                      <a:endParaRPr lang="en-US" sz="13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6191F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S5: 编排 + 容错 + 成本控制</a:t>
                      </a:r>
                      <a:endParaRPr lang="en-US" sz="13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9" name="Text 6"/>
          <p:cNvSpPr/>
          <p:nvPr/>
        </p:nvSpPr>
        <p:spPr>
          <a:xfrm>
            <a:off x="841248" y="4663440"/>
            <a:ext cx="1051560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619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五大系统 (S1–S5) 是课程骨架</a:t>
            </a:r>
            <a:endParaRPr lang="en-US" sz="14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619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每个系统：概念 → 源码分析 → 动手实践</a:t>
            </a:r>
            <a:endParaRPr lang="en-US" sz="14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619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最终产出：一套可部署的 Agent Harness 框架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146304" cy="566928"/>
          </a:xfrm>
          <a:prstGeom prst="rect">
            <a:avLst/>
          </a:prstGeom>
          <a:solidFill>
            <a:srgbClr val="FF9900"/>
          </a:solidFill>
          <a:ln/>
        </p:spPr>
      </p:sp>
      <p:sp>
        <p:nvSpPr>
          <p:cNvPr id="3" name="Text 1"/>
          <p:cNvSpPr/>
          <p:nvPr/>
        </p:nvSpPr>
        <p:spPr>
          <a:xfrm>
            <a:off x="841248" y="420624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F990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THE PARADIGM SHIFT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841248" y="676656"/>
            <a:ext cx="10698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1619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范式跃迁：Prompt → Context → Harness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548640" y="6419088"/>
            <a:ext cx="11091672" cy="0"/>
          </a:xfrm>
          <a:prstGeom prst="line">
            <a:avLst/>
          </a:prstGeom>
          <a:noFill/>
          <a:ln w="12700">
            <a:solidFill>
              <a:srgbClr val="D5DBD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6455664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F6B7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Harness Engineering  ·  01 Opening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9811512" y="645566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F6B7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3 / 16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841248" y="3840480"/>
            <a:ext cx="3291840" cy="2103120"/>
          </a:xfrm>
          <a:prstGeom prst="rect">
            <a:avLst/>
          </a:prstGeom>
          <a:solidFill>
            <a:srgbClr val="5F6B7A"/>
          </a:solidFill>
          <a:ln w="12700">
            <a:solidFill>
              <a:srgbClr val="5F6B7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78408" y="3977640"/>
            <a:ext cx="3017520" cy="1920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FFE9CC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2022–2023</a:t>
            </a:r>
            <a:endParaRPr lang="en-US" sz="1100" dirty="0"/>
          </a:p>
          <a:p>
            <a:pPr indent="0" marL="0">
              <a:spcBef>
                <a:spcPts val="300"/>
              </a:spcBef>
              <a:buNone/>
            </a:pPr>
            <a:r>
              <a:rPr lang="en-US" sz="16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Prompt Engineering</a:t>
            </a:r>
            <a:endParaRPr lang="en-US" sz="1100" dirty="0"/>
          </a:p>
          <a:p>
            <a:pPr indent="0" marL="0">
              <a:spcBef>
                <a:spcPts val="600"/>
              </a:spcBef>
              <a:buNone/>
            </a:pPr>
            <a:r>
              <a:rPr lang="en-US" sz="1200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单次输入质量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315968" y="3108960"/>
            <a:ext cx="3291840" cy="2834640"/>
          </a:xfrm>
          <a:prstGeom prst="rect">
            <a:avLst/>
          </a:prstGeom>
          <a:solidFill>
            <a:srgbClr val="146EB4"/>
          </a:solidFill>
          <a:ln w="12700">
            <a:solidFill>
              <a:srgbClr val="146EB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453128" y="3246120"/>
            <a:ext cx="3017520" cy="2651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FFE9CC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2024–2025</a:t>
            </a:r>
            <a:endParaRPr lang="en-US" sz="1100" dirty="0"/>
          </a:p>
          <a:p>
            <a:pPr indent="0" marL="0">
              <a:spcBef>
                <a:spcPts val="300"/>
              </a:spcBef>
              <a:buNone/>
            </a:pPr>
            <a:r>
              <a:rPr lang="en-US" sz="16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Context Engineering</a:t>
            </a:r>
            <a:endParaRPr lang="en-US" sz="1100" dirty="0"/>
          </a:p>
          <a:p>
            <a:pPr indent="0" marL="0">
              <a:spcBef>
                <a:spcPts val="600"/>
              </a:spcBef>
              <a:buNone/>
            </a:pPr>
            <a:r>
              <a:rPr lang="en-US" sz="1200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信息组装与窗口管理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7790688" y="2377440"/>
            <a:ext cx="3566160" cy="3566160"/>
          </a:xfrm>
          <a:prstGeom prst="rect">
            <a:avLst/>
          </a:prstGeom>
          <a:solidFill>
            <a:srgbClr val="FF9900"/>
          </a:solidFill>
          <a:ln w="12700">
            <a:solidFill>
              <a:srgbClr val="FF990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927848" y="2514600"/>
            <a:ext cx="3291840" cy="3383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FFE9CC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2025–</a:t>
            </a:r>
            <a:endParaRPr lang="en-US" sz="1100" dirty="0"/>
          </a:p>
          <a:p>
            <a:pPr indent="0" marL="0">
              <a:spcBef>
                <a:spcPts val="300"/>
              </a:spcBef>
              <a:buNone/>
            </a:pPr>
            <a:r>
              <a:rPr lang="en-US" sz="16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Harness Engineering</a:t>
            </a:r>
            <a:endParaRPr lang="en-US" sz="1100" dirty="0"/>
          </a:p>
          <a:p>
            <a:pPr indent="0" marL="0">
              <a:spcBef>
                <a:spcPts val="600"/>
              </a:spcBef>
              <a:buNone/>
            </a:pPr>
            <a:r>
              <a:rPr lang="en-US" sz="1200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整个执行环境的工程化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841248" y="1508760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619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每一层都包含前一层：Context Engineering 是 Harness 的子系统 S1，覆盖范围逐级放大——输入、输出、约束、反馈、容错。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146304" cy="566928"/>
          </a:xfrm>
          <a:prstGeom prst="rect">
            <a:avLst/>
          </a:prstGeom>
          <a:solidFill>
            <a:srgbClr val="FF9900"/>
          </a:solidFill>
          <a:ln/>
        </p:spPr>
      </p:sp>
      <p:sp>
        <p:nvSpPr>
          <p:cNvPr id="3" name="Text 1"/>
          <p:cNvSpPr/>
          <p:nvPr/>
        </p:nvSpPr>
        <p:spPr>
          <a:xfrm>
            <a:off x="841248" y="420624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F990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PROBABILITY COMPOUNDING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841248" y="676656"/>
            <a:ext cx="10698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1619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99%¹⁰⁰ = 36.6% —— 为什么工程比模型更重要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548640" y="6419088"/>
            <a:ext cx="11091672" cy="0"/>
          </a:xfrm>
          <a:prstGeom prst="line">
            <a:avLst/>
          </a:prstGeom>
          <a:noFill/>
          <a:ln w="12700">
            <a:solidFill>
              <a:srgbClr val="D5DBD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6455664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F6B7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Harness Engineering  ·  01 Opening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9811512" y="645566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F6B7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4 / 16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841248" y="1600200"/>
            <a:ext cx="3931920" cy="2743200"/>
          </a:xfrm>
          <a:prstGeom prst="rect">
            <a:avLst/>
          </a:prstGeom>
          <a:solidFill>
            <a:srgbClr val="232F3E"/>
          </a:solidFill>
          <a:ln/>
        </p:spPr>
      </p:sp>
      <p:sp>
        <p:nvSpPr>
          <p:cNvPr id="9" name="Text 7"/>
          <p:cNvSpPr/>
          <p:nvPr/>
        </p:nvSpPr>
        <p:spPr>
          <a:xfrm>
            <a:off x="1005840" y="1920240"/>
            <a:ext cx="35661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0.99</a:t>
            </a:r>
            <a:pPr algn="ctr" indent="0" marL="0">
              <a:buNone/>
            </a:pPr>
            <a:r>
              <a:rPr lang="en-US" sz="2200" b="1" baseline="30000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100</a:t>
            </a:r>
            <a:endParaRPr lang="en-US" sz="6000" dirty="0"/>
          </a:p>
        </p:txBody>
      </p:sp>
      <p:sp>
        <p:nvSpPr>
          <p:cNvPr id="10" name="Text 8"/>
          <p:cNvSpPr/>
          <p:nvPr/>
        </p:nvSpPr>
        <p:spPr>
          <a:xfrm>
            <a:off x="1005840" y="3063240"/>
            <a:ext cx="35661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990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= 36.6%</a:t>
            </a:r>
            <a:endParaRPr lang="en-US" sz="40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0" y="1600200"/>
          <a:ext cx="6309360" cy="914400"/>
        </p:xfrm>
        <a:graphic>
          <a:graphicData uri="http://schemas.openxmlformats.org/drawingml/2006/table">
            <a:tbl>
              <a:tblPr/>
              <a:tblGrid>
                <a:gridCol w="1920240"/>
                <a:gridCol w="1463040"/>
                <a:gridCol w="1463040"/>
                <a:gridCol w="1463040"/>
              </a:tblGrid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单步成功率</a:t>
                      </a:r>
                      <a:endParaRPr lang="en-US" sz="12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2F3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10 步</a:t>
                      </a:r>
                      <a:endParaRPr lang="en-US" sz="12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2F3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50 步</a:t>
                      </a:r>
                      <a:endParaRPr lang="en-US" sz="12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2F3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100 步</a:t>
                      </a:r>
                      <a:endParaRPr lang="en-US" sz="12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2F3E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6191F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95%</a:t>
                      </a:r>
                      <a:endParaRPr lang="en-US" sz="12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6191F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59.9%</a:t>
                      </a:r>
                      <a:endParaRPr lang="en-US" sz="12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6191F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7.7%</a:t>
                      </a:r>
                      <a:endParaRPr lang="en-US" sz="12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D13212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0.6%</a:t>
                      </a:r>
                      <a:endParaRPr lang="en-US" sz="12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6191F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99%</a:t>
                      </a:r>
                      <a:endParaRPr lang="en-US" sz="12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6191F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90.4%</a:t>
                      </a:r>
                      <a:endParaRPr lang="en-US" sz="12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6191F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60.5%</a:t>
                      </a:r>
                      <a:endParaRPr lang="en-US" sz="12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D13212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36.6%</a:t>
                      </a:r>
                      <a:endParaRPr lang="en-US" sz="12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6191F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99.5%</a:t>
                      </a:r>
                      <a:endParaRPr lang="en-US" sz="12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6191F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95.1%</a:t>
                      </a:r>
                      <a:endParaRPr lang="en-US" sz="12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6191F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77.8%</a:t>
                      </a:r>
                      <a:endParaRPr lang="en-US" sz="12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6191F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60.6%</a:t>
                      </a:r>
                      <a:endParaRPr lang="en-US" sz="12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6191F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99.9%</a:t>
                      </a:r>
                      <a:endParaRPr lang="en-US" sz="12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6191F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99.0%</a:t>
                      </a:r>
                      <a:endParaRPr lang="en-US" sz="12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6191F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95.1%</a:t>
                      </a:r>
                      <a:endParaRPr lang="en-US" sz="12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D8102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90.5%</a:t>
                      </a:r>
                      <a:endParaRPr lang="en-US" sz="12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2" name="Text 9"/>
          <p:cNvSpPr/>
          <p:nvPr/>
        </p:nvSpPr>
        <p:spPr>
          <a:xfrm>
            <a:off x="841248" y="4937760"/>
            <a:ext cx="1051560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619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Agent 是多步系统：每一步的微小改进，在复合效应下被巨幅放大。这就是 Harness Engineering 存在的根本原因。</a:t>
            </a:r>
            <a:endParaRPr lang="en-US" sz="15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146304" cy="566928"/>
          </a:xfrm>
          <a:prstGeom prst="rect">
            <a:avLst/>
          </a:prstGeom>
          <a:solidFill>
            <a:srgbClr val="FF9900"/>
          </a:solidFill>
          <a:ln/>
        </p:spPr>
      </p:sp>
      <p:sp>
        <p:nvSpPr>
          <p:cNvPr id="3" name="Text 1"/>
          <p:cNvSpPr/>
          <p:nvPr/>
        </p:nvSpPr>
        <p:spPr>
          <a:xfrm>
            <a:off x="841248" y="420624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F990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DARK CODE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841248" y="676656"/>
            <a:ext cx="10698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1619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Dark Code —— 传统工程方法失效的新现实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548640" y="6419088"/>
            <a:ext cx="11091672" cy="0"/>
          </a:xfrm>
          <a:prstGeom prst="line">
            <a:avLst/>
          </a:prstGeom>
          <a:noFill/>
          <a:ln w="12700">
            <a:solidFill>
              <a:srgbClr val="D5DBD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6455664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F6B7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Harness Engineering  ·  01 Opening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9811512" y="645566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F6B7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5 / 16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841248" y="1481328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619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Dark Code：LLM 在运行时生成的行为，无法被预先审查——绕过了 review / test / CI 等所有前置检查。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841248" y="2148840"/>
            <a:ext cx="1143000" cy="502920"/>
          </a:xfrm>
          <a:prstGeom prst="rect">
            <a:avLst/>
          </a:prstGeom>
          <a:solidFill>
            <a:srgbClr val="F2F3F3"/>
          </a:solidFill>
          <a:ln w="12700">
            <a:solidFill>
              <a:srgbClr val="D5DBD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41248" y="2148840"/>
            <a:ext cx="1143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F6B7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Code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2212848" y="2148840"/>
            <a:ext cx="1143000" cy="502920"/>
          </a:xfrm>
          <a:prstGeom prst="rect">
            <a:avLst/>
          </a:prstGeom>
          <a:solidFill>
            <a:srgbClr val="F2F3F3"/>
          </a:solidFill>
          <a:ln w="12700">
            <a:solidFill>
              <a:srgbClr val="D5DBD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212848" y="2148840"/>
            <a:ext cx="1143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F6B7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Review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3584448" y="2148840"/>
            <a:ext cx="1143000" cy="502920"/>
          </a:xfrm>
          <a:prstGeom prst="rect">
            <a:avLst/>
          </a:prstGeom>
          <a:solidFill>
            <a:srgbClr val="F2F3F3"/>
          </a:solidFill>
          <a:ln w="12700">
            <a:solidFill>
              <a:srgbClr val="D5DBD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584448" y="2148840"/>
            <a:ext cx="1143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F6B7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Test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956048" y="2148840"/>
            <a:ext cx="1143000" cy="502920"/>
          </a:xfrm>
          <a:prstGeom prst="rect">
            <a:avLst/>
          </a:prstGeom>
          <a:solidFill>
            <a:srgbClr val="F2F3F3"/>
          </a:solidFill>
          <a:ln w="12700">
            <a:solidFill>
              <a:srgbClr val="D5DBD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956048" y="2148840"/>
            <a:ext cx="1143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F6B7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Deploy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6492240" y="2148840"/>
            <a:ext cx="4572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1321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✕  传统软件：部署前可控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841248" y="2880360"/>
            <a:ext cx="1234440" cy="502920"/>
          </a:xfrm>
          <a:prstGeom prst="rect">
            <a:avLst/>
          </a:prstGeom>
          <a:solidFill>
            <a:srgbClr val="F2F3F3"/>
          </a:solidFill>
          <a:ln w="12700">
            <a:solidFill>
              <a:srgbClr val="D5DBD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41248" y="2880360"/>
            <a:ext cx="1234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5F6B7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User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2212848" y="2880360"/>
            <a:ext cx="1234440" cy="502920"/>
          </a:xfrm>
          <a:prstGeom prst="rect">
            <a:avLst/>
          </a:prstGeom>
          <a:solidFill>
            <a:srgbClr val="146EB4"/>
          </a:solidFill>
          <a:ln w="12700">
            <a:solidFill>
              <a:srgbClr val="D5DBD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212848" y="2880360"/>
            <a:ext cx="1234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LLM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584448" y="2880360"/>
            <a:ext cx="1234440" cy="502920"/>
          </a:xfrm>
          <a:prstGeom prst="rect">
            <a:avLst/>
          </a:prstGeom>
          <a:solidFill>
            <a:srgbClr val="232F3E"/>
          </a:solidFill>
          <a:ln w="12700">
            <a:solidFill>
              <a:srgbClr val="D5DBD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584448" y="2880360"/>
            <a:ext cx="1234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990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[ Dark Code ]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956048" y="2880360"/>
            <a:ext cx="1234440" cy="502920"/>
          </a:xfrm>
          <a:prstGeom prst="rect">
            <a:avLst/>
          </a:prstGeom>
          <a:solidFill>
            <a:srgbClr val="F2F3F3"/>
          </a:solidFill>
          <a:ln w="12700">
            <a:solidFill>
              <a:srgbClr val="D5DBDB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956048" y="2880360"/>
            <a:ext cx="1234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5F6B7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Execution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6492240" y="2880360"/>
            <a:ext cx="4572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619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Agent：行为在运行时实时生成</a:t>
            </a:r>
            <a:endParaRPr lang="en-US" sz="13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41248" y="3703320"/>
          <a:ext cx="6766560" cy="914400"/>
        </p:xfrm>
        <a:graphic>
          <a:graphicData uri="http://schemas.openxmlformats.org/drawingml/2006/table">
            <a:tbl>
              <a:tblPr/>
              <a:tblGrid>
                <a:gridCol w="2194560"/>
                <a:gridCol w="4572000"/>
              </a:tblGrid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传统保障</a:t>
                      </a:r>
                      <a:endParaRPr lang="en-US" sz="12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2F3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对 Dark Code 的效果</a:t>
                      </a:r>
                      <a:endParaRPr lang="en-US" sz="12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2F3E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6191F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Code Review</a:t>
                      </a:r>
                      <a:endParaRPr lang="en-US" sz="12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6191F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无效 —— 代码运行时才生成</a:t>
                      </a:r>
                      <a:endParaRPr lang="en-US" sz="12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6191F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单元测试</a:t>
                      </a:r>
                      <a:endParaRPr lang="en-US" sz="12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6191F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部分有效 —— 只能测已知路径</a:t>
                      </a:r>
                      <a:endParaRPr lang="en-US" sz="12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6191F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CI/CD</a:t>
                      </a:r>
                      <a:endParaRPr lang="en-US" sz="12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6191F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无效 —— 无法预测运行时行为</a:t>
                      </a:r>
                      <a:endParaRPr lang="en-US" sz="12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6191F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静态分析</a:t>
                      </a:r>
                      <a:endParaRPr lang="en-US" sz="12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6191F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无效 —— 没有静态代码可分析</a:t>
                      </a:r>
                      <a:endParaRPr lang="en-US" sz="12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28" name="Shape 25"/>
          <p:cNvSpPr/>
          <p:nvPr/>
        </p:nvSpPr>
        <p:spPr>
          <a:xfrm>
            <a:off x="7955280" y="3703320"/>
            <a:ext cx="3383280" cy="2286000"/>
          </a:xfrm>
          <a:prstGeom prst="rect">
            <a:avLst/>
          </a:prstGeom>
          <a:solidFill>
            <a:srgbClr val="FF9900"/>
          </a:solidFill>
          <a:ln/>
        </p:spPr>
      </p:sp>
      <p:sp>
        <p:nvSpPr>
          <p:cNvPr id="29" name="Text 26"/>
          <p:cNvSpPr/>
          <p:nvPr/>
        </p:nvSpPr>
        <p:spPr>
          <a:xfrm>
            <a:off x="8138160" y="3977640"/>
            <a:ext cx="301752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5A3D0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应对策略</a:t>
            </a:r>
            <a:endParaRPr lang="en-US" sz="1300" dirty="0"/>
          </a:p>
          <a:p>
            <a:pPr indent="0" marL="0">
              <a:spcBef>
                <a:spcPts val="600"/>
              </a:spcBef>
              <a:buNone/>
            </a:pPr>
            <a:r>
              <a:rPr lang="en-US" sz="20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Runtime Governance</a:t>
            </a:r>
            <a:endParaRPr lang="en-US" sz="1300" dirty="0"/>
          </a:p>
          <a:p>
            <a:pPr indent="0" marL="0">
              <a:spcBef>
                <a:spcPts val="800"/>
              </a:spcBef>
              <a:buNone/>
            </a:pPr>
            <a:r>
              <a:rPr lang="en-US" sz="1300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在执行的每一步施加约束（S2 + S3）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146304" cy="566928"/>
          </a:xfrm>
          <a:prstGeom prst="rect">
            <a:avLst/>
          </a:prstGeom>
          <a:solidFill>
            <a:srgbClr val="FF9900"/>
          </a:solidFill>
          <a:ln/>
        </p:spPr>
      </p:sp>
      <p:sp>
        <p:nvSpPr>
          <p:cNvPr id="3" name="Text 1"/>
          <p:cNvSpPr/>
          <p:nvPr/>
        </p:nvSpPr>
        <p:spPr>
          <a:xfrm>
            <a:off x="841248" y="420624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F990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THE 80/20 SPLIT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841248" y="676656"/>
            <a:ext cx="10698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1619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模型 15-20% vs Harness 80-85%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548640" y="6419088"/>
            <a:ext cx="11091672" cy="0"/>
          </a:xfrm>
          <a:prstGeom prst="line">
            <a:avLst/>
          </a:prstGeom>
          <a:noFill/>
          <a:ln w="12700">
            <a:solidFill>
              <a:srgbClr val="D5DBD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6455664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F6B7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Harness Engineering  ·  01 Opening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9811512" y="645566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F6B7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6 / 16</a:t>
            </a:r>
            <a:endParaRPr lang="en-US" sz="900" dirty="0"/>
          </a:p>
        </p:txBody>
      </p:sp>
      <p:graphicFrame>
        <p:nvGraphicFramePr>
          <p:cNvPr id="8" name="Chart 0" descr=""/>
          <p:cNvGraphicFramePr/>
          <p:nvPr/>
        </p:nvGraphicFramePr>
        <p:xfrm>
          <a:off x="841248" y="1645920"/>
          <a:ext cx="4206240" cy="35661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9" name="Chart 1" descr=""/>
          <p:cNvGraphicFramePr/>
          <p:nvPr/>
        </p:nvGraphicFramePr>
        <p:xfrm>
          <a:off x="5303520" y="1645920"/>
          <a:ext cx="6035040" cy="35661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0" name="Text 6"/>
          <p:cNvSpPr/>
          <p:nvPr/>
        </p:nvSpPr>
        <p:spPr>
          <a:xfrm>
            <a:off x="841248" y="5486400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619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结论：模型决定思维上限（能不能想出方案），Harness 决定可靠性（方案能不能稳定执行）。30-40 个百分点提升，纯工程贡献。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146304" cy="566928"/>
          </a:xfrm>
          <a:prstGeom prst="rect">
            <a:avLst/>
          </a:prstGeom>
          <a:solidFill>
            <a:srgbClr val="FF9900"/>
          </a:solidFill>
          <a:ln/>
        </p:spPr>
      </p:sp>
      <p:sp>
        <p:nvSpPr>
          <p:cNvPr id="3" name="Text 1"/>
          <p:cNvSpPr/>
          <p:nvPr/>
        </p:nvSpPr>
        <p:spPr>
          <a:xfrm>
            <a:off x="841248" y="420624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F990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FIVE SYSTEMS ARCHITECTURE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841248" y="676656"/>
            <a:ext cx="10698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1619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Harness 五大系统全景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548640" y="6419088"/>
            <a:ext cx="11091672" cy="0"/>
          </a:xfrm>
          <a:prstGeom prst="line">
            <a:avLst/>
          </a:prstGeom>
          <a:noFill/>
          <a:ln w="12700">
            <a:solidFill>
              <a:srgbClr val="D5DBD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6455664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F6B7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Harness Engineering  ·  01 Opening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9811512" y="645566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F6B7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7 / 16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841248" y="1554480"/>
            <a:ext cx="10515600" cy="4617720"/>
          </a:xfrm>
          <a:prstGeom prst="rect">
            <a:avLst/>
          </a:prstGeom>
          <a:solidFill>
            <a:srgbClr val="232F3E"/>
          </a:solidFill>
          <a:ln/>
        </p:spPr>
      </p:sp>
      <p:sp>
        <p:nvSpPr>
          <p:cNvPr id="9" name="Text 7"/>
          <p:cNvSpPr/>
          <p:nvPr/>
        </p:nvSpPr>
        <p:spPr>
          <a:xfrm>
            <a:off x="1024128" y="1664208"/>
            <a:ext cx="10149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990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S5: Entropy Management  ·  编排 + 容错 + 成本控制（控制平面）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1371600" y="2331720"/>
            <a:ext cx="2468880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371600" y="2377440"/>
            <a:ext cx="24688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619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S1</a:t>
            </a:r>
            <a:endParaRPr lang="en-US" sz="13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1619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Context Assembly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846320" y="2331720"/>
            <a:ext cx="2468880" cy="1005840"/>
          </a:xfrm>
          <a:prstGeom prst="roundRect">
            <a:avLst>
              <a:gd name="adj" fmla="val 7273"/>
            </a:avLst>
          </a:prstGeom>
          <a:solidFill>
            <a:srgbClr val="146EB4"/>
          </a:solidFill>
          <a:ln w="12700">
            <a:solidFill>
              <a:srgbClr val="146EB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846320" y="2377440"/>
            <a:ext cx="24688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LLM</a:t>
            </a:r>
            <a:endParaRPr lang="en-US" sz="13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推理核心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8321040" y="2331720"/>
            <a:ext cx="2468880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321040" y="2377440"/>
            <a:ext cx="24688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619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S2</a:t>
            </a:r>
            <a:endParaRPr lang="en-US" sz="13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1619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Tool Governance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4846320" y="3657600"/>
            <a:ext cx="2468880" cy="77724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846320" y="3657600"/>
            <a:ext cx="24688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619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S3</a:t>
            </a:r>
            <a:endParaRPr lang="en-US" sz="13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1619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Security &amp; Approval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4846320" y="4709160"/>
            <a:ext cx="2468880" cy="77724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846320" y="4709160"/>
            <a:ext cx="24688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619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S4</a:t>
            </a:r>
            <a:endParaRPr lang="en-US" sz="13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1619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Feedback &amp; State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3840480" y="2834640"/>
            <a:ext cx="1005840" cy="0"/>
          </a:xfrm>
          <a:prstGeom prst="line">
            <a:avLst/>
          </a:prstGeom>
          <a:noFill/>
          <a:ln w="25400">
            <a:solidFill>
              <a:srgbClr val="FF9900"/>
            </a:solidFill>
            <a:prstDash val="solid"/>
            <a:headEnd type="triangle"/>
            <a:tailEnd type="triangle"/>
          </a:ln>
        </p:spPr>
      </p:sp>
      <p:sp>
        <p:nvSpPr>
          <p:cNvPr id="21" name="Shape 19"/>
          <p:cNvSpPr/>
          <p:nvPr/>
        </p:nvSpPr>
        <p:spPr>
          <a:xfrm>
            <a:off x="7315200" y="2834640"/>
            <a:ext cx="1005840" cy="0"/>
          </a:xfrm>
          <a:prstGeom prst="line">
            <a:avLst/>
          </a:prstGeom>
          <a:noFill/>
          <a:ln w="25400">
            <a:solidFill>
              <a:srgbClr val="FF9900"/>
            </a:solidFill>
            <a:prstDash val="solid"/>
            <a:headEnd type="triangle"/>
            <a:tailEnd type="triangle"/>
          </a:ln>
        </p:spPr>
      </p:sp>
      <p:sp>
        <p:nvSpPr>
          <p:cNvPr id="22" name="Shape 20"/>
          <p:cNvSpPr/>
          <p:nvPr/>
        </p:nvSpPr>
        <p:spPr>
          <a:xfrm>
            <a:off x="6080760" y="3337560"/>
            <a:ext cx="0" cy="320040"/>
          </a:xfrm>
          <a:prstGeom prst="line">
            <a:avLst/>
          </a:prstGeom>
          <a:noFill/>
          <a:ln w="25400">
            <a:solidFill>
              <a:srgbClr val="FF9900"/>
            </a:solidFill>
            <a:prstDash val="solid"/>
            <a:headEnd type="triangle"/>
            <a:tailEnd type="triangle"/>
          </a:ln>
        </p:spPr>
      </p:sp>
      <p:sp>
        <p:nvSpPr>
          <p:cNvPr id="23" name="Shape 21"/>
          <p:cNvSpPr/>
          <p:nvPr/>
        </p:nvSpPr>
        <p:spPr>
          <a:xfrm>
            <a:off x="6080760" y="4434840"/>
            <a:ext cx="0" cy="274320"/>
          </a:xfrm>
          <a:prstGeom prst="line">
            <a:avLst/>
          </a:prstGeom>
          <a:noFill/>
          <a:ln w="25400">
            <a:solidFill>
              <a:srgbClr val="FF9900"/>
            </a:solidFill>
            <a:prstDash val="solid"/>
            <a:tailEnd type="triangle"/>
          </a:ln>
        </p:spPr>
      </p:sp>
      <p:sp>
        <p:nvSpPr>
          <p:cNvPr id="24" name="Shape 22"/>
          <p:cNvSpPr/>
          <p:nvPr/>
        </p:nvSpPr>
        <p:spPr>
          <a:xfrm>
            <a:off x="1691640" y="5074920"/>
            <a:ext cx="3154680" cy="0"/>
          </a:xfrm>
          <a:prstGeom prst="line">
            <a:avLst/>
          </a:prstGeom>
          <a:noFill/>
          <a:ln w="19050">
            <a:solidFill>
              <a:srgbClr val="8C9AA6"/>
            </a:solidFill>
            <a:prstDash val="dash"/>
          </a:ln>
        </p:spPr>
      </p:sp>
      <p:sp>
        <p:nvSpPr>
          <p:cNvPr id="25" name="Shape 23"/>
          <p:cNvSpPr/>
          <p:nvPr/>
        </p:nvSpPr>
        <p:spPr>
          <a:xfrm>
            <a:off x="1691640" y="3337560"/>
            <a:ext cx="0" cy="1737360"/>
          </a:xfrm>
          <a:prstGeom prst="line">
            <a:avLst/>
          </a:prstGeom>
          <a:noFill/>
          <a:ln w="19050">
            <a:solidFill>
              <a:srgbClr val="8C9AA6"/>
            </a:solidFill>
            <a:prstDash val="dash"/>
            <a:headEnd type="triangle"/>
          </a:ln>
        </p:spPr>
      </p:sp>
      <p:sp>
        <p:nvSpPr>
          <p:cNvPr id="26" name="Text 24"/>
          <p:cNvSpPr/>
          <p:nvPr/>
        </p:nvSpPr>
        <p:spPr>
          <a:xfrm>
            <a:off x="2286000" y="4736592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AEB7C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反馈回路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1371600" y="3383280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C9AA6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输入侧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8321040" y="3383280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C9AA6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输出侧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146304" cy="566928"/>
          </a:xfrm>
          <a:prstGeom prst="rect">
            <a:avLst/>
          </a:prstGeom>
          <a:solidFill>
            <a:srgbClr val="FF9900"/>
          </a:solidFill>
          <a:ln/>
        </p:spPr>
      </p:sp>
      <p:sp>
        <p:nvSpPr>
          <p:cNvPr id="3" name="Text 1"/>
          <p:cNvSpPr/>
          <p:nvPr/>
        </p:nvSpPr>
        <p:spPr>
          <a:xfrm>
            <a:off x="841248" y="420624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F990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DESIGN PRINCIPLE · CONSTRAINT-FIRST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841248" y="676656"/>
            <a:ext cx="10698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1619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设计原则 #1 —— 约束优先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548640" y="6419088"/>
            <a:ext cx="11091672" cy="0"/>
          </a:xfrm>
          <a:prstGeom prst="line">
            <a:avLst/>
          </a:prstGeom>
          <a:noFill/>
          <a:ln w="12700">
            <a:solidFill>
              <a:srgbClr val="D5DBD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6455664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F6B7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Harness Engineering  ·  01 Opening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9811512" y="645566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F6B7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8 / 16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841248" y="1691640"/>
            <a:ext cx="3931920" cy="2743200"/>
          </a:xfrm>
          <a:prstGeom prst="rect">
            <a:avLst/>
          </a:prstGeom>
          <a:solidFill>
            <a:srgbClr val="FBEAE5"/>
          </a:solidFill>
          <a:ln w="19050">
            <a:solidFill>
              <a:srgbClr val="D1321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41248" y="1828800"/>
            <a:ext cx="3931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D1321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CANNOT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841248" y="2377440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D1321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约束空间（先画牢笼）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2103120" y="3200400"/>
            <a:ext cx="1417320" cy="914400"/>
          </a:xfrm>
          <a:prstGeom prst="rect">
            <a:avLst/>
          </a:prstGeom>
          <a:solidFill>
            <a:srgbClr val="E6F4EA"/>
          </a:solidFill>
          <a:ln w="19050">
            <a:solidFill>
              <a:srgbClr val="1D810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103120" y="3291840"/>
            <a:ext cx="14173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D810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CAN</a:t>
            </a:r>
            <a:endParaRPr lang="en-US" sz="14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1D810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能力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5029200" y="1691640"/>
            <a:ext cx="6309360" cy="2377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400" b="1" dirty="0">
                <a:solidFill>
                  <a:srgbClr val="1619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核心：先定义“不能做什么”，再定义“能做什么”</a:t>
            </a:r>
            <a:endParaRPr lang="en-US" sz="14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619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Tool allowlist &gt; blocklist（白名单优于黑名单）</a:t>
            </a:r>
            <a:endParaRPr lang="en-US" sz="14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619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Default deny &gt; Default allow</a:t>
            </a:r>
            <a:endParaRPr lang="en-US" sz="14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619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文件系统：先 sandbox，再逐步放开路径</a:t>
            </a:r>
            <a:endParaRPr lang="en-US" sz="14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619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网络：先全部禁止，再按需开放域名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5029200" y="4297680"/>
            <a:ext cx="6309360" cy="1417320"/>
          </a:xfrm>
          <a:prstGeom prst="rect">
            <a:avLst/>
          </a:prstGeom>
          <a:solidFill>
            <a:srgbClr val="F2F3F3"/>
          </a:solidFill>
          <a:ln/>
        </p:spPr>
      </p:sp>
      <p:sp>
        <p:nvSpPr>
          <p:cNvPr id="15" name="Text 13"/>
          <p:cNvSpPr/>
          <p:nvPr/>
        </p:nvSpPr>
        <p:spPr>
          <a:xfrm>
            <a:off x="5212080" y="4434840"/>
            <a:ext cx="59436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D1321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反例：</a:t>
            </a:r>
            <a:pPr indent="0" marL="0">
              <a:buNone/>
            </a:pPr>
            <a:r>
              <a:rPr lang="en-US" sz="1300" dirty="0">
                <a:solidFill>
                  <a:srgbClr val="1619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某 Agent 框架默认开放所有 shell 命令 → 模型 hallucinate 了 rm -rf /home/user/data → 用户数据被删除。约束优先本可避免。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146304" cy="566928"/>
          </a:xfrm>
          <a:prstGeom prst="rect">
            <a:avLst/>
          </a:prstGeom>
          <a:solidFill>
            <a:srgbClr val="FF9900"/>
          </a:solidFill>
          <a:ln/>
        </p:spPr>
      </p:sp>
      <p:sp>
        <p:nvSpPr>
          <p:cNvPr id="3" name="Text 1"/>
          <p:cNvSpPr/>
          <p:nvPr/>
        </p:nvSpPr>
        <p:spPr>
          <a:xfrm>
            <a:off x="841248" y="420624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F990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DESIGN PRINCIPLE · VERIFIABILITY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841248" y="676656"/>
            <a:ext cx="10698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1619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设计原则 #2 —— 可验证性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548640" y="6419088"/>
            <a:ext cx="11091672" cy="0"/>
          </a:xfrm>
          <a:prstGeom prst="line">
            <a:avLst/>
          </a:prstGeom>
          <a:noFill/>
          <a:ln w="12700">
            <a:solidFill>
              <a:srgbClr val="D5DBD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6455664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F6B7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Harness Engineering  ·  01 Opening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9811512" y="645566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F6B7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9 / 16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4864608" y="1783080"/>
            <a:ext cx="2926080" cy="914400"/>
          </a:xfrm>
          <a:prstGeom prst="rect">
            <a:avLst/>
          </a:prstGeom>
          <a:solidFill>
            <a:srgbClr val="FF9900"/>
          </a:solidFill>
          <a:ln/>
        </p:spPr>
      </p:sp>
      <p:sp>
        <p:nvSpPr>
          <p:cNvPr id="9" name="Text 7"/>
          <p:cNvSpPr/>
          <p:nvPr/>
        </p:nvSpPr>
        <p:spPr>
          <a:xfrm>
            <a:off x="4864608" y="1783080"/>
            <a:ext cx="29260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Reproducibility 能否重现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224528" y="2834640"/>
            <a:ext cx="4206240" cy="914400"/>
          </a:xfrm>
          <a:prstGeom prst="rect">
            <a:avLst/>
          </a:prstGeom>
          <a:solidFill>
            <a:srgbClr val="146EB4"/>
          </a:solidFill>
          <a:ln/>
        </p:spPr>
      </p:sp>
      <p:sp>
        <p:nvSpPr>
          <p:cNvPr id="11" name="Text 9"/>
          <p:cNvSpPr/>
          <p:nvPr/>
        </p:nvSpPr>
        <p:spPr>
          <a:xfrm>
            <a:off x="4224528" y="2834640"/>
            <a:ext cx="42062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Evaluation 做得好不好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3584448" y="3886200"/>
            <a:ext cx="5486400" cy="914400"/>
          </a:xfrm>
          <a:prstGeom prst="rect">
            <a:avLst/>
          </a:prstGeom>
          <a:solidFill>
            <a:srgbClr val="232F3E"/>
          </a:solidFill>
          <a:ln/>
        </p:spPr>
      </p:sp>
      <p:sp>
        <p:nvSpPr>
          <p:cNvPr id="13" name="Text 11"/>
          <p:cNvSpPr/>
          <p:nvPr/>
        </p:nvSpPr>
        <p:spPr>
          <a:xfrm>
            <a:off x="3584448" y="3886200"/>
            <a:ext cx="5486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Observability 发生了什么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9418320" y="1828800"/>
            <a:ext cx="237744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1000"/>
              </a:spcAft>
              <a:buNone/>
            </a:pPr>
            <a:r>
              <a:rPr lang="en-US" sz="1300" b="1" dirty="0">
                <a:solidFill>
                  <a:srgbClr val="1619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行业现状（LangChain 调研）</a:t>
            </a:r>
            <a:endParaRPr lang="en-US" sz="1300" dirty="0"/>
          </a:p>
          <a:p>
            <a:pPr indent="0" marL="0">
              <a:buNone/>
            </a:pPr>
            <a:r>
              <a:rPr lang="en-US" sz="3000" b="1" dirty="0">
                <a:solidFill>
                  <a:srgbClr val="146EB4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89%</a:t>
            </a:r>
            <a:pPr indent="0" marL="0">
              <a:buNone/>
            </a:pPr>
            <a:r>
              <a:rPr lang="en-US" sz="1200" dirty="0">
                <a:solidFill>
                  <a:srgbClr val="5F6B7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  有 observability</a:t>
            </a:r>
            <a:endParaRPr lang="en-US" sz="1300" dirty="0"/>
          </a:p>
          <a:p>
            <a:pPr indent="0" marL="0">
              <a:spcBef>
                <a:spcPts val="600"/>
              </a:spcBef>
              <a:buNone/>
            </a:pPr>
            <a:r>
              <a:rPr lang="en-US" sz="3000" b="1" dirty="0">
                <a:solidFill>
                  <a:srgbClr val="FF990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52%</a:t>
            </a:r>
            <a:pPr indent="0" marL="0">
              <a:buNone/>
            </a:pPr>
            <a:r>
              <a:rPr lang="en-US" sz="1200" dirty="0">
                <a:solidFill>
                  <a:srgbClr val="5F6B7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  做 evaluation</a:t>
            </a:r>
            <a:endParaRPr lang="en-US" sz="1300" dirty="0"/>
          </a:p>
          <a:p>
            <a:pPr indent="0" marL="0">
              <a:spcBef>
                <a:spcPts val="600"/>
              </a:spcBef>
              <a:buNone/>
            </a:pPr>
            <a:r>
              <a:rPr lang="en-US" sz="3000" b="1" dirty="0">
                <a:solidFill>
                  <a:srgbClr val="D1321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37%</a:t>
            </a:r>
            <a:pPr indent="0" marL="0">
              <a:buNone/>
            </a:pPr>
            <a:r>
              <a:rPr lang="en-US" sz="1200" dirty="0">
                <a:solidFill>
                  <a:srgbClr val="5F6B7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  可验证性缺口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841248" y="562356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619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完整可验证性 = Observability + Evaluation + Reproducibility —— 能看到行为，更要知道行为对不对。</a:t>
            </a:r>
            <a:endParaRPr lang="en-US" sz="1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146304" cy="566928"/>
          </a:xfrm>
          <a:prstGeom prst="rect">
            <a:avLst/>
          </a:prstGeom>
          <a:solidFill>
            <a:srgbClr val="FF9900"/>
          </a:solidFill>
          <a:ln/>
        </p:spPr>
      </p:sp>
      <p:sp>
        <p:nvSpPr>
          <p:cNvPr id="3" name="Text 1"/>
          <p:cNvSpPr/>
          <p:nvPr/>
        </p:nvSpPr>
        <p:spPr>
          <a:xfrm>
            <a:off x="841248" y="420624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F990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DESIGN PRINCIPLE · PROGRESSIVE TRUST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841248" y="676656"/>
            <a:ext cx="10698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1619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设计原则 #3 —— 渐进信任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548640" y="6419088"/>
            <a:ext cx="11091672" cy="0"/>
          </a:xfrm>
          <a:prstGeom prst="line">
            <a:avLst/>
          </a:prstGeom>
          <a:noFill/>
          <a:ln w="12700">
            <a:solidFill>
              <a:srgbClr val="D5DBD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6455664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F6B7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Harness Engineering  ·  01 Opening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9811512" y="645566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F6B7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10 / 16</a:t>
            </a:r>
            <a:endParaRPr lang="en-US" sz="900" dirty="0"/>
          </a:p>
        </p:txBody>
      </p:sp>
      <p:graphicFrame>
        <p:nvGraphicFramePr>
          <p:cNvPr id="8" name="Chart 0" descr=""/>
          <p:cNvGraphicFramePr/>
          <p:nvPr/>
        </p:nvGraphicFramePr>
        <p:xfrm>
          <a:off x="841248" y="1691640"/>
          <a:ext cx="6035040" cy="36576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9" name="Text 6"/>
          <p:cNvSpPr/>
          <p:nvPr/>
        </p:nvSpPr>
        <p:spPr>
          <a:xfrm>
            <a:off x="7132320" y="1783080"/>
            <a:ext cx="4206240" cy="4114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400" b="1" dirty="0">
                <a:solidFill>
                  <a:srgbClr val="1619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权限是动态的，不是二元的（有/无）</a:t>
            </a:r>
            <a:endParaRPr lang="en-US" sz="14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619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新会话：最小权限</a:t>
            </a:r>
            <a:endParaRPr lang="en-US" sz="14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619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连续成功：逐步放开</a:t>
            </a:r>
            <a:endParaRPr lang="en-US" sz="14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619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出现异常：立即收紧</a:t>
            </a:r>
            <a:endParaRPr lang="en-US" sz="14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619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高风险操作：始终需要确认</a:t>
            </a:r>
            <a:endParaRPr lang="en-US" sz="14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46EB4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类比驾照：实习期 + 扣分制 + 吊销机制</a:t>
            </a:r>
            <a:endParaRPr lang="en-US" sz="14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146304" cy="566928"/>
          </a:xfrm>
          <a:prstGeom prst="rect">
            <a:avLst/>
          </a:prstGeom>
          <a:solidFill>
            <a:srgbClr val="FF9900"/>
          </a:solidFill>
          <a:ln/>
        </p:spPr>
      </p:sp>
      <p:sp>
        <p:nvSpPr>
          <p:cNvPr id="3" name="Text 1"/>
          <p:cNvSpPr/>
          <p:nvPr/>
        </p:nvSpPr>
        <p:spPr>
          <a:xfrm>
            <a:off x="841248" y="420624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F990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DESIGN PRINCIPLE · DESIGN FOR FAILURE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841248" y="676656"/>
            <a:ext cx="10698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1619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设计原则 #4 —— 为失败而设计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548640" y="6419088"/>
            <a:ext cx="11091672" cy="0"/>
          </a:xfrm>
          <a:prstGeom prst="line">
            <a:avLst/>
          </a:prstGeom>
          <a:noFill/>
          <a:ln w="12700">
            <a:solidFill>
              <a:srgbClr val="D5DBD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6455664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F6B7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Harness Engineering  ·  01 Opening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9811512" y="645566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F6B7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11 / 16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841248" y="1554480"/>
            <a:ext cx="5120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1321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失败模式（常态，非意外）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217920" y="1554480"/>
            <a:ext cx="5120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D810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工程应对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841248" y="1965960"/>
            <a:ext cx="5120640" cy="658368"/>
          </a:xfrm>
          <a:prstGeom prst="rect">
            <a:avLst/>
          </a:prstGeom>
          <a:solidFill>
            <a:srgbClr val="FBEAE5"/>
          </a:solidFill>
          <a:ln/>
        </p:spPr>
      </p:sp>
      <p:sp>
        <p:nvSpPr>
          <p:cNvPr id="11" name="Text 9"/>
          <p:cNvSpPr/>
          <p:nvPr/>
        </p:nvSpPr>
        <p:spPr>
          <a:xfrm>
            <a:off x="1005840" y="1965960"/>
            <a:ext cx="48463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619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LLM 幻觉  </a:t>
            </a:r>
            <a:pPr indent="0" marL="0">
              <a:buNone/>
            </a:pPr>
            <a:r>
              <a:rPr lang="en-US" sz="1100" dirty="0">
                <a:solidFill>
                  <a:srgbClr val="5F6B7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生成不存在的文件/函数/API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841248" y="2743200"/>
            <a:ext cx="5120640" cy="658368"/>
          </a:xfrm>
          <a:prstGeom prst="rect">
            <a:avLst/>
          </a:prstGeom>
          <a:solidFill>
            <a:srgbClr val="FBEAE5"/>
          </a:solidFill>
          <a:ln/>
        </p:spPr>
      </p:sp>
      <p:sp>
        <p:nvSpPr>
          <p:cNvPr id="13" name="Text 11"/>
          <p:cNvSpPr/>
          <p:nvPr/>
        </p:nvSpPr>
        <p:spPr>
          <a:xfrm>
            <a:off x="1005840" y="2743200"/>
            <a:ext cx="48463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619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工具执行失败  </a:t>
            </a:r>
            <a:pPr indent="0" marL="0">
              <a:buNone/>
            </a:pPr>
            <a:r>
              <a:rPr lang="en-US" sz="1100" dirty="0">
                <a:solidFill>
                  <a:srgbClr val="5F6B7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超时、权限不足、资源不可用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841248" y="3520440"/>
            <a:ext cx="5120640" cy="658368"/>
          </a:xfrm>
          <a:prstGeom prst="rect">
            <a:avLst/>
          </a:prstGeom>
          <a:solidFill>
            <a:srgbClr val="FBEAE5"/>
          </a:solidFill>
          <a:ln/>
        </p:spPr>
      </p:sp>
      <p:sp>
        <p:nvSpPr>
          <p:cNvPr id="15" name="Text 13"/>
          <p:cNvSpPr/>
          <p:nvPr/>
        </p:nvSpPr>
        <p:spPr>
          <a:xfrm>
            <a:off x="1005840" y="3520440"/>
            <a:ext cx="48463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619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状态不一致  </a:t>
            </a:r>
            <a:pPr indent="0" marL="0">
              <a:buNone/>
            </a:pPr>
            <a:r>
              <a:rPr lang="en-US" sz="1100" dirty="0">
                <a:solidFill>
                  <a:srgbClr val="5F6B7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部分完成、中间状态残留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841248" y="4297680"/>
            <a:ext cx="5120640" cy="658368"/>
          </a:xfrm>
          <a:prstGeom prst="rect">
            <a:avLst/>
          </a:prstGeom>
          <a:solidFill>
            <a:srgbClr val="FBEAE5"/>
          </a:solidFill>
          <a:ln/>
        </p:spPr>
      </p:sp>
      <p:sp>
        <p:nvSpPr>
          <p:cNvPr id="17" name="Text 15"/>
          <p:cNvSpPr/>
          <p:nvPr/>
        </p:nvSpPr>
        <p:spPr>
          <a:xfrm>
            <a:off x="1005840" y="4297680"/>
            <a:ext cx="48463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619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无限循环  </a:t>
            </a:r>
            <a:pPr indent="0" marL="0">
              <a:buNone/>
            </a:pPr>
            <a:r>
              <a:rPr lang="en-US" sz="1100" dirty="0">
                <a:solidFill>
                  <a:srgbClr val="5F6B7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重复尝试无法成功的操作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6217920" y="1965960"/>
            <a:ext cx="5120640" cy="658368"/>
          </a:xfrm>
          <a:prstGeom prst="rect">
            <a:avLst/>
          </a:prstGeom>
          <a:solidFill>
            <a:srgbClr val="E6F4EA"/>
          </a:solidFill>
          <a:ln/>
        </p:spPr>
      </p:sp>
      <p:sp>
        <p:nvSpPr>
          <p:cNvPr id="19" name="Text 17"/>
          <p:cNvSpPr/>
          <p:nvPr/>
        </p:nvSpPr>
        <p:spPr>
          <a:xfrm>
            <a:off x="6382512" y="1965960"/>
            <a:ext cx="48463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619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Checkpoint / Rollback  </a:t>
            </a:r>
            <a:pPr indent="0" marL="0">
              <a:buNone/>
            </a:pPr>
            <a:r>
              <a:rPr lang="en-US" sz="1100" dirty="0">
                <a:solidFill>
                  <a:srgbClr val="5F6B7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检查点与回滚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6217920" y="2743200"/>
            <a:ext cx="5120640" cy="658368"/>
          </a:xfrm>
          <a:prstGeom prst="rect">
            <a:avLst/>
          </a:prstGeom>
          <a:solidFill>
            <a:srgbClr val="E6F4EA"/>
          </a:solidFill>
          <a:ln/>
        </p:spPr>
      </p:sp>
      <p:sp>
        <p:nvSpPr>
          <p:cNvPr id="21" name="Text 19"/>
          <p:cNvSpPr/>
          <p:nvPr/>
        </p:nvSpPr>
        <p:spPr>
          <a:xfrm>
            <a:off x="6382512" y="2743200"/>
            <a:ext cx="48463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619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Circuit Breaker  </a:t>
            </a:r>
            <a:pPr indent="0" marL="0">
              <a:buNone/>
            </a:pPr>
            <a:r>
              <a:rPr lang="en-US" sz="1100" dirty="0">
                <a:solidFill>
                  <a:srgbClr val="5F6B7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熔断器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6217920" y="3520440"/>
            <a:ext cx="5120640" cy="658368"/>
          </a:xfrm>
          <a:prstGeom prst="rect">
            <a:avLst/>
          </a:prstGeom>
          <a:solidFill>
            <a:srgbClr val="E6F4EA"/>
          </a:solidFill>
          <a:ln/>
        </p:spPr>
      </p:sp>
      <p:sp>
        <p:nvSpPr>
          <p:cNvPr id="23" name="Text 21"/>
          <p:cNvSpPr/>
          <p:nvPr/>
        </p:nvSpPr>
        <p:spPr>
          <a:xfrm>
            <a:off x="6382512" y="3520440"/>
            <a:ext cx="48463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619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Retry + backoff  </a:t>
            </a:r>
            <a:pPr indent="0" marL="0">
              <a:buNone/>
            </a:pPr>
            <a:r>
              <a:rPr lang="en-US" sz="1100" dirty="0">
                <a:solidFill>
                  <a:srgbClr val="5F6B7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重试有上限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6217920" y="4297680"/>
            <a:ext cx="5120640" cy="658368"/>
          </a:xfrm>
          <a:prstGeom prst="rect">
            <a:avLst/>
          </a:prstGeom>
          <a:solidFill>
            <a:srgbClr val="E6F4EA"/>
          </a:solidFill>
          <a:ln/>
        </p:spPr>
      </p:sp>
      <p:sp>
        <p:nvSpPr>
          <p:cNvPr id="25" name="Text 23"/>
          <p:cNvSpPr/>
          <p:nvPr/>
        </p:nvSpPr>
        <p:spPr>
          <a:xfrm>
            <a:off x="6382512" y="4297680"/>
            <a:ext cx="48463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619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Graceful degradation  </a:t>
            </a:r>
            <a:pPr indent="0" marL="0">
              <a:buNone/>
            </a:pPr>
            <a:r>
              <a:rPr lang="en-US" sz="1100" dirty="0">
                <a:solidFill>
                  <a:srgbClr val="5F6B7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优雅降级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841248" y="5440680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990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成本数据：</a:t>
            </a:r>
            <a:pPr indent="0" marL="0">
              <a:buNone/>
            </a:pPr>
            <a:r>
              <a:rPr lang="en-US" sz="1400" dirty="0">
                <a:solidFill>
                  <a:srgbClr val="1619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合理的容错设计可带来 60-80% 的成本降低——无效重试和无限循环是最大的 token 浪费来源。</a:t>
            </a:r>
            <a:endParaRPr lang="en-US" sz="14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146304" cy="566928"/>
          </a:xfrm>
          <a:prstGeom prst="rect">
            <a:avLst/>
          </a:prstGeom>
          <a:solidFill>
            <a:srgbClr val="FF9900"/>
          </a:solidFill>
          <a:ln/>
        </p:spPr>
      </p:sp>
      <p:sp>
        <p:nvSpPr>
          <p:cNvPr id="3" name="Text 1"/>
          <p:cNvSpPr/>
          <p:nvPr/>
        </p:nvSpPr>
        <p:spPr>
          <a:xfrm>
            <a:off x="841248" y="420624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F990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THREE REFERENCE SYSTEMS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841248" y="676656"/>
            <a:ext cx="10698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1619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三大参考系统 —— 设计哲学对比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548640" y="6419088"/>
            <a:ext cx="11091672" cy="0"/>
          </a:xfrm>
          <a:prstGeom prst="line">
            <a:avLst/>
          </a:prstGeom>
          <a:noFill/>
          <a:ln w="12700">
            <a:solidFill>
              <a:srgbClr val="D5DBD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6455664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F6B7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Harness Engineering  ·  01 Opening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9811512" y="645566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F6B7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12 / 16</a:t>
            </a:r>
            <a:endParaRPr lang="en-US" sz="9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41248" y="1600200"/>
          <a:ext cx="10515600" cy="914400"/>
        </p:xfrm>
        <a:graphic>
          <a:graphicData uri="http://schemas.openxmlformats.org/drawingml/2006/table">
            <a:tbl>
              <a:tblPr/>
              <a:tblGrid>
                <a:gridCol w="1554480"/>
                <a:gridCol w="3017520"/>
                <a:gridCol w="2971800"/>
                <a:gridCol w="2971800"/>
              </a:tblGrid>
              <a:tr h="5486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维度</a:t>
                      </a:r>
                      <a:endParaRPr lang="en-US" sz="12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2F3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Claude Code</a:t>
                      </a:r>
                      <a:endParaRPr lang="en-US" sz="12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2F3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OpenCode</a:t>
                      </a:r>
                      <a:endParaRPr lang="en-US" sz="12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2F3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OpenAI Codex CLI</a:t>
                      </a:r>
                      <a:endParaRPr lang="en-US" sz="12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2F3E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6191F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设计哲学</a:t>
                      </a:r>
                      <a:endParaRPr lang="en-US" sz="12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146EB4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交互优先</a:t>
                      </a:r>
                      <a:endParaRPr lang="en-US" sz="12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1D8102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开放优先</a:t>
                      </a:r>
                      <a:endParaRPr lang="en-US" sz="12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9900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协议优先</a:t>
                      </a:r>
                      <a:endParaRPr lang="en-US" sz="12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6191F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核心架构</a:t>
                      </a:r>
                      <a:endParaRPr lang="en-US" sz="12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6191F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Async Generator + Streaming</a:t>
                      </a:r>
                      <a:endParaRPr lang="en-US" sz="12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6191F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Multi-model + Plugin SDK</a:t>
                      </a:r>
                      <a:endParaRPr lang="en-US" sz="12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6191F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Item / Turn / Thread</a:t>
                      </a:r>
                      <a:endParaRPr lang="en-US" sz="12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6191F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优先级</a:t>
                      </a:r>
                      <a:endParaRPr lang="en-US" sz="12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6191F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低延迟、流式体验</a:t>
                      </a:r>
                      <a:endParaRPr lang="en-US" sz="12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6191F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多模型支持、社区生态</a:t>
                      </a:r>
                      <a:endParaRPr lang="en-US" sz="12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6191F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结构一致性、可组合性</a:t>
                      </a:r>
                      <a:endParaRPr lang="en-US" sz="12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6191F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开源协议</a:t>
                      </a:r>
                      <a:endParaRPr lang="en-US" sz="12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6191F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Proprietary（部分开源）</a:t>
                      </a:r>
                      <a:endParaRPr lang="en-US" sz="12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6191F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MIT</a:t>
                      </a:r>
                      <a:endParaRPr lang="en-US" sz="12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6191F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MIT</a:t>
                      </a:r>
                      <a:endParaRPr lang="en-US" sz="12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6191F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适用场景</a:t>
                      </a:r>
                      <a:endParaRPr lang="en-US" sz="12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6191F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高频交互、实时反馈</a:t>
                      </a:r>
                      <a:endParaRPr lang="en-US" sz="12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6191F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需要模型灵活切换</a:t>
                      </a:r>
                      <a:endParaRPr lang="en-US" sz="12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6191F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需要严格结构化输出</a:t>
                      </a:r>
                      <a:endParaRPr lang="en-US" sz="12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9" name="Shape 6"/>
          <p:cNvSpPr/>
          <p:nvPr/>
        </p:nvSpPr>
        <p:spPr>
          <a:xfrm>
            <a:off x="841248" y="5349240"/>
            <a:ext cx="10515600" cy="731520"/>
          </a:xfrm>
          <a:prstGeom prst="rect">
            <a:avLst/>
          </a:prstGeom>
          <a:solidFill>
            <a:srgbClr val="232F3E"/>
          </a:solidFill>
          <a:ln/>
        </p:spPr>
      </p:sp>
      <p:sp>
        <p:nvSpPr>
          <p:cNvPr id="10" name="Text 7"/>
          <p:cNvSpPr/>
          <p:nvPr/>
        </p:nvSpPr>
        <p:spPr>
          <a:xfrm>
            <a:off x="841248" y="5349240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No best, only trade-offs —— 没有“最好”的系统，关键是你的场景需要什么哲学？</a:t>
            </a:r>
            <a:endParaRPr lang="en-US" sz="15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146304" cy="566928"/>
          </a:xfrm>
          <a:prstGeom prst="rect">
            <a:avLst/>
          </a:prstGeom>
          <a:solidFill>
            <a:srgbClr val="FF9900"/>
          </a:solidFill>
          <a:ln/>
        </p:spPr>
      </p:sp>
      <p:sp>
        <p:nvSpPr>
          <p:cNvPr id="3" name="Text 1"/>
          <p:cNvSpPr/>
          <p:nvPr/>
        </p:nvSpPr>
        <p:spPr>
          <a:xfrm>
            <a:off x="841248" y="420624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F990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DEEP DIVE PREVIEW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841248" y="676656"/>
            <a:ext cx="10698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1619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五大系统速览 —— 每个系统解决什么问题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548640" y="6419088"/>
            <a:ext cx="11091672" cy="0"/>
          </a:xfrm>
          <a:prstGeom prst="line">
            <a:avLst/>
          </a:prstGeom>
          <a:noFill/>
          <a:ln w="12700">
            <a:solidFill>
              <a:srgbClr val="D5DBD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6455664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F6B7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Harness Engineering  ·  01 Opening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9811512" y="645566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F6B7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13 / 16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841248" y="1600200"/>
            <a:ext cx="777240" cy="749808"/>
          </a:xfrm>
          <a:prstGeom prst="rect">
            <a:avLst/>
          </a:prstGeom>
          <a:solidFill>
            <a:srgbClr val="146EB4"/>
          </a:solidFill>
          <a:ln/>
        </p:spPr>
      </p:sp>
      <p:sp>
        <p:nvSpPr>
          <p:cNvPr id="9" name="Text 7"/>
          <p:cNvSpPr/>
          <p:nvPr/>
        </p:nvSpPr>
        <p:spPr>
          <a:xfrm>
            <a:off x="841248" y="1600200"/>
            <a:ext cx="77724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S1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1618488" y="1600200"/>
            <a:ext cx="9738360" cy="749808"/>
          </a:xfrm>
          <a:prstGeom prst="rect">
            <a:avLst/>
          </a:prstGeom>
          <a:solidFill>
            <a:srgbClr val="F2F3F3"/>
          </a:solidFill>
          <a:ln/>
        </p:spPr>
      </p:sp>
      <p:sp>
        <p:nvSpPr>
          <p:cNvPr id="11" name="Text 9"/>
          <p:cNvSpPr/>
          <p:nvPr/>
        </p:nvSpPr>
        <p:spPr>
          <a:xfrm>
            <a:off x="1783080" y="1600200"/>
            <a:ext cx="941832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19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Context Assembly   </a:t>
            </a:r>
            <a:pPr indent="0" marL="0">
              <a:buNone/>
            </a:pPr>
            <a:r>
              <a:rPr lang="en-US" sz="1200" dirty="0">
                <a:solidFill>
                  <a:srgbClr val="5F6B7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有限窗口内给 LLM 最有用的信息？</a:t>
            </a:r>
            <a:endParaRPr lang="en-US" sz="1400" dirty="0"/>
          </a:p>
          <a:p>
            <a:pPr indent="0" marL="0">
              <a:buNone/>
            </a:pPr>
            <a:r>
              <a:rPr lang="en-US" sz="1100" i="1" dirty="0">
                <a:solidFill>
                  <a:srgbClr val="146EB4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Compaction · CLAUDE.md 层级 · 动态注入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841248" y="2496312"/>
            <a:ext cx="777240" cy="749808"/>
          </a:xfrm>
          <a:prstGeom prst="rect">
            <a:avLst/>
          </a:prstGeom>
          <a:solidFill>
            <a:srgbClr val="FF9900"/>
          </a:solidFill>
          <a:ln/>
        </p:spPr>
      </p:sp>
      <p:sp>
        <p:nvSpPr>
          <p:cNvPr id="13" name="Text 11"/>
          <p:cNvSpPr/>
          <p:nvPr/>
        </p:nvSpPr>
        <p:spPr>
          <a:xfrm>
            <a:off x="841248" y="2496312"/>
            <a:ext cx="77724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S2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1618488" y="2496312"/>
            <a:ext cx="9738360" cy="749808"/>
          </a:xfrm>
          <a:prstGeom prst="rect">
            <a:avLst/>
          </a:prstGeom>
          <a:solidFill>
            <a:srgbClr val="F2F3F3"/>
          </a:solidFill>
          <a:ln/>
        </p:spPr>
      </p:sp>
      <p:sp>
        <p:nvSpPr>
          <p:cNvPr id="15" name="Text 13"/>
          <p:cNvSpPr/>
          <p:nvPr/>
        </p:nvSpPr>
        <p:spPr>
          <a:xfrm>
            <a:off x="1783080" y="2496312"/>
            <a:ext cx="941832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19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Tool Governance   </a:t>
            </a:r>
            <a:pPr indent="0" marL="0">
              <a:buNone/>
            </a:pPr>
            <a:r>
              <a:rPr lang="en-US" sz="1200" dirty="0">
                <a:solidFill>
                  <a:srgbClr val="5F6B7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如何安全地让 LLM 操作真实世界？</a:t>
            </a:r>
            <a:endParaRPr lang="en-US" sz="1400" dirty="0"/>
          </a:p>
          <a:p>
            <a:pPr indent="0" marL="0">
              <a:buNone/>
            </a:pPr>
            <a:r>
              <a:rPr lang="en-US" sz="1100" i="1" dirty="0">
                <a:solidFill>
                  <a:srgbClr val="FF990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Tool schema · 参数验证 · 执行沙箱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841248" y="3392424"/>
            <a:ext cx="777240" cy="749808"/>
          </a:xfrm>
          <a:prstGeom prst="rect">
            <a:avLst/>
          </a:prstGeom>
          <a:solidFill>
            <a:srgbClr val="1D8102"/>
          </a:solidFill>
          <a:ln/>
        </p:spPr>
      </p:sp>
      <p:sp>
        <p:nvSpPr>
          <p:cNvPr id="17" name="Text 15"/>
          <p:cNvSpPr/>
          <p:nvPr/>
        </p:nvSpPr>
        <p:spPr>
          <a:xfrm>
            <a:off x="841248" y="3392424"/>
            <a:ext cx="77724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S3</a:t>
            </a:r>
            <a:endParaRPr lang="en-US" sz="2000" dirty="0"/>
          </a:p>
        </p:txBody>
      </p:sp>
      <p:sp>
        <p:nvSpPr>
          <p:cNvPr id="18" name="Shape 16"/>
          <p:cNvSpPr/>
          <p:nvPr/>
        </p:nvSpPr>
        <p:spPr>
          <a:xfrm>
            <a:off x="1618488" y="3392424"/>
            <a:ext cx="9738360" cy="749808"/>
          </a:xfrm>
          <a:prstGeom prst="rect">
            <a:avLst/>
          </a:prstGeom>
          <a:solidFill>
            <a:srgbClr val="F2F3F3"/>
          </a:solidFill>
          <a:ln/>
        </p:spPr>
      </p:sp>
      <p:sp>
        <p:nvSpPr>
          <p:cNvPr id="19" name="Text 17"/>
          <p:cNvSpPr/>
          <p:nvPr/>
        </p:nvSpPr>
        <p:spPr>
          <a:xfrm>
            <a:off x="1783080" y="3392424"/>
            <a:ext cx="941832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19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Security &amp; Approval   </a:t>
            </a:r>
            <a:pPr indent="0" marL="0">
              <a:buNone/>
            </a:pPr>
            <a:r>
              <a:rPr lang="en-US" sz="1200" dirty="0">
                <a:solidFill>
                  <a:srgbClr val="5F6B7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哪些操作需要人类确认？如何不过度打扰？</a:t>
            </a:r>
            <a:endParaRPr lang="en-US" sz="1400" dirty="0"/>
          </a:p>
          <a:p>
            <a:pPr indent="0" marL="0">
              <a:buNone/>
            </a:pPr>
            <a:r>
              <a:rPr lang="en-US" sz="1100" i="1" dirty="0">
                <a:solidFill>
                  <a:srgbClr val="1D810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Permission model · risk scoring · approval flow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841248" y="4288536"/>
            <a:ext cx="777240" cy="749808"/>
          </a:xfrm>
          <a:prstGeom prst="rect">
            <a:avLst/>
          </a:prstGeom>
          <a:solidFill>
            <a:srgbClr val="146EB4"/>
          </a:solidFill>
          <a:ln/>
        </p:spPr>
      </p:sp>
      <p:sp>
        <p:nvSpPr>
          <p:cNvPr id="21" name="Text 19"/>
          <p:cNvSpPr/>
          <p:nvPr/>
        </p:nvSpPr>
        <p:spPr>
          <a:xfrm>
            <a:off x="841248" y="4288536"/>
            <a:ext cx="77724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S4</a:t>
            </a:r>
            <a:endParaRPr lang="en-US" sz="2000" dirty="0"/>
          </a:p>
        </p:txBody>
      </p:sp>
      <p:sp>
        <p:nvSpPr>
          <p:cNvPr id="22" name="Shape 20"/>
          <p:cNvSpPr/>
          <p:nvPr/>
        </p:nvSpPr>
        <p:spPr>
          <a:xfrm>
            <a:off x="1618488" y="4288536"/>
            <a:ext cx="9738360" cy="749808"/>
          </a:xfrm>
          <a:prstGeom prst="rect">
            <a:avLst/>
          </a:prstGeom>
          <a:solidFill>
            <a:srgbClr val="F2F3F3"/>
          </a:solidFill>
          <a:ln/>
        </p:spPr>
      </p:sp>
      <p:sp>
        <p:nvSpPr>
          <p:cNvPr id="23" name="Text 21"/>
          <p:cNvSpPr/>
          <p:nvPr/>
        </p:nvSpPr>
        <p:spPr>
          <a:xfrm>
            <a:off x="1783080" y="4288536"/>
            <a:ext cx="941832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19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Feedback &amp; State   </a:t>
            </a:r>
            <a:pPr indent="0" marL="0">
              <a:buNone/>
            </a:pPr>
            <a:r>
              <a:rPr lang="en-US" sz="1200" dirty="0">
                <a:solidFill>
                  <a:srgbClr val="5F6B7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执行结果如何反馈以改进后续决策？</a:t>
            </a:r>
            <a:endParaRPr lang="en-US" sz="1400" dirty="0"/>
          </a:p>
          <a:p>
            <a:pPr indent="0" marL="0">
              <a:buNone/>
            </a:pPr>
            <a:r>
              <a:rPr lang="en-US" sz="1100" i="1" dirty="0">
                <a:solidFill>
                  <a:srgbClr val="146EB4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Observation · memory · evaluation pipeline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841248" y="5184648"/>
            <a:ext cx="777240" cy="749808"/>
          </a:xfrm>
          <a:prstGeom prst="rect">
            <a:avLst/>
          </a:prstGeom>
          <a:solidFill>
            <a:srgbClr val="FF9900"/>
          </a:solidFill>
          <a:ln/>
        </p:spPr>
      </p:sp>
      <p:sp>
        <p:nvSpPr>
          <p:cNvPr id="25" name="Text 23"/>
          <p:cNvSpPr/>
          <p:nvPr/>
        </p:nvSpPr>
        <p:spPr>
          <a:xfrm>
            <a:off x="841248" y="5184648"/>
            <a:ext cx="77724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S5</a:t>
            </a:r>
            <a:endParaRPr lang="en-US" sz="2000" dirty="0"/>
          </a:p>
        </p:txBody>
      </p:sp>
      <p:sp>
        <p:nvSpPr>
          <p:cNvPr id="26" name="Shape 24"/>
          <p:cNvSpPr/>
          <p:nvPr/>
        </p:nvSpPr>
        <p:spPr>
          <a:xfrm>
            <a:off x="1618488" y="5184648"/>
            <a:ext cx="9738360" cy="749808"/>
          </a:xfrm>
          <a:prstGeom prst="rect">
            <a:avLst/>
          </a:prstGeom>
          <a:solidFill>
            <a:srgbClr val="F2F3F3"/>
          </a:solidFill>
          <a:ln/>
        </p:spPr>
      </p:sp>
      <p:sp>
        <p:nvSpPr>
          <p:cNvPr id="27" name="Text 25"/>
          <p:cNvSpPr/>
          <p:nvPr/>
        </p:nvSpPr>
        <p:spPr>
          <a:xfrm>
            <a:off x="1783080" y="5184648"/>
            <a:ext cx="941832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19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Entropy Management   </a:t>
            </a:r>
            <a:pPr indent="0" marL="0">
              <a:buNone/>
            </a:pPr>
            <a:r>
              <a:rPr lang="en-US" sz="1200" dirty="0">
                <a:solidFill>
                  <a:srgbClr val="5F6B7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如何让系统稳定、可控、经济地运行？</a:t>
            </a:r>
            <a:endParaRPr lang="en-US" sz="1400" dirty="0"/>
          </a:p>
          <a:p>
            <a:pPr indent="0" marL="0">
              <a:buNone/>
            </a:pPr>
            <a:r>
              <a:rPr lang="en-US" sz="1100" i="1" dirty="0">
                <a:solidFill>
                  <a:srgbClr val="FF990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Orchestration · circuit breaker · cost control</a:t>
            </a:r>
            <a:endParaRPr lang="en-US" sz="14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146304" cy="566928"/>
          </a:xfrm>
          <a:prstGeom prst="rect">
            <a:avLst/>
          </a:prstGeom>
          <a:solidFill>
            <a:srgbClr val="FF9900"/>
          </a:solidFill>
          <a:ln/>
        </p:spPr>
      </p:sp>
      <p:sp>
        <p:nvSpPr>
          <p:cNvPr id="3" name="Text 1"/>
          <p:cNvSpPr/>
          <p:nvPr/>
        </p:nvSpPr>
        <p:spPr>
          <a:xfrm>
            <a:off x="841248" y="420624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F990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THE ENGINEERING LEVERS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841248" y="676656"/>
            <a:ext cx="10698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1619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六根工程杠杆 —— 60-80% 成本降低的来源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548640" y="6419088"/>
            <a:ext cx="11091672" cy="0"/>
          </a:xfrm>
          <a:prstGeom prst="line">
            <a:avLst/>
          </a:prstGeom>
          <a:noFill/>
          <a:ln w="12700">
            <a:solidFill>
              <a:srgbClr val="D5DBD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6455664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F6B7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Harness Engineering  ·  01 Opening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9811512" y="645566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F6B7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14 / 16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841248" y="1783080"/>
            <a:ext cx="3291840" cy="1508760"/>
          </a:xfrm>
          <a:prstGeom prst="rect">
            <a:avLst/>
          </a:prstGeom>
          <a:solidFill>
            <a:srgbClr val="F2F3F3"/>
          </a:solidFill>
          <a:ln/>
        </p:spPr>
      </p:sp>
      <p:sp>
        <p:nvSpPr>
          <p:cNvPr id="9" name="Shape 7"/>
          <p:cNvSpPr/>
          <p:nvPr/>
        </p:nvSpPr>
        <p:spPr>
          <a:xfrm>
            <a:off x="841248" y="1783080"/>
            <a:ext cx="109728" cy="1508760"/>
          </a:xfrm>
          <a:prstGeom prst="rect">
            <a:avLst/>
          </a:prstGeom>
          <a:solidFill>
            <a:srgbClr val="FF9900"/>
          </a:solidFill>
          <a:ln/>
        </p:spPr>
      </p:sp>
      <p:sp>
        <p:nvSpPr>
          <p:cNvPr id="10" name="Text 8"/>
          <p:cNvSpPr/>
          <p:nvPr/>
        </p:nvSpPr>
        <p:spPr>
          <a:xfrm>
            <a:off x="1069848" y="1920240"/>
            <a:ext cx="914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990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1</a:t>
            </a:r>
            <a:endParaRPr lang="en-US" sz="2600" dirty="0"/>
          </a:p>
        </p:txBody>
      </p:sp>
      <p:sp>
        <p:nvSpPr>
          <p:cNvPr id="11" name="Text 9"/>
          <p:cNvSpPr/>
          <p:nvPr/>
        </p:nvSpPr>
        <p:spPr>
          <a:xfrm>
            <a:off x="1069848" y="2423160"/>
            <a:ext cx="292608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619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Context Compaction</a:t>
            </a:r>
            <a:endParaRPr lang="en-US" sz="1400" dirty="0"/>
          </a:p>
          <a:p>
            <a:pPr indent="0" marL="0">
              <a:spcBef>
                <a:spcPts val="400"/>
              </a:spcBef>
              <a:buNone/>
            </a:pPr>
            <a:r>
              <a:rPr lang="en-US" sz="1200" dirty="0">
                <a:solidFill>
                  <a:srgbClr val="5F6B7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压缩历史对话，减少 token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4379976" y="1783080"/>
            <a:ext cx="3291840" cy="1508760"/>
          </a:xfrm>
          <a:prstGeom prst="rect">
            <a:avLst/>
          </a:prstGeom>
          <a:solidFill>
            <a:srgbClr val="F2F3F3"/>
          </a:solidFill>
          <a:ln/>
        </p:spPr>
      </p:sp>
      <p:sp>
        <p:nvSpPr>
          <p:cNvPr id="13" name="Shape 11"/>
          <p:cNvSpPr/>
          <p:nvPr/>
        </p:nvSpPr>
        <p:spPr>
          <a:xfrm>
            <a:off x="4379976" y="1783080"/>
            <a:ext cx="109728" cy="1508760"/>
          </a:xfrm>
          <a:prstGeom prst="rect">
            <a:avLst/>
          </a:prstGeom>
          <a:solidFill>
            <a:srgbClr val="FF9900"/>
          </a:solidFill>
          <a:ln/>
        </p:spPr>
      </p:sp>
      <p:sp>
        <p:nvSpPr>
          <p:cNvPr id="14" name="Text 12"/>
          <p:cNvSpPr/>
          <p:nvPr/>
        </p:nvSpPr>
        <p:spPr>
          <a:xfrm>
            <a:off x="4608576" y="1920240"/>
            <a:ext cx="914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990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2</a:t>
            </a:r>
            <a:endParaRPr lang="en-US" sz="2600" dirty="0"/>
          </a:p>
        </p:txBody>
      </p:sp>
      <p:sp>
        <p:nvSpPr>
          <p:cNvPr id="15" name="Text 13"/>
          <p:cNvSpPr/>
          <p:nvPr/>
        </p:nvSpPr>
        <p:spPr>
          <a:xfrm>
            <a:off x="4608576" y="2423160"/>
            <a:ext cx="292608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619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Prompt Caching</a:t>
            </a:r>
            <a:endParaRPr lang="en-US" sz="1400" dirty="0"/>
          </a:p>
          <a:p>
            <a:pPr indent="0" marL="0">
              <a:spcBef>
                <a:spcPts val="400"/>
              </a:spcBef>
              <a:buNone/>
            </a:pPr>
            <a:r>
              <a:rPr lang="en-US" sz="1200" dirty="0">
                <a:solidFill>
                  <a:srgbClr val="5F6B7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prefix 一致命中缓存（降 90%）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7918704" y="1783080"/>
            <a:ext cx="3291840" cy="1508760"/>
          </a:xfrm>
          <a:prstGeom prst="rect">
            <a:avLst/>
          </a:prstGeom>
          <a:solidFill>
            <a:srgbClr val="F2F3F3"/>
          </a:solidFill>
          <a:ln/>
        </p:spPr>
      </p:sp>
      <p:sp>
        <p:nvSpPr>
          <p:cNvPr id="17" name="Shape 15"/>
          <p:cNvSpPr/>
          <p:nvPr/>
        </p:nvSpPr>
        <p:spPr>
          <a:xfrm>
            <a:off x="7918704" y="1783080"/>
            <a:ext cx="109728" cy="1508760"/>
          </a:xfrm>
          <a:prstGeom prst="rect">
            <a:avLst/>
          </a:prstGeom>
          <a:solidFill>
            <a:srgbClr val="FF9900"/>
          </a:solidFill>
          <a:ln/>
        </p:spPr>
      </p:sp>
      <p:sp>
        <p:nvSpPr>
          <p:cNvPr id="18" name="Text 16"/>
          <p:cNvSpPr/>
          <p:nvPr/>
        </p:nvSpPr>
        <p:spPr>
          <a:xfrm>
            <a:off x="8147304" y="1920240"/>
            <a:ext cx="914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990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3</a:t>
            </a:r>
            <a:endParaRPr lang="en-US" sz="2600" dirty="0"/>
          </a:p>
        </p:txBody>
      </p:sp>
      <p:sp>
        <p:nvSpPr>
          <p:cNvPr id="19" name="Text 17"/>
          <p:cNvSpPr/>
          <p:nvPr/>
        </p:nvSpPr>
        <p:spPr>
          <a:xfrm>
            <a:off x="8147304" y="2423160"/>
            <a:ext cx="292608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619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Tool Result Truncation</a:t>
            </a:r>
            <a:endParaRPr lang="en-US" sz="1400" dirty="0"/>
          </a:p>
          <a:p>
            <a:pPr indent="0" marL="0">
              <a:spcBef>
                <a:spcPts val="400"/>
              </a:spcBef>
              <a:buNone/>
            </a:pPr>
            <a:r>
              <a:rPr lang="en-US" sz="1200" dirty="0">
                <a:solidFill>
                  <a:srgbClr val="5F6B7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截断过长的工具输出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841248" y="3520440"/>
            <a:ext cx="3291840" cy="1508760"/>
          </a:xfrm>
          <a:prstGeom prst="rect">
            <a:avLst/>
          </a:prstGeom>
          <a:solidFill>
            <a:srgbClr val="F2F3F3"/>
          </a:solidFill>
          <a:ln/>
        </p:spPr>
      </p:sp>
      <p:sp>
        <p:nvSpPr>
          <p:cNvPr id="21" name="Shape 19"/>
          <p:cNvSpPr/>
          <p:nvPr/>
        </p:nvSpPr>
        <p:spPr>
          <a:xfrm>
            <a:off x="841248" y="3520440"/>
            <a:ext cx="109728" cy="1508760"/>
          </a:xfrm>
          <a:prstGeom prst="rect">
            <a:avLst/>
          </a:prstGeom>
          <a:solidFill>
            <a:srgbClr val="FF9900"/>
          </a:solidFill>
          <a:ln/>
        </p:spPr>
      </p:sp>
      <p:sp>
        <p:nvSpPr>
          <p:cNvPr id="22" name="Text 20"/>
          <p:cNvSpPr/>
          <p:nvPr/>
        </p:nvSpPr>
        <p:spPr>
          <a:xfrm>
            <a:off x="1069848" y="3657600"/>
            <a:ext cx="914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990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4</a:t>
            </a:r>
            <a:endParaRPr lang="en-US" sz="2600" dirty="0"/>
          </a:p>
        </p:txBody>
      </p:sp>
      <p:sp>
        <p:nvSpPr>
          <p:cNvPr id="23" name="Text 21"/>
          <p:cNvSpPr/>
          <p:nvPr/>
        </p:nvSpPr>
        <p:spPr>
          <a:xfrm>
            <a:off x="1069848" y="4160520"/>
            <a:ext cx="292608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619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Intelligent Routing</a:t>
            </a:r>
            <a:endParaRPr lang="en-US" sz="1400" dirty="0"/>
          </a:p>
          <a:p>
            <a:pPr indent="0" marL="0">
              <a:spcBef>
                <a:spcPts val="400"/>
              </a:spcBef>
              <a:buNone/>
            </a:pPr>
            <a:r>
              <a:rPr lang="en-US" sz="1200" dirty="0">
                <a:solidFill>
                  <a:srgbClr val="5F6B7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简单任务用小模型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4379976" y="3520440"/>
            <a:ext cx="3291840" cy="1508760"/>
          </a:xfrm>
          <a:prstGeom prst="rect">
            <a:avLst/>
          </a:prstGeom>
          <a:solidFill>
            <a:srgbClr val="F2F3F3"/>
          </a:solidFill>
          <a:ln/>
        </p:spPr>
      </p:sp>
      <p:sp>
        <p:nvSpPr>
          <p:cNvPr id="25" name="Shape 23"/>
          <p:cNvSpPr/>
          <p:nvPr/>
        </p:nvSpPr>
        <p:spPr>
          <a:xfrm>
            <a:off x="4379976" y="3520440"/>
            <a:ext cx="109728" cy="1508760"/>
          </a:xfrm>
          <a:prstGeom prst="rect">
            <a:avLst/>
          </a:prstGeom>
          <a:solidFill>
            <a:srgbClr val="FF9900"/>
          </a:solidFill>
          <a:ln/>
        </p:spPr>
      </p:sp>
      <p:sp>
        <p:nvSpPr>
          <p:cNvPr id="26" name="Text 24"/>
          <p:cNvSpPr/>
          <p:nvPr/>
        </p:nvSpPr>
        <p:spPr>
          <a:xfrm>
            <a:off x="4608576" y="3657600"/>
            <a:ext cx="914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990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5</a:t>
            </a:r>
            <a:endParaRPr lang="en-US" sz="2600" dirty="0"/>
          </a:p>
        </p:txBody>
      </p:sp>
      <p:sp>
        <p:nvSpPr>
          <p:cNvPr id="27" name="Text 25"/>
          <p:cNvSpPr/>
          <p:nvPr/>
        </p:nvSpPr>
        <p:spPr>
          <a:xfrm>
            <a:off x="4608576" y="4160520"/>
            <a:ext cx="292608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619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Circuit Breaking</a:t>
            </a:r>
            <a:endParaRPr lang="en-US" sz="1400" dirty="0"/>
          </a:p>
          <a:p>
            <a:pPr indent="0" marL="0">
              <a:spcBef>
                <a:spcPts val="400"/>
              </a:spcBef>
              <a:buNone/>
            </a:pPr>
            <a:r>
              <a:rPr lang="en-US" sz="1200" dirty="0">
                <a:solidFill>
                  <a:srgbClr val="5F6B7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熔断无效循环，避免浪费</a:t>
            </a:r>
            <a:endParaRPr lang="en-US" sz="1400" dirty="0"/>
          </a:p>
        </p:txBody>
      </p:sp>
      <p:sp>
        <p:nvSpPr>
          <p:cNvPr id="28" name="Shape 26"/>
          <p:cNvSpPr/>
          <p:nvPr/>
        </p:nvSpPr>
        <p:spPr>
          <a:xfrm>
            <a:off x="7918704" y="3520440"/>
            <a:ext cx="3291840" cy="1508760"/>
          </a:xfrm>
          <a:prstGeom prst="rect">
            <a:avLst/>
          </a:prstGeom>
          <a:solidFill>
            <a:srgbClr val="F2F3F3"/>
          </a:solidFill>
          <a:ln/>
        </p:spPr>
      </p:sp>
      <p:sp>
        <p:nvSpPr>
          <p:cNvPr id="29" name="Shape 27"/>
          <p:cNvSpPr/>
          <p:nvPr/>
        </p:nvSpPr>
        <p:spPr>
          <a:xfrm>
            <a:off x="7918704" y="3520440"/>
            <a:ext cx="109728" cy="1508760"/>
          </a:xfrm>
          <a:prstGeom prst="rect">
            <a:avLst/>
          </a:prstGeom>
          <a:solidFill>
            <a:srgbClr val="FF9900"/>
          </a:solidFill>
          <a:ln/>
        </p:spPr>
      </p:sp>
      <p:sp>
        <p:nvSpPr>
          <p:cNvPr id="30" name="Text 28"/>
          <p:cNvSpPr/>
          <p:nvPr/>
        </p:nvSpPr>
        <p:spPr>
          <a:xfrm>
            <a:off x="8147304" y="3657600"/>
            <a:ext cx="914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990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6</a:t>
            </a:r>
            <a:endParaRPr lang="en-US" sz="2600" dirty="0"/>
          </a:p>
        </p:txBody>
      </p:sp>
      <p:sp>
        <p:nvSpPr>
          <p:cNvPr id="31" name="Text 29"/>
          <p:cNvSpPr/>
          <p:nvPr/>
        </p:nvSpPr>
        <p:spPr>
          <a:xfrm>
            <a:off x="8147304" y="4160520"/>
            <a:ext cx="292608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619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Batch Processing</a:t>
            </a:r>
            <a:endParaRPr lang="en-US" sz="1400" dirty="0"/>
          </a:p>
          <a:p>
            <a:pPr indent="0" marL="0">
              <a:spcBef>
                <a:spcPts val="400"/>
              </a:spcBef>
              <a:buNone/>
            </a:pPr>
            <a:r>
              <a:rPr lang="en-US" sz="1200" dirty="0">
                <a:solidFill>
                  <a:srgbClr val="5F6B7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合并可并行操作，减少调用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841248" y="544068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619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六根杠杆组合使用，可实现 60-80% 的成本降低——没有任何一根需要更换模型。</a:t>
            </a:r>
            <a:endParaRPr lang="en-US" sz="14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146304" cy="566928"/>
          </a:xfrm>
          <a:prstGeom prst="rect">
            <a:avLst/>
          </a:prstGeom>
          <a:solidFill>
            <a:srgbClr val="FF9900"/>
          </a:solidFill>
          <a:ln/>
        </p:spPr>
      </p:sp>
      <p:sp>
        <p:nvSpPr>
          <p:cNvPr id="3" name="Text 1"/>
          <p:cNvSpPr/>
          <p:nvPr/>
        </p:nvSpPr>
        <p:spPr>
          <a:xfrm>
            <a:off x="841248" y="420624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F990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WHAT WE'LL BUILD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841248" y="676656"/>
            <a:ext cx="10698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1619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两天之后，你将拥有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548640" y="6419088"/>
            <a:ext cx="11091672" cy="0"/>
          </a:xfrm>
          <a:prstGeom prst="line">
            <a:avLst/>
          </a:prstGeom>
          <a:noFill/>
          <a:ln w="12700">
            <a:solidFill>
              <a:srgbClr val="D5DBD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6455664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F6B7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Harness Engineering  ·  01 Opening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9811512" y="645566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F6B7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15 / 16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841248" y="1645920"/>
            <a:ext cx="5074920" cy="548640"/>
          </a:xfrm>
          <a:prstGeom prst="rect">
            <a:avLst/>
          </a:prstGeom>
          <a:solidFill>
            <a:srgbClr val="146EB4"/>
          </a:solidFill>
          <a:ln/>
        </p:spPr>
      </p:sp>
      <p:sp>
        <p:nvSpPr>
          <p:cNvPr id="9" name="Text 7"/>
          <p:cNvSpPr/>
          <p:nvPr/>
        </p:nvSpPr>
        <p:spPr>
          <a:xfrm>
            <a:off x="841248" y="1645920"/>
            <a:ext cx="5074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Day 1 产出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932688" y="2377440"/>
            <a:ext cx="493776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0"/>
              </a:spcAft>
              <a:buSzPct val="100000"/>
              <a:buChar char="✓"/>
            </a:pPr>
            <a:r>
              <a:rPr lang="en-US" sz="1300" dirty="0">
                <a:solidFill>
                  <a:srgbClr val="1619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Context Assembly pipeline（compaction + 多源加载）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✓"/>
            </a:pPr>
            <a:r>
              <a:rPr lang="en-US" sz="1300" dirty="0">
                <a:solidFill>
                  <a:srgbClr val="1619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Tool Governance 框架（schema + 验证 + 沙箱）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✓"/>
            </a:pPr>
            <a:r>
              <a:rPr lang="en-US" sz="1300" dirty="0">
                <a:solidFill>
                  <a:srgbClr val="1619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Permission System（分级审批 + progressive trust）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272784" y="1645920"/>
            <a:ext cx="5074920" cy="548640"/>
          </a:xfrm>
          <a:prstGeom prst="rect">
            <a:avLst/>
          </a:prstGeom>
          <a:solidFill>
            <a:srgbClr val="FF9900"/>
          </a:solidFill>
          <a:ln/>
        </p:spPr>
      </p:sp>
      <p:sp>
        <p:nvSpPr>
          <p:cNvPr id="12" name="Text 10"/>
          <p:cNvSpPr/>
          <p:nvPr/>
        </p:nvSpPr>
        <p:spPr>
          <a:xfrm>
            <a:off x="6272784" y="1645920"/>
            <a:ext cx="5074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Day 2 产出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6364224" y="2377440"/>
            <a:ext cx="493776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0"/>
              </a:spcAft>
              <a:buSzPct val="100000"/>
              <a:buChar char="✓"/>
            </a:pPr>
            <a:r>
              <a:rPr lang="en-US" sz="1300" dirty="0">
                <a:solidFill>
                  <a:srgbClr val="1619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Feedback Loop（observation → evaluation → memory）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✓"/>
            </a:pPr>
            <a:r>
              <a:rPr lang="en-US" sz="1300" dirty="0">
                <a:solidFill>
                  <a:srgbClr val="1619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Entropy Manager（orchestration + circuit breaker + cost）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✓"/>
            </a:pPr>
            <a:r>
              <a:rPr lang="en-US" sz="1300" dirty="0">
                <a:solidFill>
                  <a:srgbClr val="1619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集成的 Mini Agent Harness（五大系统协同）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841248" y="5212080"/>
            <a:ext cx="10506456" cy="868680"/>
          </a:xfrm>
          <a:prstGeom prst="rect">
            <a:avLst/>
          </a:prstGeom>
          <a:solidFill>
            <a:srgbClr val="F2F3F3"/>
          </a:solidFill>
          <a:ln/>
        </p:spPr>
      </p:sp>
      <p:sp>
        <p:nvSpPr>
          <p:cNvPr id="15" name="Text 13"/>
          <p:cNvSpPr/>
          <p:nvPr/>
        </p:nvSpPr>
        <p:spPr>
          <a:xfrm>
            <a:off x="1005840" y="5212080"/>
            <a:ext cx="101498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990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附加价值：</a:t>
            </a:r>
            <a:pPr indent="0" marL="0">
              <a:buNone/>
            </a:pPr>
            <a:r>
              <a:rPr lang="en-US" sz="1300" dirty="0">
                <a:solidFill>
                  <a:srgbClr val="1619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三大系统源码阅读笔记 · 可复用设计模式清单 · 系统成熟度自检表</a:t>
            </a:r>
            <a:endParaRPr lang="en-US" sz="13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232F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48640"/>
            <a:ext cx="502920" cy="146304"/>
          </a:xfrm>
          <a:prstGeom prst="rect">
            <a:avLst/>
          </a:prstGeom>
          <a:solidFill>
            <a:srgbClr val="FF9900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55448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400" kern="0" dirty="0">
                <a:solidFill>
                  <a:srgbClr val="FF990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NEXT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548640" y="2011680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S1: Context Assembly System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566928" y="292608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7CED6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核心问题：在有限的 context window 内，如何给 LLM 提供最大价值的信息？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640080" y="3749040"/>
            <a:ext cx="73152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E6EAE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Context 的五种来源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E6EAE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CLAUDE.md 的多层级加载机制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E6EAE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Compaction 策略与实现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E6EAE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System Prompt 的工程化构建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566928" y="585216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FF990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约 90 分钟（含实践）  ·  请打开你的开发环境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Harness Engineering — 01 Opening</dc:title>
  <dc:subject>PptxGenJS Presentation</dc:subject>
  <dc:creator>Harness Engineering</dc:creator>
  <cp:lastModifiedBy>Harness Engineering</cp:lastModifiedBy>
  <cp:revision>1</cp:revision>
  <dcterms:created xsi:type="dcterms:W3CDTF">2026-06-03T03:04:25Z</dcterms:created>
  <dcterms:modified xsi:type="dcterms:W3CDTF">2026-06-03T03:04:25Z</dcterms:modified>
</cp:coreProperties>
</file>